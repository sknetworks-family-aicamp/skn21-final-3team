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73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0" name="안혜빈" initials="" lastIdx="4" clrIdx="0"/>
  <p:cmAuthor id="1" name="진승언" initials="" lastIdx="4" clrIdx="1"/>
  <p:cmAuthor id="2" name="윤경은" initials="" lastIdx="3" clrIdx="2"/>
  <p:cmAuthor id="3" name="jiyong shin" initials="" lastIdx="1" clrIdx="3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9F7BCA8-77A6-4D98-9364-8AF8E20404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>
        <p:scale>
          <a:sx n="100" d="100"/>
          <a:sy n="100" d="100"/>
        </p:scale>
        <p:origin x="0" y="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commentAuthors" Target="commentAuthors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c0c338455d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6" name="Google Shape;746;g3c0c338455d_3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"/>
              <a:buNone/>
              <a:defRPr i="0" sz="4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•"/>
              <a:defRPr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–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–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»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TextBox 747"/>
          <p:cNvSpPr txBox="1"/>
          <p:nvPr/>
        </p:nvSpPr>
        <p:spPr>
          <a:xfrm>
            <a:off x="914400" y="365760"/>
            <a:ext cx="7315200" cy="43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200" b="1">
                <a:solidFill>
                  <a:srgbClr val="1f2a40"/>
                </a:solidFill>
                <a:latin typeface="Roboto"/>
              </a:rPr>
              <a:t>문서</a:t>
            </a:r>
            <a:r>
              <a:rPr lang="en-US" altLang="ko-KR" sz="2200" b="1">
                <a:solidFill>
                  <a:srgbClr val="1f2a40"/>
                </a:solidFill>
                <a:latin typeface="Roboto"/>
              </a:rPr>
              <a:t>agent</a:t>
            </a:r>
            <a:endParaRPr lang="en-US" altLang="ko-KR" sz="2200" b="1">
              <a:solidFill>
                <a:srgbClr val="1f2a40"/>
              </a:solidFill>
              <a:latin typeface="Roboto"/>
            </a:endParaRPr>
          </a:p>
        </p:txBody>
      </p:sp>
      <p:sp>
        <p:nvSpPr>
          <p:cNvPr id="750" name="TextBox 749"/>
          <p:cNvSpPr txBox="1"/>
          <p:nvPr/>
        </p:nvSpPr>
        <p:spPr>
          <a:xfrm>
            <a:off x="10526475" y="258750"/>
            <a:ext cx="1378500" cy="29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99999"/>
                </a:solidFill>
                <a:latin typeface="Malgun Gothic"/>
              </a:rPr>
              <a:t>WorkFlow Agent</a:t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914400" y="1000000"/>
            <a:ext cx="45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40"/>
                </a:solidFill>
                <a:latin typeface="Roboto"/>
              </a:rPr>
              <a:t>문서 파싱 파이프라인</a:t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914400" y="1380000"/>
            <a:ext cx="4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Roboto"/>
              </a:rPr>
              <a:t>"사내 규정 PDF 업로드 → 자동 분석"</a:t>
            </a:r>
          </a:p>
        </p:txBody>
      </p:sp>
      <p:sp>
        <p:nvSpPr>
          <p:cNvPr id="753" name="Rounded Rectangle 752"/>
          <p:cNvSpPr/>
          <p:nvPr/>
        </p:nvSpPr>
        <p:spPr>
          <a:xfrm>
            <a:off x="914400" y="1800000"/>
            <a:ext cx="3800000" cy="9200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1014400" y="1880000"/>
            <a:ext cx="280000" cy="2800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1364400" y="1860000"/>
            <a:ext cx="3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285F4"/>
                </a:solidFill>
                <a:latin typeface="Roboto"/>
              </a:rPr>
              <a:t>PDF / DOCX / TXT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1364400" y="2090000"/>
            <a:ext cx="3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0"/>
                </a:solidFill>
                <a:latin typeface="Malgun Gothic"/>
              </a:rPr>
              <a:t>문서 업로드</a:t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1364400" y="2340000"/>
            <a:ext cx="3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사용자 문서 파일 업로드
지원: UTF-8, CP949 자동 감지</a:t>
            </a:r>
          </a:p>
        </p:txBody>
      </p:sp>
      <p:sp>
        <p:nvSpPr>
          <p:cNvPr id="758" name="TextBox 757"/>
          <p:cNvSpPr txBox="1"/>
          <p:nvPr/>
        </p:nvSpPr>
        <p:spPr>
          <a:xfrm>
            <a:off x="914400" y="2720000"/>
            <a:ext cx="3800000" cy="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Malgun Gothic"/>
              </a:rPr>
              <a:t>▼</a:t>
            </a:r>
          </a:p>
        </p:txBody>
      </p:sp>
      <p:sp>
        <p:nvSpPr>
          <p:cNvPr id="759" name="Rounded Rectangle 758"/>
          <p:cNvSpPr/>
          <p:nvPr/>
        </p:nvSpPr>
        <p:spPr>
          <a:xfrm>
            <a:off x="914400" y="2840000"/>
            <a:ext cx="3800000" cy="9200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1014400" y="2920000"/>
            <a:ext cx="280000" cy="2800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61" name="TextBox 760"/>
          <p:cNvSpPr txBox="1"/>
          <p:nvPr/>
        </p:nvSpPr>
        <p:spPr>
          <a:xfrm>
            <a:off x="1364400" y="2900000"/>
            <a:ext cx="3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D58"/>
                </a:solidFill>
                <a:latin typeface="Roboto"/>
              </a:rPr>
              <a:t>Docling + PyMuPDF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1364400" y="3130000"/>
            <a:ext cx="3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0"/>
                </a:solidFill>
                <a:latin typeface="Malgun Gothic"/>
              </a:rPr>
              <a:t>구조 파싱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1364400" y="3380000"/>
            <a:ext cx="3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OCR · 테이블 · 헤더 구조 인식
Markdown 변환 후 구조화</a:t>
            </a:r>
          </a:p>
        </p:txBody>
      </p:sp>
      <p:sp>
        <p:nvSpPr>
          <p:cNvPr id="764" name="TextBox 763"/>
          <p:cNvSpPr txBox="1"/>
          <p:nvPr/>
        </p:nvSpPr>
        <p:spPr>
          <a:xfrm>
            <a:off x="914400" y="3760000"/>
            <a:ext cx="3800000" cy="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Malgun Gothic"/>
              </a:rPr>
              <a:t>▼</a:t>
            </a:r>
          </a:p>
        </p:txBody>
      </p:sp>
      <p:sp>
        <p:nvSpPr>
          <p:cNvPr id="765" name="Rounded Rectangle 764"/>
          <p:cNvSpPr/>
          <p:nvPr/>
        </p:nvSpPr>
        <p:spPr>
          <a:xfrm>
            <a:off x="914400" y="3880000"/>
            <a:ext cx="3800000" cy="9200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014400" y="3960000"/>
            <a:ext cx="280000" cy="28000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1364400" y="3940000"/>
            <a:ext cx="3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96B"/>
                </a:solidFill>
                <a:latin typeface="Roboto"/>
              </a:rPr>
              <a:t>장/조 분할기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1364400" y="4170000"/>
            <a:ext cx="3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0"/>
                </a:solidFill>
                <a:latin typeface="Malgun Gothic"/>
              </a:rPr>
              <a:t>자동 분할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1364400" y="4420000"/>
            <a:ext cx="3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제N장 · 제N조 패턴 감지
400자 초과 시 불릿 단위 분할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14400" y="4800000"/>
            <a:ext cx="3800000" cy="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Malgun Gothic"/>
              </a:rPr>
              <a:t>▼</a:t>
            </a:r>
          </a:p>
        </p:txBody>
      </p:sp>
      <p:sp>
        <p:nvSpPr>
          <p:cNvPr id="771" name="Rounded Rectangle 770"/>
          <p:cNvSpPr/>
          <p:nvPr/>
        </p:nvSpPr>
        <p:spPr>
          <a:xfrm>
            <a:off x="914400" y="4920000"/>
            <a:ext cx="3800000" cy="9200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014400" y="5000000"/>
            <a:ext cx="280000" cy="280000"/>
          </a:xfrm>
          <a:prstGeom prst="ellipse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1364400" y="4980000"/>
            <a:ext cx="3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B4437"/>
                </a:solidFill>
                <a:latin typeface="Roboto"/>
              </a:rPr>
              <a:t>Qdrant + BM25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1364400" y="5210000"/>
            <a:ext cx="3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0"/>
                </a:solidFill>
                <a:latin typeface="Malgun Gothic"/>
              </a:rPr>
              <a:t>자동 색인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1364400" y="5460000"/>
            <a:ext cx="3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ko-sbert-nli 768d 임베딩
BM25 역색인 동시 구축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5100000" y="1000000"/>
            <a:ext cx="6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40"/>
                </a:solidFill>
                <a:latin typeface="Roboto"/>
              </a:rPr>
              <a:t>Document Agent 4 Intent 처리</a:t>
            </a:r>
          </a:p>
        </p:txBody>
      </p:sp>
      <p:sp>
        <p:nvSpPr>
          <p:cNvPr id="777" name="Rounded Rectangle 776"/>
          <p:cNvSpPr/>
          <p:nvPr/>
        </p:nvSpPr>
        <p:spPr>
          <a:xfrm>
            <a:off x="5100000" y="1500000"/>
            <a:ext cx="3300000" cy="23000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ounded Rectangle 777"/>
          <p:cNvSpPr/>
          <p:nvPr/>
        </p:nvSpPr>
        <p:spPr>
          <a:xfrm>
            <a:off x="5200000" y="1600000"/>
            <a:ext cx="1400000" cy="28000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doc_search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6700000" y="1610000"/>
            <a:ext cx="1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0"/>
                </a:solidFill>
                <a:latin typeface="Malgun Gothic"/>
              </a:rPr>
              <a:t>문서 검색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5200000" y="1950000"/>
            <a:ext cx="3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Malgun Gothic"/>
              </a:rPr>
              <a:t>Query → Hybrid Search → RRF 랭킹 → LLM 답변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5200000" y="227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5380000" y="227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kiwipiepy 형태소 분석 + 동의어 확장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5200000" y="255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5380000" y="255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BM25(Top15) + Qdrant(Top15) → RRF(k=60)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5200000" y="283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5380000" y="283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source diversity 필터 → 출처 포함 답변</a:t>
            </a:r>
          </a:p>
        </p:txBody>
      </p:sp>
      <p:sp>
        <p:nvSpPr>
          <p:cNvPr id="787" name="Rounded Rectangle 786"/>
          <p:cNvSpPr/>
          <p:nvPr/>
        </p:nvSpPr>
        <p:spPr>
          <a:xfrm>
            <a:off x="8600000" y="1500000"/>
            <a:ext cx="3300000" cy="23000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ounded Rectangle 787"/>
          <p:cNvSpPr/>
          <p:nvPr/>
        </p:nvSpPr>
        <p:spPr>
          <a:xfrm>
            <a:off x="8700000" y="1600000"/>
            <a:ext cx="1400000" cy="280000"/>
          </a:xfrm>
          <a:prstGeom prst="roundRect">
            <a:avLst>
              <a:gd name="adj" fmla="val 5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doc_generate</a:t>
            </a:r>
          </a:p>
        </p:txBody>
      </p:sp>
      <p:sp>
        <p:nvSpPr>
          <p:cNvPr id="789" name="TextBox 788"/>
          <p:cNvSpPr txBox="1"/>
          <p:nvPr/>
        </p:nvSpPr>
        <p:spPr>
          <a:xfrm>
            <a:off x="10200000" y="1610000"/>
            <a:ext cx="1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0"/>
                </a:solidFill>
                <a:latin typeface="Malgun Gothic"/>
              </a:rPr>
              <a:t>문서 생성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8700000" y="1950000"/>
            <a:ext cx="3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Malgun Gothic"/>
              </a:rPr>
              <a:t>템플릿 판별 → LLM JSON → DOCX 렌더링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8700000" y="227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8880000" y="227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회의록 / 보고서 / 제안서 3종 템플릿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8700000" y="255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794" name="TextBox 793"/>
          <p:cNvSpPr txBox="1"/>
          <p:nvPr/>
        </p:nvSpPr>
        <p:spPr>
          <a:xfrm>
            <a:off x="8880000" y="255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Solar json_mode → 필드 자동 정규화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8700000" y="283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796" name="TextBox 795"/>
          <p:cNvSpPr txBox="1"/>
          <p:nvPr/>
        </p:nvSpPr>
        <p:spPr>
          <a:xfrm>
            <a:off x="8880000" y="283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python-docx 렌더링 → UUID 다운로드</a:t>
            </a:r>
          </a:p>
        </p:txBody>
      </p:sp>
      <p:sp>
        <p:nvSpPr>
          <p:cNvPr id="797" name="Rounded Rectangle 796"/>
          <p:cNvSpPr/>
          <p:nvPr/>
        </p:nvSpPr>
        <p:spPr>
          <a:xfrm>
            <a:off x="5100000" y="4000000"/>
            <a:ext cx="3300000" cy="23000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ounded Rectangle 797"/>
          <p:cNvSpPr/>
          <p:nvPr/>
        </p:nvSpPr>
        <p:spPr>
          <a:xfrm>
            <a:off x="5200000" y="4100000"/>
            <a:ext cx="1400000" cy="280000"/>
          </a:xfrm>
          <a:prstGeom prst="roundRect">
            <a:avLst>
              <a:gd name="adj" fmla="val 5000"/>
            </a:avLst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doc_summary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6700000" y="4110000"/>
            <a:ext cx="1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0"/>
                </a:solidFill>
                <a:latin typeface="Malgun Gothic"/>
              </a:rPr>
              <a:t>문서 요약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5200000" y="4450000"/>
            <a:ext cx="3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Malgun Gothic"/>
              </a:rPr>
              <a:t>doc_pick 선택 → 8K 분할 → LLM 요약 → SSE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5200000" y="477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5380000" y="477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Qdrant 필터링 → 사용자 문서 목록 조회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5200000" y="505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5380000" y="505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8,000자 분할 → 핵심문장 + 키워드 추출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5200000" y="533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5380000" y="533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SSE stream_pending 실시간 토큰 전송</a:t>
            </a:r>
          </a:p>
        </p:txBody>
      </p:sp>
      <p:sp>
        <p:nvSpPr>
          <p:cNvPr id="807" name="Rounded Rectangle 806"/>
          <p:cNvSpPr/>
          <p:nvPr/>
        </p:nvSpPr>
        <p:spPr>
          <a:xfrm>
            <a:off x="8600000" y="4000000"/>
            <a:ext cx="3300000" cy="23000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ounded Rectangle 807"/>
          <p:cNvSpPr/>
          <p:nvPr/>
        </p:nvSpPr>
        <p:spPr>
          <a:xfrm>
            <a:off x="8700000" y="4100000"/>
            <a:ext cx="1400000" cy="280000"/>
          </a:xfrm>
          <a:prstGeom prst="roundRect">
            <a:avLst>
              <a:gd name="adj" fmla="val 5000"/>
            </a:avLst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doc_qa</a:t>
            </a:r>
          </a:p>
        </p:txBody>
      </p:sp>
      <p:sp>
        <p:nvSpPr>
          <p:cNvPr id="809" name="TextBox 808"/>
          <p:cNvSpPr txBox="1"/>
          <p:nvPr/>
        </p:nvSpPr>
        <p:spPr>
          <a:xfrm>
            <a:off x="10200000" y="4110000"/>
            <a:ext cx="1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40"/>
                </a:solidFill>
                <a:latin typeface="Malgun Gothic"/>
              </a:rPr>
              <a:t>문서 Q&amp;A</a:t>
            </a:r>
          </a:p>
        </p:txBody>
      </p:sp>
      <p:sp>
        <p:nvSpPr>
          <p:cNvPr id="810" name="TextBox 809"/>
          <p:cNvSpPr txBox="1"/>
          <p:nvPr/>
        </p:nvSpPr>
        <p:spPr>
          <a:xfrm>
            <a:off x="8700000" y="4450000"/>
            <a:ext cx="31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Malgun Gothic"/>
              </a:rPr>
              <a:t>Hybrid RAG → LLM JSON → citations 첨부</a:t>
            </a:r>
          </a:p>
        </p:txBody>
      </p:sp>
      <p:sp>
        <p:nvSpPr>
          <p:cNvPr id="811" name="TextBox 810"/>
          <p:cNvSpPr txBox="1"/>
          <p:nvPr/>
        </p:nvSpPr>
        <p:spPr>
          <a:xfrm>
            <a:off x="8700000" y="477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812" name="TextBox 811"/>
          <p:cNvSpPr txBox="1"/>
          <p:nvPr/>
        </p:nvSpPr>
        <p:spPr>
          <a:xfrm>
            <a:off x="8880000" y="477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문서 scope 필터링 → Top-5 컨텍스트</a:t>
            </a:r>
          </a:p>
        </p:txBody>
      </p:sp>
      <p:sp>
        <p:nvSpPr>
          <p:cNvPr id="813" name="TextBox 812"/>
          <p:cNvSpPr txBox="1"/>
          <p:nvPr/>
        </p:nvSpPr>
        <p:spPr>
          <a:xfrm>
            <a:off x="8700000" y="505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880000" y="505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answer + citations + confidence 점수</a:t>
            </a:r>
          </a:p>
        </p:txBody>
      </p:sp>
      <p:sp>
        <p:nvSpPr>
          <p:cNvPr id="815" name="TextBox 814"/>
          <p:cNvSpPr txBox="1"/>
          <p:nvPr/>
        </p:nvSpPr>
        <p:spPr>
          <a:xfrm>
            <a:off x="8700000" y="5330000"/>
            <a:ext cx="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rial"/>
              </a:rPr>
              <a:t>•</a:t>
            </a:r>
          </a:p>
        </p:txBody>
      </p:sp>
      <p:sp>
        <p:nvSpPr>
          <p:cNvPr id="816" name="TextBox 815"/>
          <p:cNvSpPr txBox="1"/>
          <p:nvPr/>
        </p:nvSpPr>
        <p:spPr>
          <a:xfrm>
            <a:off x="8880000" y="5330000"/>
            <a:ext cx="29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5566"/>
                </a:solidFill>
                <a:latin typeface="Malgun Gothic"/>
              </a:rPr>
              <a:t>근거 인용문 + 관련도 태깅 (높음/중간/낮음)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f5f2ec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213</ep:Words>
  <ep:PresentationFormat/>
  <ep:Paragraphs>72</ep:Paragraphs>
  <ep:Slides>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Theme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dcterms:modified xsi:type="dcterms:W3CDTF">2026-02-26T08:15:21.826</dcterms:modified>
  <cp:revision>1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