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6858000" cx="12192000"/>
  <p:notesSz cx="6858000" cy="9144000"/>
  <p:embeddedFontLst>
    <p:embeddedFont>
      <p:font typeface="Roboto ExtraBold"/>
      <p:bold r:id="rId33"/>
      <p:boldItalic r:id="rId34"/>
    </p:embeddedFont>
    <p:embeddedFont>
      <p:font typeface="Roboto Black"/>
      <p:bold r:id="rId35"/>
      <p:boldItalic r:id="rId36"/>
    </p:embeddedFont>
    <p:embeddedFont>
      <p:font typeface="Noto Sans KR"/>
      <p:regular r:id="rId37"/>
      <p:bold r:id="rId38"/>
    </p:embeddedFont>
    <p:embeddedFont>
      <p:font typeface="Roboto"/>
      <p:regular r:id="rId39"/>
      <p:bold r:id="rId40"/>
      <p:italic r:id="rId41"/>
      <p:boldItalic r:id="rId42"/>
    </p:embeddedFont>
    <p:embeddedFont>
      <p:font typeface="Roboto Medium"/>
      <p:regular r:id="rId43"/>
      <p:bold r:id="rId44"/>
      <p:italic r:id="rId45"/>
      <p:boldItalic r:id="rId46"/>
    </p:embeddedFont>
    <p:embeddedFont>
      <p:font typeface="Playfair Display"/>
      <p:regular r:id="rId47"/>
      <p:bold r:id="rId48"/>
      <p:italic r:id="rId49"/>
      <p:boldItalic r:id="rId50"/>
    </p:embeddedFont>
    <p:embeddedFont>
      <p:font typeface="Poppins"/>
      <p:regular r:id="rId51"/>
      <p:bold r:id="rId52"/>
      <p:italic r:id="rId53"/>
      <p:boldItalic r:id="rId54"/>
    </p:embeddedFont>
    <p:embeddedFont>
      <p:font typeface="Roboto SemiBold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9" roundtripDataSignature="AMtx7mgFjC1IpHd7RGmRPPVLZjb3RjftF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8" name="안혜빈"/>
  <p:cmAuthor clrIdx="1" id="1" initials="" lastIdx="5" name="jiyoung"/>
  <p:cmAuthor clrIdx="2" id="2" initials="" lastIdx="6" name="윤경은"/>
  <p:cmAuthor clrIdx="3" id="3" initials="" lastIdx="1" name="진승언"/>
  <p:cmAuthor clrIdx="4" id="4" initials="" lastIdx="2" name="명란젓코난"/>
  <p:cmAuthor clrIdx="5" id="5" initials="" lastIdx="3" name="jiyong shi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D577D9-9FFD-418C-804D-92C204AB576B}">
  <a:tblStyle styleId="{C6D577D9-9FFD-418C-804D-92C204AB57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RobotoMedium-bold.fntdata"/><Relationship Id="rId43" Type="http://schemas.openxmlformats.org/officeDocument/2006/relationships/font" Target="fonts/RobotoMedium-regular.fntdata"/><Relationship Id="rId46" Type="http://schemas.openxmlformats.org/officeDocument/2006/relationships/font" Target="fonts/RobotoMedium-boldItalic.fntdata"/><Relationship Id="rId45" Type="http://schemas.openxmlformats.org/officeDocument/2006/relationships/font" Target="fonts/Roboto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PlayfairDisplay-bold.fntdata"/><Relationship Id="rId47" Type="http://schemas.openxmlformats.org/officeDocument/2006/relationships/font" Target="fonts/PlayfairDisplay-regular.fntdata"/><Relationship Id="rId49" Type="http://schemas.openxmlformats.org/officeDocument/2006/relationships/font" Target="fonts/PlayfairDisplay-italic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font" Target="fonts/RobotoExtraBold-bold.fntdata"/><Relationship Id="rId32" Type="http://schemas.openxmlformats.org/officeDocument/2006/relationships/slide" Target="slides/slide25.xml"/><Relationship Id="rId35" Type="http://schemas.openxmlformats.org/officeDocument/2006/relationships/font" Target="fonts/RobotoBlack-bold.fntdata"/><Relationship Id="rId34" Type="http://schemas.openxmlformats.org/officeDocument/2006/relationships/font" Target="fonts/RobotoExtraBold-boldItalic.fntdata"/><Relationship Id="rId37" Type="http://schemas.openxmlformats.org/officeDocument/2006/relationships/font" Target="fonts/NotoSansKR-regular.fntdata"/><Relationship Id="rId36" Type="http://schemas.openxmlformats.org/officeDocument/2006/relationships/font" Target="fonts/RobotoBlack-boldItalic.fntdata"/><Relationship Id="rId39" Type="http://schemas.openxmlformats.org/officeDocument/2006/relationships/font" Target="fonts/Roboto-regular.fntdata"/><Relationship Id="rId38" Type="http://schemas.openxmlformats.org/officeDocument/2006/relationships/font" Target="fonts/NotoSansKR-bold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Poppins-regular.fntdata"/><Relationship Id="rId50" Type="http://schemas.openxmlformats.org/officeDocument/2006/relationships/font" Target="fonts/PlayfairDisplay-boldItalic.fntdata"/><Relationship Id="rId53" Type="http://schemas.openxmlformats.org/officeDocument/2006/relationships/font" Target="fonts/Poppins-italic.fntdata"/><Relationship Id="rId52" Type="http://schemas.openxmlformats.org/officeDocument/2006/relationships/font" Target="fonts/Poppins-bold.fntdata"/><Relationship Id="rId11" Type="http://schemas.openxmlformats.org/officeDocument/2006/relationships/slide" Target="slides/slide4.xml"/><Relationship Id="rId55" Type="http://schemas.openxmlformats.org/officeDocument/2006/relationships/font" Target="fonts/RobotoSemiBold-regular.fntdata"/><Relationship Id="rId10" Type="http://schemas.openxmlformats.org/officeDocument/2006/relationships/slide" Target="slides/slide3.xml"/><Relationship Id="rId54" Type="http://schemas.openxmlformats.org/officeDocument/2006/relationships/font" Target="fonts/Poppins-boldItalic.fntdata"/><Relationship Id="rId13" Type="http://schemas.openxmlformats.org/officeDocument/2006/relationships/slide" Target="slides/slide6.xml"/><Relationship Id="rId57" Type="http://schemas.openxmlformats.org/officeDocument/2006/relationships/font" Target="fonts/RobotoSemiBold-italic.fntdata"/><Relationship Id="rId12" Type="http://schemas.openxmlformats.org/officeDocument/2006/relationships/slide" Target="slides/slide5.xml"/><Relationship Id="rId56" Type="http://schemas.openxmlformats.org/officeDocument/2006/relationships/font" Target="fonts/RobotoSemiBold-bold.fntdata"/><Relationship Id="rId15" Type="http://schemas.openxmlformats.org/officeDocument/2006/relationships/slide" Target="slides/slide8.xml"/><Relationship Id="rId59" Type="http://customschemas.google.com/relationships/presentationmetadata" Target="metadata"/><Relationship Id="rId14" Type="http://schemas.openxmlformats.org/officeDocument/2006/relationships/slide" Target="slides/slide7.xml"/><Relationship Id="rId58" Type="http://schemas.openxmlformats.org/officeDocument/2006/relationships/font" Target="fonts/RobotoSemiBold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2-26T14:42:27.493">
    <p:pos x="6000" y="0"/>
    <p:text>여기 누구니 또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qpgnDU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2-26T14:39:50.138">
    <p:pos x="6000" y="0"/>
    <p:text>뒤쥐님 평가 부탁합니다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P8KYY"/>
      </p:ext>
    </p:extLst>
  </p:cm>
  <p:cm authorId="1" idx="1" dt="2026-02-26T14:25:04.225">
    <p:pos x="6000" y="100"/>
    <p:text>굿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P8KYI"/>
      </p:ext>
    </p:extLst>
  </p:cm>
  <p:cm authorId="1" idx="2" dt="2026-02-26T14:41:23.977">
    <p:pos x="6000" y="200"/>
    <p:text>원숭이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qpgnDM"/>
      </p:ext>
    </p:extLst>
  </p:cm>
  <p:cm authorId="0" idx="3" dt="2026-02-26T14:40:12.489">
    <p:pos x="6000" y="300"/>
    <p:text>여우 원숭이는 원숭이 일가 여우 일가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P8KYc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1" dt="2026-02-25T02:56:19.334">
    <p:pos x="6000" y="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at3A"/>
      </p:ext>
    </p:extLst>
  </p:cm>
  <p:cm authorId="0" idx="4" dt="2026-02-25T02:56:19.334">
    <p:pos x="6000" y="0"/>
    <p:text>끝</p:text>
    <p:extLst>
      <p:ext uri="{C676402C-5697-4E1C-873F-D02D1690AC5C}">
        <p15:threadingInfo timeZoneBias="0">
          <p15:parentCm authorId="2" idx="1"/>
        </p15:threadingInfo>
      </p:ext>
      <p:ext uri="http://customooxmlschemas.google.com/">
        <go:slidesCustomData xmlns:go="http://customooxmlschemas.google.com/" commentPostId="AAABzpOat3E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3" idx="1" dt="2026-02-26T11:51:54.753">
    <p:pos x="6000" y="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at3Y"/>
      </p:ext>
    </p:extLst>
  </p:cm>
  <p:cm authorId="2" idx="2" dt="2026-02-25T05:25:04.322">
    <p:pos x="6000" y="0"/>
    <p:text>아니 진짜 개 밤티</p:text>
    <p:extLst>
      <p:ext uri="{C676402C-5697-4E1C-873F-D02D1690AC5C}">
        <p15:threadingInfo timeZoneBias="0">
          <p15:parentCm authorId="3" idx="1"/>
        </p15:threadingInfo>
      </p:ext>
      <p:ext uri="http://customooxmlschemas.google.com/">
        <go:slidesCustomData xmlns:go="http://customooxmlschemas.google.com/" commentPostId="AAABzpOat3k"/>
      </p:ext>
    </p:extLst>
  </p:cm>
  <p:cm authorId="2" idx="3" dt="2026-02-26T11:51:54.753">
    <p:pos x="6000" y="0"/>
    <p:text>취소합니다 개 간지</p:text>
    <p:extLst>
      <p:ext uri="{C676402C-5697-4E1C-873F-D02D1690AC5C}">
        <p15:threadingInfo timeZoneBias="0">
          <p15:parentCm authorId="3" idx="1"/>
        </p15:threadingInfo>
      </p:ext>
      <p:ext uri="http://customooxmlschemas.google.com/">
        <go:slidesCustomData xmlns:go="http://customooxmlschemas.google.com/" commentPostId="AAABzpP8KVk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2-26T15:13:37.746">
    <p:pos x="6000" y="0"/>
    <p:text>경은시!!!!!! 저거 배경 넣을 까 말까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qpgnEw"/>
      </p:ext>
    </p:extLst>
  </p:cm>
  <p:cm authorId="4" idx="1" dt="2026-02-26T15:15:03.655">
    <p:pos x="6000" y="100"/>
    <p:text>다들힘내요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qpgnFU"/>
      </p:ext>
    </p:extLst>
  </p:cm>
  <p:cm authorId="0" idx="6" dt="2026-02-26T15:14:33.197">
    <p:pos x="6000" y="200"/>
    <p:text>들리나요 !!!!!!!!!!!!!!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qpgnE4"/>
      </p:ext>
    </p:extLst>
  </p:cm>
  <p:cm authorId="2" idx="4" dt="2026-02-26T15:14:17.793">
    <p:pos x="6000" y="200"/>
    <p:text>디코봘</p:text>
    <p:extLst>
      <p:ext uri="{C676402C-5697-4E1C-873F-D02D1690AC5C}">
        <p15:threadingInfo timeZoneBias="0">
          <p15:parentCm authorId="0" idx="6"/>
        </p15:threadingInfo>
      </p:ext>
      <p:ext uri="http://customooxmlschemas.google.com/">
        <go:slidesCustomData xmlns:go="http://customooxmlschemas.google.com/" commentPostId="AAABzqpgnFE"/>
      </p:ext>
    </p:extLst>
  </p:cm>
  <p:cm authorId="2" idx="5" dt="2026-02-26T15:14:24.507">
    <p:pos x="6000" y="200"/>
    <p:text>이쁜데 힘들자너</p:text>
    <p:extLst>
      <p:ext uri="{C676402C-5697-4E1C-873F-D02D1690AC5C}">
        <p15:threadingInfo timeZoneBias="0">
          <p15:parentCm authorId="0" idx="6"/>
        </p15:threadingInfo>
      </p:ext>
      <p:ext uri="http://customooxmlschemas.google.com/">
        <go:slidesCustomData xmlns:go="http://customooxmlschemas.google.com/" commentPostId="AAABzqpgnFI"/>
      </p:ext>
    </p:extLst>
  </p:cm>
  <p:cm authorId="2" idx="6" dt="2026-02-26T15:14:33.197">
    <p:pos x="6000" y="200"/>
    <p:text>ㅎㅎ이쁘긴해</p:text>
    <p:extLst>
      <p:ext uri="{C676402C-5697-4E1C-873F-D02D1690AC5C}">
        <p15:threadingInfo timeZoneBias="0">
          <p15:parentCm authorId="0" idx="6"/>
        </p15:threadingInfo>
      </p:ext>
      <p:ext uri="http://customooxmlschemas.google.com/">
        <go:slidesCustomData xmlns:go="http://customooxmlschemas.google.com/" commentPostId="AAABzqpgnFM"/>
      </p:ext>
    </p:extLst>
  </p:cm>
  <p:cm authorId="0" idx="7" dt="2026-02-26T15:23:54.869">
    <p:pos x="6000" y="300"/>
    <p:text>어 때 !!!! 컨펌 부탁합니다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qpgnFk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3" dt="2026-02-26T13:55:00.966">
    <p:pos x="6000" y="0"/>
    <p:text>펌프킨이터씨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P8KXs"/>
      </p:ext>
    </p:extLst>
  </p:cm>
  <p:cm authorId="5" idx="1" dt="2026-02-26T13:55:00.966">
    <p:pos x="6000" y="0"/>
    <p:text>앙 기모찌 ㅋ</p:text>
    <p:extLst>
      <p:ext uri="{C676402C-5697-4E1C-873F-D02D1690AC5C}">
        <p15:threadingInfo timeZoneBias="0">
          <p15:parentCm authorId="1" idx="3"/>
        </p15:threadingInfo>
      </p:ext>
      <p:ext uri="http://customooxmlschemas.google.com/">
        <go:slidesCustomData xmlns:go="http://customooxmlschemas.google.com/" commentPostId="AAABzpP8KXw"/>
      </p:ext>
    </p:extLst>
  </p:cm>
  <p:cm authorId="1" idx="4" dt="2026-02-26T13:54:27.082">
    <p:pos x="6000" y="100"/>
    <p:text>뭐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P8KXk"/>
      </p:ext>
    </p:extLst>
  </p:cm>
  <p:cm authorId="5" idx="2" dt="2026-02-26T13:54:27.082">
    <p:pos x="6000" y="100"/>
    <p:text>지영님이 구나 죄송합니다</p:text>
    <p:extLst>
      <p:ext uri="{C676402C-5697-4E1C-873F-D02D1690AC5C}">
        <p15:threadingInfo timeZoneBias="0">
          <p15:parentCm authorId="1" idx="4"/>
        </p15:threadingInfo>
      </p:ext>
      <p:ext uri="http://customooxmlschemas.google.com/">
        <go:slidesCustomData xmlns:go="http://customooxmlschemas.google.com/" commentPostId="AAABzpP8KXo"/>
      </p:ext>
    </p:extLst>
  </p:cm>
  <p:cm authorId="5" idx="3" dt="2026-02-26T13:53:25.009">
    <p:pos x="6000" y="200"/>
    <p:text>여우원숭이 뭐하냐?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P8KXg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2-26T14:25:54.384">
    <p:pos x="6000" y="0"/>
    <p:text>이거 점이 줄 밖에 있는거 마자용 ??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P8KX0"/>
      </p:ext>
    </p:extLst>
  </p:cm>
  <p:cm authorId="4" idx="2" dt="2026-02-26T14:25:54.384">
    <p:pos x="6000" y="0"/>
    <p:text>아니요 ㅠㅠ 수정해야돼요</p:text>
    <p:extLst>
      <p:ext uri="{C676402C-5697-4E1C-873F-D02D1690AC5C}">
        <p15:threadingInfo timeZoneBias="0">
          <p15:parentCm authorId="0" idx="8"/>
        </p15:threadingInfo>
      </p:ext>
      <p:ext uri="http://customooxmlschemas.google.com/">
        <go:slidesCustomData xmlns:go="http://customooxmlschemas.google.com/" commentPostId="AAABzpP8KYM"/>
      </p:ext>
    </p:extLst>
  </p:cm>
  <p:cm authorId="1" idx="5" dt="2026-02-26T15:02:09.830">
    <p:pos x="6000" y="100"/>
    <p:text>제가 수정했더요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qpgnEc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0c338455d_37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0c338455d_37_3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09b11e3f6_8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09b11e3f6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0c338455d_24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c0c338455d_24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0c338455d_24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c0c338455d_24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0c338455d_9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c0c338455d_9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09b11e3f6_18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c09b11e3f6_18_41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0c338455d_37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c0c338455d_37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0c338455d_3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g3c0c338455d_3_34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09b11e3f6_18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c09b11e3f6_18_18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c0c338455d_2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4" name="Google Shape;444;g3c0c338455d_21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0c338455d_3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1" name="Google Shape;521;g3c0c338455d_3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c0c338455d_9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4" name="Google Shape;564;g3c0c338455d_9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c09b11e3f6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3" name="Google Shape;573;g3c09b11e3f6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6" name="Google Shape;5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c0c338455d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5" name="Google Shape;605;g3c0c338455d_2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c0c338455d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1" name="Google Shape;691;g3c0c338455d_2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0" name="Google Shape;7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c0c338455d_21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5" name="Google Shape;775;g3c0c338455d_21_4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c0c338455d_3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g3c0c338455d_3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c0c338455d_24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g3c0c338455d_24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c0c338455d_37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g3c0c338455d_37_6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c0c338455d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g3c0c338455d_2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c09b11e3f6_1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0" name="Google Shape;1050;g3c09b11e3f6_15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"/>
              <a:buNone/>
              <a:defRPr i="0" sz="4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Relationship Id="rId4" Type="http://schemas.openxmlformats.org/officeDocument/2006/relationships/image" Target="../media/image5.png"/><Relationship Id="rId5" Type="http://schemas.openxmlformats.org/officeDocument/2006/relationships/image" Target="../media/image46.png"/><Relationship Id="rId6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40" Type="http://schemas.openxmlformats.org/officeDocument/2006/relationships/image" Target="../media/image38.png"/><Relationship Id="rId42" Type="http://schemas.openxmlformats.org/officeDocument/2006/relationships/image" Target="../media/image49.png"/><Relationship Id="rId41" Type="http://schemas.openxmlformats.org/officeDocument/2006/relationships/image" Target="../media/image34.png"/><Relationship Id="rId44" Type="http://schemas.openxmlformats.org/officeDocument/2006/relationships/image" Target="../media/image42.png"/><Relationship Id="rId43" Type="http://schemas.openxmlformats.org/officeDocument/2006/relationships/image" Target="../media/image67.png"/><Relationship Id="rId46" Type="http://schemas.openxmlformats.org/officeDocument/2006/relationships/image" Target="../media/image43.png"/><Relationship Id="rId45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3.xml"/><Relationship Id="rId4" Type="http://schemas.openxmlformats.org/officeDocument/2006/relationships/image" Target="../media/image2.png"/><Relationship Id="rId9" Type="http://schemas.openxmlformats.org/officeDocument/2006/relationships/image" Target="../media/image15.png"/><Relationship Id="rId48" Type="http://schemas.openxmlformats.org/officeDocument/2006/relationships/image" Target="../media/image39.png"/><Relationship Id="rId47" Type="http://schemas.openxmlformats.org/officeDocument/2006/relationships/image" Target="../media/image66.png"/><Relationship Id="rId49" Type="http://schemas.openxmlformats.org/officeDocument/2006/relationships/image" Target="../media/image40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3.png"/><Relationship Id="rId31" Type="http://schemas.openxmlformats.org/officeDocument/2006/relationships/image" Target="../media/image24.png"/><Relationship Id="rId30" Type="http://schemas.openxmlformats.org/officeDocument/2006/relationships/image" Target="../media/image26.png"/><Relationship Id="rId33" Type="http://schemas.openxmlformats.org/officeDocument/2006/relationships/image" Target="../media/image35.png"/><Relationship Id="rId32" Type="http://schemas.openxmlformats.org/officeDocument/2006/relationships/image" Target="../media/image25.png"/><Relationship Id="rId35" Type="http://schemas.openxmlformats.org/officeDocument/2006/relationships/image" Target="../media/image65.png"/><Relationship Id="rId34" Type="http://schemas.openxmlformats.org/officeDocument/2006/relationships/image" Target="../media/image57.png"/><Relationship Id="rId37" Type="http://schemas.openxmlformats.org/officeDocument/2006/relationships/image" Target="../media/image51.png"/><Relationship Id="rId36" Type="http://schemas.openxmlformats.org/officeDocument/2006/relationships/image" Target="../media/image27.png"/><Relationship Id="rId39" Type="http://schemas.openxmlformats.org/officeDocument/2006/relationships/image" Target="../media/image44.png"/><Relationship Id="rId38" Type="http://schemas.openxmlformats.org/officeDocument/2006/relationships/image" Target="../media/image29.png"/><Relationship Id="rId20" Type="http://schemas.openxmlformats.org/officeDocument/2006/relationships/image" Target="../media/image32.png"/><Relationship Id="rId22" Type="http://schemas.openxmlformats.org/officeDocument/2006/relationships/image" Target="../media/image20.png"/><Relationship Id="rId21" Type="http://schemas.openxmlformats.org/officeDocument/2006/relationships/image" Target="../media/image30.png"/><Relationship Id="rId24" Type="http://schemas.openxmlformats.org/officeDocument/2006/relationships/image" Target="../media/image45.png"/><Relationship Id="rId23" Type="http://schemas.openxmlformats.org/officeDocument/2006/relationships/image" Target="../media/image19.png"/><Relationship Id="rId26" Type="http://schemas.openxmlformats.org/officeDocument/2006/relationships/image" Target="../media/image36.png"/><Relationship Id="rId25" Type="http://schemas.openxmlformats.org/officeDocument/2006/relationships/image" Target="../media/image21.png"/><Relationship Id="rId28" Type="http://schemas.openxmlformats.org/officeDocument/2006/relationships/image" Target="../media/image22.png"/><Relationship Id="rId27" Type="http://schemas.openxmlformats.org/officeDocument/2006/relationships/image" Target="../media/image23.png"/><Relationship Id="rId29" Type="http://schemas.openxmlformats.org/officeDocument/2006/relationships/image" Target="../media/image52.png"/><Relationship Id="rId51" Type="http://schemas.openxmlformats.org/officeDocument/2006/relationships/image" Target="../media/image47.png"/><Relationship Id="rId50" Type="http://schemas.openxmlformats.org/officeDocument/2006/relationships/image" Target="../media/image48.png"/><Relationship Id="rId52" Type="http://schemas.openxmlformats.org/officeDocument/2006/relationships/image" Target="../media/image72.png"/><Relationship Id="rId11" Type="http://schemas.openxmlformats.org/officeDocument/2006/relationships/image" Target="../media/image12.png"/><Relationship Id="rId10" Type="http://schemas.openxmlformats.org/officeDocument/2006/relationships/image" Target="../media/image8.png"/><Relationship Id="rId13" Type="http://schemas.openxmlformats.org/officeDocument/2006/relationships/image" Target="../media/image41.png"/><Relationship Id="rId12" Type="http://schemas.openxmlformats.org/officeDocument/2006/relationships/image" Target="../media/image16.png"/><Relationship Id="rId15" Type="http://schemas.openxmlformats.org/officeDocument/2006/relationships/image" Target="../media/image7.png"/><Relationship Id="rId14" Type="http://schemas.openxmlformats.org/officeDocument/2006/relationships/image" Target="../media/image10.png"/><Relationship Id="rId17" Type="http://schemas.openxmlformats.org/officeDocument/2006/relationships/image" Target="../media/image18.png"/><Relationship Id="rId16" Type="http://schemas.openxmlformats.org/officeDocument/2006/relationships/image" Target="../media/image13.png"/><Relationship Id="rId19" Type="http://schemas.openxmlformats.org/officeDocument/2006/relationships/image" Target="../media/image31.png"/><Relationship Id="rId18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4.xml"/><Relationship Id="rId4" Type="http://schemas.openxmlformats.org/officeDocument/2006/relationships/image" Target="../media/image145.png"/><Relationship Id="rId9" Type="http://schemas.openxmlformats.org/officeDocument/2006/relationships/image" Target="../media/image78.png"/><Relationship Id="rId5" Type="http://schemas.openxmlformats.org/officeDocument/2006/relationships/image" Target="../media/image50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3.png"/><Relationship Id="rId31" Type="http://schemas.openxmlformats.org/officeDocument/2006/relationships/image" Target="../media/image83.png"/><Relationship Id="rId30" Type="http://schemas.openxmlformats.org/officeDocument/2006/relationships/image" Target="../media/image92.png"/><Relationship Id="rId20" Type="http://schemas.openxmlformats.org/officeDocument/2006/relationships/image" Target="../media/image61.png"/><Relationship Id="rId22" Type="http://schemas.openxmlformats.org/officeDocument/2006/relationships/image" Target="../media/image128.png"/><Relationship Id="rId21" Type="http://schemas.openxmlformats.org/officeDocument/2006/relationships/image" Target="../media/image75.png"/><Relationship Id="rId24" Type="http://schemas.openxmlformats.org/officeDocument/2006/relationships/image" Target="../media/image77.png"/><Relationship Id="rId23" Type="http://schemas.openxmlformats.org/officeDocument/2006/relationships/image" Target="../media/image68.png"/><Relationship Id="rId26" Type="http://schemas.openxmlformats.org/officeDocument/2006/relationships/image" Target="../media/image71.png"/><Relationship Id="rId25" Type="http://schemas.openxmlformats.org/officeDocument/2006/relationships/image" Target="../media/image74.png"/><Relationship Id="rId28" Type="http://schemas.openxmlformats.org/officeDocument/2006/relationships/image" Target="../media/image69.png"/><Relationship Id="rId27" Type="http://schemas.openxmlformats.org/officeDocument/2006/relationships/image" Target="../media/image70.png"/><Relationship Id="rId29" Type="http://schemas.openxmlformats.org/officeDocument/2006/relationships/image" Target="../media/image76.png"/><Relationship Id="rId11" Type="http://schemas.openxmlformats.org/officeDocument/2006/relationships/image" Target="../media/image58.png"/><Relationship Id="rId10" Type="http://schemas.openxmlformats.org/officeDocument/2006/relationships/image" Target="../media/image56.png"/><Relationship Id="rId13" Type="http://schemas.openxmlformats.org/officeDocument/2006/relationships/image" Target="../media/image116.png"/><Relationship Id="rId12" Type="http://schemas.openxmlformats.org/officeDocument/2006/relationships/image" Target="../media/image121.png"/><Relationship Id="rId15" Type="http://schemas.openxmlformats.org/officeDocument/2006/relationships/image" Target="../media/image60.png"/><Relationship Id="rId14" Type="http://schemas.openxmlformats.org/officeDocument/2006/relationships/image" Target="../media/image84.png"/><Relationship Id="rId17" Type="http://schemas.openxmlformats.org/officeDocument/2006/relationships/image" Target="../media/image79.png"/><Relationship Id="rId16" Type="http://schemas.openxmlformats.org/officeDocument/2006/relationships/image" Target="../media/image64.png"/><Relationship Id="rId19" Type="http://schemas.openxmlformats.org/officeDocument/2006/relationships/image" Target="../media/image63.png"/><Relationship Id="rId18" Type="http://schemas.openxmlformats.org/officeDocument/2006/relationships/image" Target="../media/image6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7.png"/><Relationship Id="rId4" Type="http://schemas.openxmlformats.org/officeDocument/2006/relationships/image" Target="../media/image91.png"/><Relationship Id="rId5" Type="http://schemas.openxmlformats.org/officeDocument/2006/relationships/image" Target="../media/image115.png"/><Relationship Id="rId6" Type="http://schemas.openxmlformats.org/officeDocument/2006/relationships/image" Target="../media/image113.png"/><Relationship Id="rId7" Type="http://schemas.openxmlformats.org/officeDocument/2006/relationships/image" Target="../media/image8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iVv7LWubR062lKvI3Rj7QGLVGtRj8PL9/view" TargetMode="External"/><Relationship Id="rId4" Type="http://schemas.openxmlformats.org/officeDocument/2006/relationships/image" Target="../media/image8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5.png"/><Relationship Id="rId4" Type="http://schemas.openxmlformats.org/officeDocument/2006/relationships/image" Target="../media/image97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9.png"/><Relationship Id="rId4" Type="http://schemas.openxmlformats.org/officeDocument/2006/relationships/image" Target="../media/image109.png"/><Relationship Id="rId5" Type="http://schemas.openxmlformats.org/officeDocument/2006/relationships/image" Target="../media/image82.png"/><Relationship Id="rId6" Type="http://schemas.openxmlformats.org/officeDocument/2006/relationships/image" Target="../media/image9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5.xml"/><Relationship Id="rId4" Type="http://schemas.openxmlformats.org/officeDocument/2006/relationships/image" Target="../media/image8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9" Type="http://schemas.openxmlformats.org/officeDocument/2006/relationships/image" Target="../media/image112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106.png"/><Relationship Id="rId8" Type="http://schemas.openxmlformats.org/officeDocument/2006/relationships/image" Target="../media/image98.png"/><Relationship Id="rId11" Type="http://schemas.openxmlformats.org/officeDocument/2006/relationships/image" Target="../media/image101.png"/><Relationship Id="rId10" Type="http://schemas.openxmlformats.org/officeDocument/2006/relationships/image" Target="../media/image108.png"/><Relationship Id="rId13" Type="http://schemas.openxmlformats.org/officeDocument/2006/relationships/image" Target="../media/image100.png"/><Relationship Id="rId12" Type="http://schemas.openxmlformats.org/officeDocument/2006/relationships/image" Target="../media/image102.png"/><Relationship Id="rId15" Type="http://schemas.openxmlformats.org/officeDocument/2006/relationships/image" Target="../media/image122.png"/><Relationship Id="rId14" Type="http://schemas.openxmlformats.org/officeDocument/2006/relationships/image" Target="../media/image103.png"/><Relationship Id="rId17" Type="http://schemas.openxmlformats.org/officeDocument/2006/relationships/image" Target="../media/image105.png"/><Relationship Id="rId16" Type="http://schemas.openxmlformats.org/officeDocument/2006/relationships/image" Target="../media/image10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0.png"/><Relationship Id="rId4" Type="http://schemas.openxmlformats.org/officeDocument/2006/relationships/image" Target="../media/image141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comments" Target="../comments/comment6.xml"/><Relationship Id="rId4" Type="http://schemas.openxmlformats.org/officeDocument/2006/relationships/image" Target="../media/image110.png"/><Relationship Id="rId9" Type="http://schemas.openxmlformats.org/officeDocument/2006/relationships/image" Target="../media/image123.png"/><Relationship Id="rId5" Type="http://schemas.openxmlformats.org/officeDocument/2006/relationships/image" Target="../media/image127.png"/><Relationship Id="rId6" Type="http://schemas.openxmlformats.org/officeDocument/2006/relationships/image" Target="../media/image111.png"/><Relationship Id="rId7" Type="http://schemas.openxmlformats.org/officeDocument/2006/relationships/image" Target="../media/image114.png"/><Relationship Id="rId8" Type="http://schemas.openxmlformats.org/officeDocument/2006/relationships/image" Target="../media/image125.png"/><Relationship Id="rId11" Type="http://schemas.openxmlformats.org/officeDocument/2006/relationships/image" Target="../media/image124.png"/><Relationship Id="rId10" Type="http://schemas.openxmlformats.org/officeDocument/2006/relationships/image" Target="../media/image144.png"/><Relationship Id="rId13" Type="http://schemas.openxmlformats.org/officeDocument/2006/relationships/image" Target="../media/image143.png"/><Relationship Id="rId12" Type="http://schemas.openxmlformats.org/officeDocument/2006/relationships/image" Target="../media/image126.png"/><Relationship Id="rId15" Type="http://schemas.openxmlformats.org/officeDocument/2006/relationships/image" Target="../media/image133.png"/><Relationship Id="rId14" Type="http://schemas.openxmlformats.org/officeDocument/2006/relationships/image" Target="../media/image1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comments" Target="../comments/comment7.xml"/><Relationship Id="rId4" Type="http://schemas.openxmlformats.org/officeDocument/2006/relationships/image" Target="../media/image130.png"/><Relationship Id="rId9" Type="http://schemas.openxmlformats.org/officeDocument/2006/relationships/image" Target="../media/image137.png"/><Relationship Id="rId5" Type="http://schemas.openxmlformats.org/officeDocument/2006/relationships/image" Target="../media/image131.png"/><Relationship Id="rId6" Type="http://schemas.openxmlformats.org/officeDocument/2006/relationships/image" Target="../media/image129.png"/><Relationship Id="rId7" Type="http://schemas.openxmlformats.org/officeDocument/2006/relationships/image" Target="../media/image132.png"/><Relationship Id="rId8" Type="http://schemas.openxmlformats.org/officeDocument/2006/relationships/image" Target="../media/image135.png"/><Relationship Id="rId11" Type="http://schemas.openxmlformats.org/officeDocument/2006/relationships/image" Target="../media/image139.png"/><Relationship Id="rId10" Type="http://schemas.openxmlformats.org/officeDocument/2006/relationships/image" Target="../media/image142.png"/><Relationship Id="rId13" Type="http://schemas.openxmlformats.org/officeDocument/2006/relationships/image" Target="../media/image136.png"/><Relationship Id="rId12" Type="http://schemas.openxmlformats.org/officeDocument/2006/relationships/image" Target="../media/image138.png"/><Relationship Id="rId14" Type="http://schemas.openxmlformats.org/officeDocument/2006/relationships/image" Target="../media/image1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0c338455d_37_361"/>
          <p:cNvSpPr txBox="1"/>
          <p:nvPr/>
        </p:nvSpPr>
        <p:spPr>
          <a:xfrm>
            <a:off x="4648200" y="538162"/>
            <a:ext cx="2895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SKN21 FINAL PROJECT</a:t>
            </a:r>
            <a:endParaRPr/>
          </a:p>
        </p:txBody>
      </p:sp>
      <p:sp>
        <p:nvSpPr>
          <p:cNvPr id="85" name="Google Shape;85;g3c0c338455d_37_361"/>
          <p:cNvSpPr/>
          <p:nvPr/>
        </p:nvSpPr>
        <p:spPr>
          <a:xfrm>
            <a:off x="4648200" y="785812"/>
            <a:ext cx="2895600" cy="1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c0c338455d_37_361"/>
          <p:cNvSpPr txBox="1"/>
          <p:nvPr/>
        </p:nvSpPr>
        <p:spPr>
          <a:xfrm>
            <a:off x="2491375" y="1614475"/>
            <a:ext cx="70551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WorkFlow  </a:t>
            </a:r>
            <a:r>
              <a:rPr b="0" i="0" lang="en-US" sz="66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사내 AI </a:t>
            </a:r>
            <a:r>
              <a:rPr lang="en-US" sz="6600">
                <a:solidFill>
                  <a:srgbClr val="0F172A"/>
                </a:solidFill>
                <a:latin typeface="Roboto Black"/>
                <a:ea typeface="Roboto Black"/>
                <a:cs typeface="Roboto Black"/>
                <a:sym typeface="Roboto Black"/>
              </a:rPr>
              <a:t>사내 AI </a:t>
            </a:r>
            <a:r>
              <a:rPr i="0" lang="en-US" sz="6600" u="none" cap="none" strike="noStrike">
                <a:solidFill>
                  <a:srgbClr val="0F172A"/>
                </a:solidFill>
                <a:latin typeface="Roboto Black"/>
                <a:ea typeface="Roboto Black"/>
                <a:cs typeface="Roboto Black"/>
                <a:sym typeface="Roboto Black"/>
              </a:rPr>
              <a:t>어시스턴트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7" name="Google Shape;87;g3c0c338455d_37_361"/>
          <p:cNvSpPr txBox="1"/>
          <p:nvPr/>
        </p:nvSpPr>
        <p:spPr>
          <a:xfrm>
            <a:off x="3767137" y="4367212"/>
            <a:ext cx="465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사내 업무 자동화를 위한</a:t>
            </a:r>
            <a:endParaRPr sz="17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sLLM 기반 AI Agent 플랫폼</a:t>
            </a:r>
            <a:endParaRPr sz="1300"/>
          </a:p>
        </p:txBody>
      </p:sp>
      <p:sp>
        <p:nvSpPr>
          <p:cNvPr id="88" name="Google Shape;88;g3c0c338455d_37_361"/>
          <p:cNvSpPr txBox="1"/>
          <p:nvPr/>
        </p:nvSpPr>
        <p:spPr>
          <a:xfrm>
            <a:off x="3970975" y="5503562"/>
            <a:ext cx="409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055"/>
                </a:solidFill>
                <a:latin typeface="Noto Sans KR"/>
                <a:ea typeface="Noto Sans KR"/>
                <a:cs typeface="Noto Sans KR"/>
                <a:sym typeface="Noto Sans KR"/>
              </a:rPr>
              <a:t>Team 3 | 문지영 · 신지용 · 안혜빈 · 윤경은 · 진승언</a:t>
            </a:r>
            <a:endParaRPr>
              <a:solidFill>
                <a:srgbClr val="334055"/>
              </a:solidFill>
            </a:endParaRPr>
          </a:p>
        </p:txBody>
      </p:sp>
      <p:sp>
        <p:nvSpPr>
          <p:cNvPr id="89" name="Google Shape;89;g3c0c338455d_37_361"/>
          <p:cNvSpPr txBox="1"/>
          <p:nvPr/>
        </p:nvSpPr>
        <p:spPr>
          <a:xfrm>
            <a:off x="762000" y="6324600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2026. 02. 27. FRI</a:t>
            </a:r>
            <a:endParaRPr/>
          </a:p>
        </p:txBody>
      </p:sp>
      <p:sp>
        <p:nvSpPr>
          <p:cNvPr id="90" name="Google Shape;90;g3c0c338455d_37_361"/>
          <p:cNvSpPr/>
          <p:nvPr/>
        </p:nvSpPr>
        <p:spPr>
          <a:xfrm>
            <a:off x="6732975" y="1614475"/>
            <a:ext cx="2777700" cy="101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c0c338455d_37_361"/>
          <p:cNvSpPr txBox="1"/>
          <p:nvPr/>
        </p:nvSpPr>
        <p:spPr>
          <a:xfrm>
            <a:off x="6872313" y="1662112"/>
            <a:ext cx="2400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9b11e3f6_8_0"/>
          <p:cNvSpPr txBox="1"/>
          <p:nvPr/>
        </p:nvSpPr>
        <p:spPr>
          <a:xfrm>
            <a:off x="1355750" y="1294374"/>
            <a:ext cx="5324400" cy="56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1" lang="en-US" sz="22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 배경 및 문제 정의 </a:t>
            </a:r>
            <a:endParaRPr b="1" sz="22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2 프로젝트 목표</a:t>
            </a:r>
            <a:br>
              <a:rPr b="1" lang="en-US" sz="22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19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3 시스템 아키텍처</a:t>
            </a:r>
            <a:endParaRPr b="1" sz="22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4 기능 소개</a:t>
            </a:r>
            <a:endParaRPr b="1" sz="22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5 기술 소개</a:t>
            </a:r>
            <a:endParaRPr b="1" sz="22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6 진행 현황 / 핵심 성과 </a:t>
            </a:r>
            <a:endParaRPr b="1" sz="22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7 한계점 </a:t>
            </a:r>
            <a:endParaRPr b="1" sz="22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8 향후 계획</a:t>
            </a:r>
            <a:endParaRPr b="1" sz="22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g3c09b11e3f6_8_0"/>
          <p:cNvSpPr txBox="1"/>
          <p:nvPr/>
        </p:nvSpPr>
        <p:spPr>
          <a:xfrm>
            <a:off x="762000" y="571500"/>
            <a:ext cx="25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CONTENTS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8" name="Google Shape;98;g3c09b11e3f6_8_0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0c338455d_24_111"/>
          <p:cNvSpPr txBox="1"/>
          <p:nvPr/>
        </p:nvSpPr>
        <p:spPr>
          <a:xfrm>
            <a:off x="947843" y="1837278"/>
            <a:ext cx="4194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85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사내 업무 환경의 한계와 변화</a:t>
            </a:r>
            <a:endParaRPr sz="1233">
              <a:solidFill>
                <a:srgbClr val="5C718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g3c0c338455d_24_111"/>
          <p:cNvSpPr txBox="1"/>
          <p:nvPr/>
        </p:nvSpPr>
        <p:spPr>
          <a:xfrm>
            <a:off x="1199065" y="2284034"/>
            <a:ext cx="37848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LLM 및 AI Agent 도입 가속화:</a:t>
            </a:r>
            <a:r>
              <a:rPr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기업 내 단순 반복 업무를 지능형 AI를 통해 자동화하여 실무자의 생산성을 극대화하려는 시장의 니즈가 급증하고 있습니다.</a:t>
            </a:r>
            <a:endParaRPr sz="1233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g3c0c338455d_24_111"/>
          <p:cNvSpPr txBox="1"/>
          <p:nvPr/>
        </p:nvSpPr>
        <p:spPr>
          <a:xfrm>
            <a:off x="1199075" y="3568079"/>
            <a:ext cx="37848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복잡해진 사내 규정과 정보의 파편화:</a:t>
            </a:r>
            <a:r>
              <a:rPr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인사, 보안 등 사내 규정이 방대해져, 기존의 시스템으로는 정확한 규정</a:t>
            </a:r>
            <a:r>
              <a:rPr lang="en-US" sz="132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검색, </a:t>
            </a:r>
            <a:r>
              <a:rPr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판단 </a:t>
            </a:r>
            <a:r>
              <a:rPr lang="en-US" sz="132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그리고 </a:t>
            </a:r>
            <a:r>
              <a:rPr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예외 상황 대응이 어렵습니다.</a:t>
            </a:r>
            <a:endParaRPr sz="1233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g3c0c338455d_24_111"/>
          <p:cNvSpPr txBox="1"/>
          <p:nvPr/>
        </p:nvSpPr>
        <p:spPr>
          <a:xfrm>
            <a:off x="1199065" y="4852094"/>
            <a:ext cx="37848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수작업 중심의 행정 업무 병목:</a:t>
            </a:r>
            <a:r>
              <a:rPr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회의록 작성, 문서 초안 기획, 복수의 앱(메일, 캘린더 등)을 오가는 수동적인 일정 관리 등 비핵심 행정 업무에 과도한 리소스가 소모되고 있습니다.</a:t>
            </a:r>
            <a:endParaRPr sz="1233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g3c0c338455d_24_111"/>
          <p:cNvSpPr txBox="1"/>
          <p:nvPr/>
        </p:nvSpPr>
        <p:spPr>
          <a:xfrm>
            <a:off x="989256" y="2300819"/>
            <a:ext cx="672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5" u="none" cap="none" strike="noStrike">
                <a:solidFill>
                  <a:srgbClr val="445566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sz="1233">
              <a:solidFill>
                <a:srgbClr val="445566"/>
              </a:solidFill>
            </a:endParaRPr>
          </a:p>
        </p:txBody>
      </p:sp>
      <p:sp>
        <p:nvSpPr>
          <p:cNvPr id="108" name="Google Shape;108;g3c0c338455d_24_111"/>
          <p:cNvSpPr txBox="1"/>
          <p:nvPr/>
        </p:nvSpPr>
        <p:spPr>
          <a:xfrm>
            <a:off x="989256" y="3584849"/>
            <a:ext cx="672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5" u="none" cap="none" strike="noStrike">
                <a:solidFill>
                  <a:srgbClr val="445566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sz="1233">
              <a:solidFill>
                <a:srgbClr val="445566"/>
              </a:solidFill>
            </a:endParaRPr>
          </a:p>
        </p:txBody>
      </p:sp>
      <p:sp>
        <p:nvSpPr>
          <p:cNvPr id="109" name="Google Shape;109;g3c0c338455d_24_111"/>
          <p:cNvSpPr txBox="1"/>
          <p:nvPr/>
        </p:nvSpPr>
        <p:spPr>
          <a:xfrm>
            <a:off x="989256" y="4868879"/>
            <a:ext cx="672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5" u="none" cap="none" strike="noStrike">
                <a:solidFill>
                  <a:srgbClr val="445566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sz="1233">
              <a:solidFill>
                <a:srgbClr val="445566"/>
              </a:solidFill>
            </a:endParaRPr>
          </a:p>
        </p:txBody>
      </p:sp>
      <p:sp>
        <p:nvSpPr>
          <p:cNvPr id="110" name="Google Shape;110;g3c0c338455d_24_111"/>
          <p:cNvSpPr txBox="1"/>
          <p:nvPr/>
        </p:nvSpPr>
        <p:spPr>
          <a:xfrm>
            <a:off x="775229" y="571500"/>
            <a:ext cx="444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프로젝트 배경 및 문제 정의 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descr="image.png" id="111" name="Google Shape;111;g3c0c338455d_24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5525" y="2091813"/>
            <a:ext cx="5422025" cy="91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g3c0c338455d_24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5525" y="3202088"/>
            <a:ext cx="5422025" cy="85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g3c0c338455d_24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5525" y="4246988"/>
            <a:ext cx="5422025" cy="8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c0c338455d_24_111"/>
          <p:cNvSpPr txBox="1"/>
          <p:nvPr/>
        </p:nvSpPr>
        <p:spPr>
          <a:xfrm>
            <a:off x="6410025" y="5357263"/>
            <a:ext cx="514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* 출처: Microsoft Work Trend Index (2023) </a:t>
            </a:r>
            <a:endParaRPr/>
          </a:p>
        </p:txBody>
      </p:sp>
      <p:sp>
        <p:nvSpPr>
          <p:cNvPr id="115" name="Google Shape;115;g3c0c338455d_24_111"/>
          <p:cNvSpPr txBox="1"/>
          <p:nvPr/>
        </p:nvSpPr>
        <p:spPr>
          <a:xfrm>
            <a:off x="6230575" y="2240000"/>
            <a:ext cx="1155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68%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6" name="Google Shape;116;g3c0c338455d_24_111"/>
          <p:cNvSpPr txBox="1"/>
          <p:nvPr/>
        </p:nvSpPr>
        <p:spPr>
          <a:xfrm>
            <a:off x="7671925" y="2357113"/>
            <a:ext cx="317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충분한 집중 시간 부족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방해받지 않고 핵심 업무에 몰입할 수 있는 Focus Time이 없다고 응답</a:t>
            </a:r>
            <a:endParaRPr/>
          </a:p>
        </p:txBody>
      </p:sp>
      <p:sp>
        <p:nvSpPr>
          <p:cNvPr id="117" name="Google Shape;117;g3c0c338455d_24_111"/>
          <p:cNvSpPr txBox="1"/>
          <p:nvPr/>
        </p:nvSpPr>
        <p:spPr>
          <a:xfrm>
            <a:off x="6248725" y="3317588"/>
            <a:ext cx="1119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62%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8" name="Google Shape;118;g3c0c338455d_24_111"/>
          <p:cNvSpPr txBox="1"/>
          <p:nvPr/>
        </p:nvSpPr>
        <p:spPr>
          <a:xfrm>
            <a:off x="7671925" y="3398438"/>
            <a:ext cx="317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과도한 정보 탐색 소요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업무 중 필요한 정보나 데이터를 찾는 데 너무 많은 시간이 낭비됨</a:t>
            </a:r>
            <a:endParaRPr/>
          </a:p>
        </p:txBody>
      </p:sp>
      <p:sp>
        <p:nvSpPr>
          <p:cNvPr id="119" name="Google Shape;119;g3c0c338455d_24_111"/>
          <p:cNvSpPr txBox="1"/>
          <p:nvPr/>
        </p:nvSpPr>
        <p:spPr>
          <a:xfrm>
            <a:off x="6230575" y="4395163"/>
            <a:ext cx="1155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57%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0" name="Google Shape;120;g3c0c338455d_24_111"/>
          <p:cNvSpPr txBox="1"/>
          <p:nvPr/>
        </p:nvSpPr>
        <p:spPr>
          <a:xfrm>
            <a:off x="7671925" y="4439763"/>
            <a:ext cx="33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055"/>
                </a:solidFill>
                <a:latin typeface="Noto Sans KR"/>
                <a:ea typeface="Noto Sans KR"/>
                <a:cs typeface="Noto Sans KR"/>
                <a:sym typeface="Noto Sans KR"/>
              </a:rPr>
              <a:t>커뮤니케이션 소모 비중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평균 업무 시간 중 회의, 이메일, 채팅에 쓰이는 시간 (실제 생산 활동은 43%)</a:t>
            </a:r>
            <a:endParaRPr/>
          </a:p>
        </p:txBody>
      </p:sp>
      <p:sp>
        <p:nvSpPr>
          <p:cNvPr id="121" name="Google Shape;121;g3c0c338455d_24_111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0c338455d_24_93"/>
          <p:cNvSpPr txBox="1"/>
          <p:nvPr/>
        </p:nvSpPr>
        <p:spPr>
          <a:xfrm>
            <a:off x="3556200" y="2604350"/>
            <a:ext cx="55077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25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회사 업무를 </a:t>
            </a:r>
            <a:r>
              <a:rPr lang="en-US" sz="3250">
                <a:solidFill>
                  <a:srgbClr val="2D58B8"/>
                </a:solidFill>
                <a:latin typeface="Roboto Black"/>
                <a:ea typeface="Roboto Black"/>
                <a:cs typeface="Roboto Black"/>
                <a:sym typeface="Roboto Black"/>
              </a:rPr>
              <a:t>자연어</a:t>
            </a:r>
            <a:r>
              <a:rPr lang="en-US" sz="325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로 쉽게 처리</a:t>
            </a:r>
            <a:endParaRPr i="0" sz="15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7" name="Google Shape;127;g3c0c338455d_24_93"/>
          <p:cNvSpPr txBox="1"/>
          <p:nvPr/>
        </p:nvSpPr>
        <p:spPr>
          <a:xfrm>
            <a:off x="3946050" y="3429000"/>
            <a:ext cx="444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4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DUDE </a:t>
            </a:r>
            <a:r>
              <a:rPr b="1" i="0" lang="en-US" sz="14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— LangGraph 기반 멀티 Agent 업무 자동화 시스템</a:t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28" name="Google Shape;128;g3c0c338455d_24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8233" y="524490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c0c338455d_24_93"/>
          <p:cNvSpPr txBox="1"/>
          <p:nvPr/>
        </p:nvSpPr>
        <p:spPr>
          <a:xfrm>
            <a:off x="3570663" y="5272992"/>
            <a:ext cx="6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규정 판단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30" name="Google Shape;130;g3c0c338455d_24_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3950" y="5244901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c0c338455d_24_93"/>
          <p:cNvSpPr txBox="1"/>
          <p:nvPr/>
        </p:nvSpPr>
        <p:spPr>
          <a:xfrm>
            <a:off x="5628275" y="5267051"/>
            <a:ext cx="200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문서 </a:t>
            </a:r>
            <a:r>
              <a:rPr lang="en-US" sz="1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생성/조회/요약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32" name="Google Shape;132;g3c0c338455d_24_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2925" y="522325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c0c338455d_24_93"/>
          <p:cNvSpPr txBox="1"/>
          <p:nvPr/>
        </p:nvSpPr>
        <p:spPr>
          <a:xfrm>
            <a:off x="8411863" y="5254308"/>
            <a:ext cx="6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일정 관리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g3c0c338455d_24_93"/>
          <p:cNvSpPr txBox="1"/>
          <p:nvPr/>
        </p:nvSpPr>
        <p:spPr>
          <a:xfrm>
            <a:off x="775229" y="571500"/>
            <a:ext cx="444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프로젝트 목표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5" name="Google Shape;135;g3c0c338455d_24_93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0c338455d_9_78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141" name="Google Shape;141;g3c0c338455d_9_78"/>
          <p:cNvSpPr txBox="1"/>
          <p:nvPr/>
        </p:nvSpPr>
        <p:spPr>
          <a:xfrm>
            <a:off x="4116150" y="2007000"/>
            <a:ext cx="53700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25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사내 업무 자동화의 혁신 </a:t>
            </a:r>
            <a:endParaRPr i="0" sz="15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2" name="Google Shape;142;g3c0c338455d_9_78"/>
          <p:cNvSpPr txBox="1"/>
          <p:nvPr/>
        </p:nvSpPr>
        <p:spPr>
          <a:xfrm>
            <a:off x="2129863" y="2939571"/>
            <a:ext cx="79323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사내 규정 판단, 문서 분석, 일정 관리를 지능형 AI 에이전트가 처리합니다. 단순 LLM 호출을 넘어,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LangGraph</a:t>
            </a:r>
            <a:r>
              <a:rPr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를 통한 유연한 오케스트레이션과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sLLM</a:t>
            </a:r>
            <a:r>
              <a:rPr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파인튜닝으로 도메인 특화 성능을 극대화합니다.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3" name="Google Shape;143;g3c0c338455d_9_78"/>
          <p:cNvGrpSpPr/>
          <p:nvPr/>
        </p:nvGrpSpPr>
        <p:grpSpPr>
          <a:xfrm>
            <a:off x="4059642" y="3928101"/>
            <a:ext cx="4072710" cy="936372"/>
            <a:chOff x="3680182" y="3917596"/>
            <a:chExt cx="4797068" cy="936372"/>
          </a:xfrm>
        </p:grpSpPr>
        <p:sp>
          <p:nvSpPr>
            <p:cNvPr id="144" name="Google Shape;144;g3c0c338455d_9_78"/>
            <p:cNvSpPr txBox="1"/>
            <p:nvPr/>
          </p:nvSpPr>
          <p:spPr>
            <a:xfrm>
              <a:off x="3714750" y="3945477"/>
              <a:ext cx="4762500" cy="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130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보안:</a:t>
              </a:r>
              <a:r>
                <a:rPr i="0" lang="en-US" sz="1275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 사내 데이터 외부 유출 차단을 위한 프라이빗 인프라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" name="Google Shape;145;g3c0c338455d_9_78"/>
            <p:cNvSpPr txBox="1"/>
            <p:nvPr/>
          </p:nvSpPr>
          <p:spPr>
            <a:xfrm>
              <a:off x="3714750" y="4301623"/>
              <a:ext cx="4762500" cy="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130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정밀:</a:t>
              </a:r>
              <a:r>
                <a:rPr i="0" lang="en-US" sz="1275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 RAG 기반의 근거 중심 규정 교차 판단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g3c0c338455d_9_78"/>
            <p:cNvSpPr txBox="1"/>
            <p:nvPr/>
          </p:nvSpPr>
          <p:spPr>
            <a:xfrm>
              <a:off x="3714750" y="4657768"/>
              <a:ext cx="4762500" cy="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130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통합:</a:t>
              </a:r>
              <a:r>
                <a:rPr i="0" lang="en-US" sz="1275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 Google 워크스페이스(Calendar, Tasks 등) 연동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image.png" id="147" name="Google Shape;147;g3c0c338455d_9_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07357" y="3917596"/>
              <a:ext cx="178616" cy="221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g3c0c338455d_9_7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80182" y="4279672"/>
              <a:ext cx="221125" cy="221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g3c0c338455d_9_7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683058" y="4620900"/>
              <a:ext cx="221125" cy="221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9b11e3f6_18_413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155" name="Google Shape;155;g3c09b11e3f6_18_413"/>
          <p:cNvSpPr/>
          <p:nvPr/>
        </p:nvSpPr>
        <p:spPr>
          <a:xfrm>
            <a:off x="1066755" y="1693018"/>
            <a:ext cx="2103000" cy="1097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c09b11e3f6_18_413"/>
          <p:cNvSpPr txBox="1"/>
          <p:nvPr/>
        </p:nvSpPr>
        <p:spPr>
          <a:xfrm>
            <a:off x="1066755" y="1824132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사용자 입력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g3c09b11e3f6_18_413"/>
          <p:cNvSpPr txBox="1"/>
          <p:nvPr/>
        </p:nvSpPr>
        <p:spPr>
          <a:xfrm>
            <a:off x="1066755" y="2235612"/>
            <a:ext cx="210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저번 회의록 액션 아이템이 뭐였지</a:t>
            </a: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?"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g3c09b11e3f6_18_413"/>
          <p:cNvSpPr txBox="1"/>
          <p:nvPr/>
        </p:nvSpPr>
        <p:spPr>
          <a:xfrm>
            <a:off x="3215652" y="1921618"/>
            <a:ext cx="36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7D3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</a:t>
            </a:r>
            <a:endParaRPr/>
          </a:p>
        </p:txBody>
      </p:sp>
      <p:sp>
        <p:nvSpPr>
          <p:cNvPr id="159" name="Google Shape;159;g3c09b11e3f6_18_413"/>
          <p:cNvSpPr/>
          <p:nvPr/>
        </p:nvSpPr>
        <p:spPr>
          <a:xfrm>
            <a:off x="3718585" y="1693018"/>
            <a:ext cx="2103000" cy="1097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c09b11e3f6_18_413"/>
          <p:cNvSpPr txBox="1"/>
          <p:nvPr/>
        </p:nvSpPr>
        <p:spPr>
          <a:xfrm>
            <a:off x="3718585" y="187589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Intent 분류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3c09b11e3f6_18_413"/>
          <p:cNvSpPr txBox="1"/>
          <p:nvPr/>
        </p:nvSpPr>
        <p:spPr>
          <a:xfrm>
            <a:off x="3718585" y="2287378"/>
            <a:ext cx="21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KoELECTRA  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g3c09b11e3f6_18_413"/>
          <p:cNvSpPr txBox="1"/>
          <p:nvPr/>
        </p:nvSpPr>
        <p:spPr>
          <a:xfrm>
            <a:off x="5867483" y="1921618"/>
            <a:ext cx="36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7D3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</a:t>
            </a:r>
            <a:endParaRPr/>
          </a:p>
        </p:txBody>
      </p:sp>
      <p:sp>
        <p:nvSpPr>
          <p:cNvPr id="163" name="Google Shape;163;g3c09b11e3f6_18_413"/>
          <p:cNvSpPr/>
          <p:nvPr/>
        </p:nvSpPr>
        <p:spPr>
          <a:xfrm>
            <a:off x="6370416" y="1693018"/>
            <a:ext cx="2103000" cy="1097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c09b11e3f6_18_413"/>
          <p:cNvSpPr txBox="1"/>
          <p:nvPr/>
        </p:nvSpPr>
        <p:spPr>
          <a:xfrm>
            <a:off x="6370416" y="187589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Orchestrator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g3c09b11e3f6_18_413"/>
          <p:cNvSpPr txBox="1"/>
          <p:nvPr/>
        </p:nvSpPr>
        <p:spPr>
          <a:xfrm>
            <a:off x="6370416" y="2287378"/>
            <a:ext cx="21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LangGraph 라우팅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g3c09b11e3f6_18_413"/>
          <p:cNvSpPr txBox="1"/>
          <p:nvPr/>
        </p:nvSpPr>
        <p:spPr>
          <a:xfrm>
            <a:off x="8519313" y="1921618"/>
            <a:ext cx="36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7D3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</a:t>
            </a:r>
            <a:endParaRPr/>
          </a:p>
        </p:txBody>
      </p:sp>
      <p:sp>
        <p:nvSpPr>
          <p:cNvPr id="167" name="Google Shape;167;g3c09b11e3f6_18_413"/>
          <p:cNvSpPr/>
          <p:nvPr/>
        </p:nvSpPr>
        <p:spPr>
          <a:xfrm>
            <a:off x="9022247" y="1693018"/>
            <a:ext cx="2103000" cy="109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c09b11e3f6_18_413"/>
          <p:cNvSpPr txBox="1"/>
          <p:nvPr/>
        </p:nvSpPr>
        <p:spPr>
          <a:xfrm>
            <a:off x="9022247" y="187589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Agent 처리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3c09b11e3f6_18_413"/>
          <p:cNvSpPr txBox="1"/>
          <p:nvPr/>
        </p:nvSpPr>
        <p:spPr>
          <a:xfrm>
            <a:off x="9022247" y="2287378"/>
            <a:ext cx="21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규정/문서/일정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g3c09b11e3f6_18_413"/>
          <p:cNvSpPr/>
          <p:nvPr/>
        </p:nvSpPr>
        <p:spPr>
          <a:xfrm>
            <a:off x="573287" y="3290073"/>
            <a:ext cx="3474600" cy="100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c09b11e3f6_18_413"/>
          <p:cNvSpPr txBox="1"/>
          <p:nvPr/>
        </p:nvSpPr>
        <p:spPr>
          <a:xfrm>
            <a:off x="1291623" y="3412425"/>
            <a:ext cx="203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Judgment Agent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g3c09b11e3f6_18_413"/>
          <p:cNvSpPr txBox="1"/>
          <p:nvPr/>
        </p:nvSpPr>
        <p:spPr>
          <a:xfrm>
            <a:off x="1185276" y="3838723"/>
            <a:ext cx="225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규정 판단 + RAG + 근거 제시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g3c09b11e3f6_18_413"/>
          <p:cNvSpPr/>
          <p:nvPr/>
        </p:nvSpPr>
        <p:spPr>
          <a:xfrm>
            <a:off x="4297795" y="3290073"/>
            <a:ext cx="3474600" cy="100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c09b11e3f6_18_413"/>
          <p:cNvSpPr txBox="1"/>
          <p:nvPr/>
        </p:nvSpPr>
        <p:spPr>
          <a:xfrm>
            <a:off x="5118475" y="3427225"/>
            <a:ext cx="203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Document Agent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g3c09b11e3f6_18_413"/>
          <p:cNvSpPr txBox="1"/>
          <p:nvPr/>
        </p:nvSpPr>
        <p:spPr>
          <a:xfrm>
            <a:off x="5194973" y="3838722"/>
            <a:ext cx="188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생성 / 요약 / 검색 / QA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g3c09b11e3f6_18_413"/>
          <p:cNvSpPr/>
          <p:nvPr/>
        </p:nvSpPr>
        <p:spPr>
          <a:xfrm>
            <a:off x="8006502" y="3290073"/>
            <a:ext cx="3474600" cy="100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c09b11e3f6_18_413"/>
          <p:cNvSpPr txBox="1"/>
          <p:nvPr/>
        </p:nvSpPr>
        <p:spPr>
          <a:xfrm>
            <a:off x="8838975" y="3427226"/>
            <a:ext cx="233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Schedule Agent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g3c09b11e3f6_18_413"/>
          <p:cNvSpPr txBox="1"/>
          <p:nvPr/>
        </p:nvSpPr>
        <p:spPr>
          <a:xfrm>
            <a:off x="8713557" y="3838724"/>
            <a:ext cx="233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일정 등록·조회 + Google 연동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g3c09b11e3f6_18_413"/>
          <p:cNvSpPr/>
          <p:nvPr/>
        </p:nvSpPr>
        <p:spPr>
          <a:xfrm>
            <a:off x="1728099" y="4661675"/>
            <a:ext cx="15687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c09b11e3f6_18_413"/>
          <p:cNvSpPr txBox="1"/>
          <p:nvPr/>
        </p:nvSpPr>
        <p:spPr>
          <a:xfrm>
            <a:off x="1728174" y="4718425"/>
            <a:ext cx="156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규정 판단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3c09b11e3f6_18_413"/>
          <p:cNvSpPr/>
          <p:nvPr/>
        </p:nvSpPr>
        <p:spPr>
          <a:xfrm>
            <a:off x="3385974" y="4661675"/>
            <a:ext cx="14679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c09b11e3f6_18_413"/>
          <p:cNvSpPr txBox="1"/>
          <p:nvPr/>
        </p:nvSpPr>
        <p:spPr>
          <a:xfrm>
            <a:off x="3385924" y="4718425"/>
            <a:ext cx="146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문서 생성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g3c09b11e3f6_18_413"/>
          <p:cNvSpPr/>
          <p:nvPr/>
        </p:nvSpPr>
        <p:spPr>
          <a:xfrm>
            <a:off x="4942874" y="4659475"/>
            <a:ext cx="14679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c09b11e3f6_18_413"/>
          <p:cNvSpPr txBox="1"/>
          <p:nvPr/>
        </p:nvSpPr>
        <p:spPr>
          <a:xfrm>
            <a:off x="4942874" y="4716225"/>
            <a:ext cx="146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문서 요약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g3c09b11e3f6_18_413"/>
          <p:cNvSpPr/>
          <p:nvPr/>
        </p:nvSpPr>
        <p:spPr>
          <a:xfrm>
            <a:off x="6499773" y="4659475"/>
            <a:ext cx="14679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c09b11e3f6_18_413"/>
          <p:cNvSpPr txBox="1"/>
          <p:nvPr/>
        </p:nvSpPr>
        <p:spPr>
          <a:xfrm>
            <a:off x="6499773" y="4716225"/>
            <a:ext cx="146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문서 검색 / QA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g3c09b11e3f6_18_413"/>
          <p:cNvSpPr/>
          <p:nvPr/>
        </p:nvSpPr>
        <p:spPr>
          <a:xfrm>
            <a:off x="8056676" y="4659475"/>
            <a:ext cx="14679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c09b11e3f6_18_413"/>
          <p:cNvSpPr txBox="1"/>
          <p:nvPr/>
        </p:nvSpPr>
        <p:spPr>
          <a:xfrm>
            <a:off x="8056676" y="4716225"/>
            <a:ext cx="146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일정 등록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g3c09b11e3f6_18_413"/>
          <p:cNvSpPr/>
          <p:nvPr/>
        </p:nvSpPr>
        <p:spPr>
          <a:xfrm>
            <a:off x="9613575" y="4659475"/>
            <a:ext cx="14679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c09b11e3f6_18_413"/>
          <p:cNvSpPr txBox="1"/>
          <p:nvPr/>
        </p:nvSpPr>
        <p:spPr>
          <a:xfrm>
            <a:off x="9613575" y="4716225"/>
            <a:ext cx="146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일정 조회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g3c09b11e3f6_18_413"/>
          <p:cNvSpPr/>
          <p:nvPr/>
        </p:nvSpPr>
        <p:spPr>
          <a:xfrm>
            <a:off x="3474362" y="5724738"/>
            <a:ext cx="5319300" cy="457200"/>
          </a:xfrm>
          <a:prstGeom prst="flowChartAlternateProcess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c09b11e3f6_18_413"/>
          <p:cNvSpPr txBox="1"/>
          <p:nvPr/>
        </p:nvSpPr>
        <p:spPr>
          <a:xfrm>
            <a:off x="2059221" y="5808303"/>
            <a:ext cx="815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132063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LLM API </a:t>
            </a:r>
            <a:r>
              <a:rPr i="0" lang="en-US" sz="1500" u="none" cap="none" strike="noStrike">
                <a:solidFill>
                  <a:srgbClr val="132063"/>
                </a:solidFill>
                <a:latin typeface="Roboto Black"/>
                <a:ea typeface="Roboto Black"/>
                <a:cs typeface="Roboto Black"/>
                <a:sym typeface="Roboto Black"/>
              </a:rPr>
              <a:t>먼저 구현  &gt;  형태 확정  </a:t>
            </a:r>
            <a:r>
              <a:rPr i="0" lang="en-US" sz="1500" u="none" cap="none" strike="noStrike">
                <a:solidFill>
                  <a:srgbClr val="132063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&gt;  sLLM(vLLM+LoRA)</a:t>
            </a:r>
            <a:r>
              <a:rPr i="0" lang="en-US" sz="1500" u="none" cap="none" strike="noStrike">
                <a:solidFill>
                  <a:srgbClr val="132063"/>
                </a:solidFill>
                <a:latin typeface="Roboto Black"/>
                <a:ea typeface="Roboto Black"/>
                <a:cs typeface="Roboto Black"/>
                <a:sym typeface="Roboto Black"/>
              </a:rPr>
              <a:t> 교체</a:t>
            </a:r>
            <a:endParaRPr>
              <a:solidFill>
                <a:srgbClr val="13206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3" name="Google Shape;193;g3c09b11e3f6_18_413"/>
          <p:cNvSpPr txBox="1"/>
          <p:nvPr/>
        </p:nvSpPr>
        <p:spPr>
          <a:xfrm>
            <a:off x="762000" y="571500"/>
            <a:ext cx="616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Solution</a:t>
            </a: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: 자연어로 업무 자동화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4" name="Google Shape;194;g3c09b11e3f6_18_413"/>
          <p:cNvSpPr txBox="1"/>
          <p:nvPr/>
        </p:nvSpPr>
        <p:spPr>
          <a:xfrm>
            <a:off x="5206000" y="5500700"/>
            <a:ext cx="5143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3688" y="1309719"/>
            <a:ext cx="4944576" cy="519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6049" y="600322"/>
            <a:ext cx="5302675" cy="612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7075" y="2267945"/>
            <a:ext cx="4737775" cy="62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2525" y="3249213"/>
            <a:ext cx="4314825" cy="101337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"/>
          <p:cNvSpPr txBox="1"/>
          <p:nvPr/>
        </p:nvSpPr>
        <p:spPr>
          <a:xfrm>
            <a:off x="1215952" y="1601261"/>
            <a:ext cx="207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3A426F"/>
                </a:solidFill>
                <a:latin typeface="Roboto Black"/>
                <a:ea typeface="Roboto Black"/>
                <a:cs typeface="Roboto Black"/>
                <a:sym typeface="Roboto Black"/>
              </a:rPr>
              <a:t>파이프라인 구조</a:t>
            </a:r>
            <a:endParaRPr i="0" sz="1400" u="none" cap="none" strike="noStrike">
              <a:solidFill>
                <a:srgbClr val="3A426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4" name="Google Shape;204;p2"/>
          <p:cNvSpPr txBox="1"/>
          <p:nvPr/>
        </p:nvSpPr>
        <p:spPr>
          <a:xfrm>
            <a:off x="1426402" y="6550342"/>
            <a:ext cx="346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모르면 되묻는 안전장치 (Clarify 라우팅) 적용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5" name="Google Shape;20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1727" y="1613403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"/>
          <p:cNvSpPr txBox="1"/>
          <p:nvPr/>
        </p:nvSpPr>
        <p:spPr>
          <a:xfrm>
            <a:off x="1614583" y="6040176"/>
            <a:ext cx="346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F6291"/>
                </a:solidFill>
                <a:latin typeface="Roboto"/>
                <a:ea typeface="Roboto"/>
                <a:cs typeface="Roboto"/>
                <a:sym typeface="Roboto"/>
              </a:rPr>
              <a:t>SSE </a:t>
            </a:r>
            <a:r>
              <a:rPr i="0" lang="en-US" sz="1350" u="none" cap="none" strike="noStrike">
                <a:solidFill>
                  <a:srgbClr val="4F629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스트리밍 응답 (실시간)</a:t>
            </a:r>
            <a:endParaRPr i="0" sz="1400" u="none" cap="none" strike="noStrike">
              <a:solidFill>
                <a:srgbClr val="4F629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descr="image.png" id="207" name="Google Shape;207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52787" y="2982513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"/>
          <p:cNvSpPr txBox="1"/>
          <p:nvPr/>
        </p:nvSpPr>
        <p:spPr>
          <a:xfrm>
            <a:off x="1352550" y="3449238"/>
            <a:ext cx="3914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650" u="none" cap="none" strike="noStrike">
                <a:solidFill>
                  <a:srgbClr val="2563EB"/>
                </a:solidFill>
                <a:latin typeface="Roboto Black"/>
                <a:ea typeface="Roboto Black"/>
                <a:cs typeface="Roboto Black"/>
                <a:sym typeface="Roboto Black"/>
              </a:rPr>
              <a:t>Orchestrator</a:t>
            </a:r>
            <a:r>
              <a:rPr b="1" i="0" lang="en-US" sz="155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 (LangGraph)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"/>
          <p:cNvSpPr txBox="1"/>
          <p:nvPr/>
        </p:nvSpPr>
        <p:spPr>
          <a:xfrm>
            <a:off x="1352550" y="3818778"/>
            <a:ext cx="39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Intent Classifier (KoELECTRA,</a:t>
            </a:r>
            <a:r>
              <a:rPr b="1" i="0" lang="en-US" sz="1200" u="none" cap="none" strike="noStrike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 7.9ms</a:t>
            </a: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210" name="Google Shape;21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43262" y="444193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54004" y="803155"/>
            <a:ext cx="252900" cy="21906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"/>
          <p:cNvSpPr/>
          <p:nvPr/>
        </p:nvSpPr>
        <p:spPr>
          <a:xfrm>
            <a:off x="6690252" y="1082820"/>
            <a:ext cx="4425900" cy="1443900"/>
          </a:xfrm>
          <a:prstGeom prst="roundRect">
            <a:avLst>
              <a:gd fmla="val 60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1200" lIns="82400" spcFirstLastPara="1" rIns="82400" wrap="square" tIns="41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3"/>
              <a:buFont typeface="Arial"/>
              <a:buNone/>
            </a:pPr>
            <a:r>
              <a:t/>
            </a:r>
            <a:endParaRPr b="0" i="0" sz="16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"/>
          <p:cNvSpPr txBox="1"/>
          <p:nvPr/>
        </p:nvSpPr>
        <p:spPr>
          <a:xfrm>
            <a:off x="6865325" y="1176638"/>
            <a:ext cx="1049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7"/>
              <a:buFont typeface="Arial"/>
              <a:buNone/>
            </a:pPr>
            <a:r>
              <a:rPr b="1" i="0" lang="en-US" sz="1307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 Layer</a:t>
            </a:r>
            <a:endParaRPr i="0" sz="1352" u="none" cap="none" strike="noStrike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"/>
          <p:cNvSpPr/>
          <p:nvPr/>
        </p:nvSpPr>
        <p:spPr>
          <a:xfrm>
            <a:off x="6655074" y="2576081"/>
            <a:ext cx="4460700" cy="1140300"/>
          </a:xfrm>
          <a:prstGeom prst="roundRect">
            <a:avLst>
              <a:gd fmla="val 77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1200" lIns="82400" spcFirstLastPara="1" rIns="82400" wrap="square" tIns="41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3"/>
              <a:buFont typeface="Arial"/>
              <a:buNone/>
            </a:pPr>
            <a:r>
              <a:t/>
            </a:r>
            <a:endParaRPr b="0" i="0" sz="16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"/>
          <p:cNvSpPr txBox="1"/>
          <p:nvPr/>
        </p:nvSpPr>
        <p:spPr>
          <a:xfrm>
            <a:off x="6788178" y="2694516"/>
            <a:ext cx="1509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7"/>
              <a:buFont typeface="Arial"/>
              <a:buNone/>
            </a:pPr>
            <a:r>
              <a:rPr b="1" i="0" lang="en-US" sz="1307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Backend Layer</a:t>
            </a:r>
            <a:endParaRPr i="0" sz="1352" u="none" cap="none" strike="noStrike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6638950" y="3757960"/>
            <a:ext cx="4474500" cy="1588500"/>
          </a:xfrm>
          <a:prstGeom prst="roundRect">
            <a:avLst>
              <a:gd fmla="val 77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1200" lIns="82400" spcFirstLastPara="1" rIns="82400" wrap="square" tIns="41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3"/>
              <a:buFont typeface="Arial"/>
              <a:buNone/>
            </a:pPr>
            <a:r>
              <a:t/>
            </a:r>
            <a:endParaRPr b="0" i="0" sz="16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"/>
          <p:cNvSpPr txBox="1"/>
          <p:nvPr/>
        </p:nvSpPr>
        <p:spPr>
          <a:xfrm>
            <a:off x="6747767" y="3896567"/>
            <a:ext cx="137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7"/>
              <a:buFont typeface="Arial"/>
              <a:buNone/>
            </a:pPr>
            <a:r>
              <a:rPr b="1" i="0" lang="en-US" sz="1307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Frontend Layer</a:t>
            </a:r>
            <a:endParaRPr i="0" sz="1352" u="none" cap="none" strike="noStrike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218" name="Google Shape;218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17101" y="252776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32447" y="252776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077415" y="607565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"/>
          <p:cNvSpPr txBox="1"/>
          <p:nvPr/>
        </p:nvSpPr>
        <p:spPr>
          <a:xfrm>
            <a:off x="762000" y="571500"/>
            <a:ext cx="25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en-US" sz="27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시스템 아키텍처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2" name="Google Shape;222;p2"/>
          <p:cNvSpPr txBox="1"/>
          <p:nvPr/>
        </p:nvSpPr>
        <p:spPr>
          <a:xfrm>
            <a:off x="6711774" y="798893"/>
            <a:ext cx="2383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1825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3"/>
              <a:buFont typeface="Arial"/>
              <a:buNone/>
            </a:pPr>
            <a:r>
              <a:rPr lang="en-US" sz="1622">
                <a:solidFill>
                  <a:srgbClr val="3A426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3-Layer</a:t>
            </a:r>
            <a:r>
              <a:rPr lang="en-US" sz="1622">
                <a:solidFill>
                  <a:srgbClr val="3A426F"/>
                </a:solidFill>
                <a:latin typeface="Roboto Black"/>
                <a:ea typeface="Roboto Black"/>
                <a:cs typeface="Roboto Black"/>
                <a:sym typeface="Roboto Black"/>
              </a:rPr>
              <a:t> 기술 스택                                 </a:t>
            </a:r>
            <a:endParaRPr i="0" sz="1262" u="none" cap="none" strike="noStrike">
              <a:solidFill>
                <a:srgbClr val="3A426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3" name="Google Shape;223;p2"/>
          <p:cNvSpPr/>
          <p:nvPr/>
        </p:nvSpPr>
        <p:spPr>
          <a:xfrm>
            <a:off x="1116038" y="4773438"/>
            <a:ext cx="971700" cy="94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"/>
          <p:cNvSpPr txBox="1"/>
          <p:nvPr/>
        </p:nvSpPr>
        <p:spPr>
          <a:xfrm>
            <a:off x="895968" y="5224101"/>
            <a:ext cx="115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Judgement 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Agent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225" name="Google Shape;225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59021" y="491348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"/>
          <p:cNvSpPr/>
          <p:nvPr/>
        </p:nvSpPr>
        <p:spPr>
          <a:xfrm>
            <a:off x="2271342" y="4786062"/>
            <a:ext cx="971700" cy="94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"/>
          <p:cNvSpPr txBox="1"/>
          <p:nvPr/>
        </p:nvSpPr>
        <p:spPr>
          <a:xfrm>
            <a:off x="2051266" y="5235739"/>
            <a:ext cx="115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Document 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Agent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228" name="Google Shape;228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671471" y="492564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"/>
          <p:cNvSpPr/>
          <p:nvPr/>
        </p:nvSpPr>
        <p:spPr>
          <a:xfrm>
            <a:off x="3416259" y="4793500"/>
            <a:ext cx="971700" cy="94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807276" y="492563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"/>
          <p:cNvSpPr/>
          <p:nvPr/>
        </p:nvSpPr>
        <p:spPr>
          <a:xfrm>
            <a:off x="4571563" y="4806125"/>
            <a:ext cx="971700" cy="94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971077" y="493780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"/>
          <p:cNvSpPr txBox="1"/>
          <p:nvPr/>
        </p:nvSpPr>
        <p:spPr>
          <a:xfrm>
            <a:off x="3196180" y="5242595"/>
            <a:ext cx="115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Schedule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Agent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34" name="Google Shape;234;p2"/>
          <p:cNvSpPr txBox="1"/>
          <p:nvPr/>
        </p:nvSpPr>
        <p:spPr>
          <a:xfrm>
            <a:off x="4351479" y="5254233"/>
            <a:ext cx="115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General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Agent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35" name="Google Shape;235;p2"/>
          <p:cNvSpPr txBox="1"/>
          <p:nvPr/>
        </p:nvSpPr>
        <p:spPr>
          <a:xfrm>
            <a:off x="1015855" y="2507554"/>
            <a:ext cx="1155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사용자입력</a:t>
            </a:r>
            <a:endParaRPr i="0" sz="13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36" name="Google Shape;236;p2"/>
          <p:cNvSpPr txBox="1"/>
          <p:nvPr/>
        </p:nvSpPr>
        <p:spPr>
          <a:xfrm>
            <a:off x="2239608" y="2495942"/>
            <a:ext cx="1609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Frontend </a:t>
            </a:r>
            <a:r>
              <a:rPr lang="en-US" sz="1300">
                <a:solidFill>
                  <a:srgbClr val="2563E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(react)</a:t>
            </a:r>
            <a:endParaRPr i="0" sz="1300" u="none" cap="none" strike="noStrike">
              <a:solidFill>
                <a:srgbClr val="2563E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37" name="Google Shape;237;p2"/>
          <p:cNvSpPr txBox="1"/>
          <p:nvPr/>
        </p:nvSpPr>
        <p:spPr>
          <a:xfrm>
            <a:off x="3849118" y="2501009"/>
            <a:ext cx="1746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Backend </a:t>
            </a:r>
            <a:r>
              <a:rPr lang="en-US" sz="1300">
                <a:solidFill>
                  <a:srgbClr val="2563E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(FastAPI)</a:t>
            </a:r>
            <a:endParaRPr i="0" sz="1300" u="none" cap="none" strike="noStrike">
              <a:solidFill>
                <a:srgbClr val="2563E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38" name="Google Shape;238;p2"/>
          <p:cNvSpPr txBox="1"/>
          <p:nvPr/>
        </p:nvSpPr>
        <p:spPr>
          <a:xfrm>
            <a:off x="10508278" y="303892"/>
            <a:ext cx="13314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275" spcFirstLastPara="1" rIns="88275" wrap="square" tIns="44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5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 sz="1352"/>
          </a:p>
        </p:txBody>
      </p:sp>
      <p:pic>
        <p:nvPicPr>
          <p:cNvPr id="239" name="Google Shape;239;p2" title="스크린샷 2026-02-27 오전 9.19.51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791920" y="4202816"/>
            <a:ext cx="783259" cy="258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" title="스크린샷 2026-02-27 오전 9.21.04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788167" y="2977435"/>
            <a:ext cx="678342" cy="24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803210" y="1433988"/>
            <a:ext cx="1073327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" title="스크린샷 2026-02-27 오전 9.22.44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285742" y="2972335"/>
            <a:ext cx="1183453" cy="255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965829" y="1433976"/>
            <a:ext cx="1030394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9085503" y="1434000"/>
            <a:ext cx="678343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" title="스크린샷 2026-02-27 오전 9.26.43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7736987" y="1773182"/>
            <a:ext cx="549543" cy="257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9853148" y="1434000"/>
            <a:ext cx="549543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801046" y="1773182"/>
            <a:ext cx="824315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8398145" y="1773182"/>
            <a:ext cx="1210713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9672818" y="1773182"/>
            <a:ext cx="729862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6811785" y="2117994"/>
            <a:ext cx="1056154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10492014" y="1434001"/>
            <a:ext cx="498024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10466606" y="1775063"/>
            <a:ext cx="506610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7956042" y="2126926"/>
            <a:ext cx="1287992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7579893" y="2972335"/>
            <a:ext cx="592476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6787727" y="3291848"/>
            <a:ext cx="1133433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10023693" y="3291826"/>
            <a:ext cx="884421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7995161" y="3291836"/>
            <a:ext cx="609650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8678833" y="3291848"/>
            <a:ext cx="1270819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9549160" y="2965086"/>
            <a:ext cx="729862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10356374" y="2959592"/>
            <a:ext cx="686929" cy="25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" title="스크린샷 2026-02-27 오전 9.43.34.png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7660705" y="4205279"/>
            <a:ext cx="894176" cy="253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" title="스크린샷 2026-02-27 오전 9.44.57.png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8640400" y="4195836"/>
            <a:ext cx="1371784" cy="25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" title="스크린샷 2026-02-27 오전 9.45.21.png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6781654" y="4563956"/>
            <a:ext cx="1309913" cy="263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" title="스크린샷 2026-02-27 오전 9.45.48.png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8182078" y="4562946"/>
            <a:ext cx="1196478" cy="26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" title="스크린샷 2026-02-27 오전 9.46.16.png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6791922" y="4933048"/>
            <a:ext cx="1525677" cy="275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" title="스크린샷 2026-02-27 오전 9.46.55.png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9469084" y="4564748"/>
            <a:ext cx="1049400" cy="26232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"/>
          <p:cNvSpPr/>
          <p:nvPr/>
        </p:nvSpPr>
        <p:spPr>
          <a:xfrm>
            <a:off x="6618384" y="5441221"/>
            <a:ext cx="4460700" cy="1140300"/>
          </a:xfrm>
          <a:prstGeom prst="roundRect">
            <a:avLst>
              <a:gd fmla="val 77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1200" lIns="82400" spcFirstLastPara="1" rIns="82400" wrap="square" tIns="41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3"/>
              <a:buFont typeface="Arial"/>
              <a:buNone/>
            </a:pPr>
            <a:r>
              <a:t/>
            </a:r>
            <a:endParaRPr b="0" i="0" sz="16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"/>
          <p:cNvSpPr txBox="1"/>
          <p:nvPr/>
        </p:nvSpPr>
        <p:spPr>
          <a:xfrm>
            <a:off x="6801067" y="5549823"/>
            <a:ext cx="137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7"/>
              <a:buFont typeface="Arial"/>
              <a:buNone/>
            </a:pPr>
            <a:r>
              <a:rPr b="1" lang="en-US" sz="1307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Infra</a:t>
            </a:r>
            <a:r>
              <a:rPr b="1" i="0" lang="en-US" sz="1307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Layer</a:t>
            </a:r>
            <a:endParaRPr i="0" sz="1352" u="none" cap="none" strike="noStrike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9" name="Google Shape;269;p2" title="스크린샷 2026-02-27 오전 9.40.13.png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6815171" y="5835134"/>
            <a:ext cx="1049400" cy="2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" title="스크린샷 2026-02-27 오전 9.39.49.png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7956034" y="5835134"/>
            <a:ext cx="971700" cy="269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" title="스크린샷 2026-02-27 오전 9.39.26.png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9019209" y="5835134"/>
            <a:ext cx="971700" cy="247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" title="스크린샷 2026-02-27 오전 9.40.48.png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0082385" y="5842384"/>
            <a:ext cx="884425" cy="25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" title="스크린샷 2026-02-27 오전 9.41.30.png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6815159" y="6167809"/>
            <a:ext cx="1525675" cy="268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" title="스크린샷 2026-02-27 오전 9.42.15.png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8417359" y="6166096"/>
            <a:ext cx="971700" cy="272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" title="스크린샷 2026-02-27 오전 9.42.25.png"/>
          <p:cNvPicPr preferRelativeResize="0"/>
          <p:nvPr/>
        </p:nvPicPr>
        <p:blipFill rotWithShape="1">
          <a:blip r:embed="rId52">
            <a:alphaModFix/>
          </a:blip>
          <a:srcRect b="0" l="37351" r="0" t="3456"/>
          <a:stretch/>
        </p:blipFill>
        <p:spPr>
          <a:xfrm>
            <a:off x="9465585" y="6177655"/>
            <a:ext cx="1030400" cy="25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3"/>
          <p:cNvPicPr preferRelativeResize="0"/>
          <p:nvPr/>
        </p:nvPicPr>
        <p:blipFill rotWithShape="1">
          <a:blip r:embed="rId4">
            <a:alphaModFix/>
          </a:blip>
          <a:srcRect b="0" l="870" r="-870" t="0"/>
          <a:stretch/>
        </p:blipFill>
        <p:spPr>
          <a:xfrm>
            <a:off x="636197" y="537963"/>
            <a:ext cx="10801955" cy="607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3"/>
          <p:cNvPicPr preferRelativeResize="0"/>
          <p:nvPr/>
        </p:nvPicPr>
        <p:blipFill rotWithShape="1">
          <a:blip r:embed="rId5">
            <a:alphaModFix amt="40000"/>
          </a:blip>
          <a:srcRect b="0" l="0" r="0" t="0"/>
          <a:stretch/>
        </p:blipFill>
        <p:spPr>
          <a:xfrm>
            <a:off x="1142641" y="1855112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3"/>
          <p:cNvPicPr preferRelativeResize="0"/>
          <p:nvPr/>
        </p:nvPicPr>
        <p:blipFill rotWithShape="1">
          <a:blip r:embed="rId6">
            <a:alphaModFix amt="40000"/>
          </a:blip>
          <a:srcRect b="0" l="0" r="0" t="0"/>
          <a:stretch/>
        </p:blipFill>
        <p:spPr>
          <a:xfrm>
            <a:off x="1142633" y="2658412"/>
            <a:ext cx="2194157" cy="1434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3"/>
          <p:cNvPicPr preferRelativeResize="0"/>
          <p:nvPr/>
        </p:nvPicPr>
        <p:blipFill rotWithShape="1">
          <a:blip r:embed="rId7">
            <a:alphaModFix amt="40000"/>
          </a:blip>
          <a:srcRect b="0" l="0" r="0" t="0"/>
          <a:stretch/>
        </p:blipFill>
        <p:spPr>
          <a:xfrm>
            <a:off x="1142641" y="4302431"/>
            <a:ext cx="2194147" cy="759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3"/>
          <p:cNvPicPr preferRelativeResize="0"/>
          <p:nvPr/>
        </p:nvPicPr>
        <p:blipFill rotWithShape="1">
          <a:blip r:embed="rId8">
            <a:alphaModFix amt="40000"/>
          </a:blip>
          <a:srcRect b="0" l="0" r="0" t="0"/>
          <a:stretch/>
        </p:blipFill>
        <p:spPr>
          <a:xfrm>
            <a:off x="1142641" y="5315114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3"/>
          <p:cNvPicPr preferRelativeResize="0"/>
          <p:nvPr/>
        </p:nvPicPr>
        <p:blipFill rotWithShape="1">
          <a:blip r:embed="rId9">
            <a:alphaModFix amt="70000"/>
          </a:blip>
          <a:srcRect b="0" l="0" r="0" t="0"/>
          <a:stretch/>
        </p:blipFill>
        <p:spPr>
          <a:xfrm>
            <a:off x="4855826" y="2812619"/>
            <a:ext cx="2362928" cy="16878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3"/>
          <p:cNvPicPr preferRelativeResize="0"/>
          <p:nvPr/>
        </p:nvPicPr>
        <p:blipFill rotWithShape="1">
          <a:blip r:embed="rId10">
            <a:alphaModFix amt="40000"/>
          </a:blip>
          <a:srcRect b="0" l="0" r="0" t="0"/>
          <a:stretch/>
        </p:blipFill>
        <p:spPr>
          <a:xfrm>
            <a:off x="8737823" y="1770722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3"/>
          <p:cNvPicPr preferRelativeResize="0"/>
          <p:nvPr/>
        </p:nvPicPr>
        <p:blipFill rotWithShape="1">
          <a:blip r:embed="rId10">
            <a:alphaModFix amt="40000"/>
          </a:blip>
          <a:srcRect b="0" l="0" r="0" t="0"/>
          <a:stretch/>
        </p:blipFill>
        <p:spPr>
          <a:xfrm>
            <a:off x="8737823" y="2614625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3"/>
          <p:cNvPicPr preferRelativeResize="0"/>
          <p:nvPr/>
        </p:nvPicPr>
        <p:blipFill rotWithShape="1">
          <a:blip r:embed="rId10">
            <a:alphaModFix amt="40000"/>
          </a:blip>
          <a:srcRect b="0" l="0" r="0" t="0"/>
          <a:stretch/>
        </p:blipFill>
        <p:spPr>
          <a:xfrm>
            <a:off x="8737823" y="3458528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3"/>
          <p:cNvPicPr preferRelativeResize="0"/>
          <p:nvPr/>
        </p:nvPicPr>
        <p:blipFill rotWithShape="1">
          <a:blip r:embed="rId10">
            <a:alphaModFix amt="40000"/>
          </a:blip>
          <a:srcRect b="0" l="0" r="0" t="0"/>
          <a:stretch/>
        </p:blipFill>
        <p:spPr>
          <a:xfrm>
            <a:off x="8737823" y="4302431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37823" y="5230724"/>
            <a:ext cx="2194147" cy="67512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"/>
          <p:cNvSpPr txBox="1"/>
          <p:nvPr/>
        </p:nvSpPr>
        <p:spPr>
          <a:xfrm>
            <a:off x="1184054" y="1615148"/>
            <a:ext cx="11985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3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8 USER INTENTS</a:t>
            </a:r>
            <a:endParaRPr sz="1240"/>
          </a:p>
        </p:txBody>
      </p:sp>
      <p:sp>
        <p:nvSpPr>
          <p:cNvPr id="292" name="Google Shape;292;p3"/>
          <p:cNvSpPr txBox="1"/>
          <p:nvPr/>
        </p:nvSpPr>
        <p:spPr>
          <a:xfrm>
            <a:off x="5758769" y="2469262"/>
            <a:ext cx="5568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3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ROUTER</a:t>
            </a:r>
            <a:endParaRPr sz="1240"/>
          </a:p>
        </p:txBody>
      </p:sp>
      <p:sp>
        <p:nvSpPr>
          <p:cNvPr id="293" name="Google Shape;293;p3"/>
          <p:cNvSpPr txBox="1"/>
          <p:nvPr/>
        </p:nvSpPr>
        <p:spPr>
          <a:xfrm>
            <a:off x="8758529" y="1563290"/>
            <a:ext cx="11814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3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AGENTS</a:t>
            </a:r>
            <a:endParaRPr sz="1240"/>
          </a:p>
        </p:txBody>
      </p:sp>
      <p:sp>
        <p:nvSpPr>
          <p:cNvPr id="294" name="Google Shape;294;p3"/>
          <p:cNvSpPr txBox="1"/>
          <p:nvPr/>
        </p:nvSpPr>
        <p:spPr>
          <a:xfrm>
            <a:off x="5323999" y="3124525"/>
            <a:ext cx="14268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4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Orchestrator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295" name="Google Shape;295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08601" y="3453647"/>
            <a:ext cx="1257416" cy="24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"/>
          <p:cNvSpPr txBox="1"/>
          <p:nvPr/>
        </p:nvSpPr>
        <p:spPr>
          <a:xfrm>
            <a:off x="5480334" y="3900916"/>
            <a:ext cx="11139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3D5164"/>
                </a:solidFill>
                <a:latin typeface="Noto Sans KR"/>
                <a:ea typeface="Noto Sans KR"/>
                <a:cs typeface="Noto Sans KR"/>
                <a:sym typeface="Noto Sans KR"/>
              </a:rPr>
              <a:t>Intent Classification</a:t>
            </a:r>
            <a:br>
              <a:rPr b="0" i="0" lang="en-US" sz="1594" u="none" cap="none" strike="noStrike">
                <a:solidFill>
                  <a:srgbClr val="3D516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0" u="none" cap="none" strike="noStrike">
                <a:solidFill>
                  <a:srgbClr val="3D5164"/>
                </a:solidFill>
                <a:latin typeface="Noto Sans KR"/>
                <a:ea typeface="Noto Sans KR"/>
                <a:cs typeface="Noto Sans KR"/>
                <a:sym typeface="Noto Sans KR"/>
              </a:rPr>
              <a:t> &amp; Routing Decision</a:t>
            </a:r>
            <a:endParaRPr sz="1240">
              <a:solidFill>
                <a:srgbClr val="3D5164"/>
              </a:solidFill>
            </a:endParaRPr>
          </a:p>
        </p:txBody>
      </p:sp>
      <p:pic>
        <p:nvPicPr>
          <p:cNvPr descr="image.png" id="297" name="Google Shape;297;p3"/>
          <p:cNvPicPr preferRelativeResize="0"/>
          <p:nvPr/>
        </p:nvPicPr>
        <p:blipFill rotWithShape="1">
          <a:blip r:embed="rId13">
            <a:alphaModFix amt="54000"/>
          </a:blip>
          <a:srcRect b="0" l="0" r="0" t="0"/>
          <a:stretch/>
        </p:blipFill>
        <p:spPr>
          <a:xfrm>
            <a:off x="8940361" y="1880429"/>
            <a:ext cx="371320" cy="371317"/>
          </a:xfrm>
          <a:prstGeom prst="rect">
            <a:avLst/>
          </a:prstGeom>
          <a:noFill/>
          <a:ln>
            <a:noFill/>
          </a:ln>
          <a:effectLst>
            <a:outerShdw blurRad="67017" rotWithShape="0" algn="bl" dir="5400000" dist="22339">
              <a:srgbClr val="000000">
                <a:alpha val="44000"/>
              </a:srgbClr>
            </a:outerShdw>
          </a:effectLst>
        </p:spPr>
      </p:pic>
      <p:pic>
        <p:nvPicPr>
          <p:cNvPr descr="image.png" id="298" name="Google Shape;298;p3"/>
          <p:cNvPicPr preferRelativeResize="0"/>
          <p:nvPr/>
        </p:nvPicPr>
        <p:blipFill rotWithShape="1">
          <a:blip r:embed="rId13">
            <a:alphaModFix amt="54000"/>
          </a:blip>
          <a:srcRect b="0" l="0" r="0" t="0"/>
          <a:stretch/>
        </p:blipFill>
        <p:spPr>
          <a:xfrm>
            <a:off x="8940361" y="2724332"/>
            <a:ext cx="371320" cy="371317"/>
          </a:xfrm>
          <a:prstGeom prst="rect">
            <a:avLst/>
          </a:prstGeom>
          <a:noFill/>
          <a:ln>
            <a:noFill/>
          </a:ln>
          <a:effectLst>
            <a:outerShdw blurRad="67017" rotWithShape="0" algn="bl" dir="5400000" dist="22339">
              <a:srgbClr val="000000">
                <a:alpha val="44000"/>
              </a:srgbClr>
            </a:outerShdw>
          </a:effectLst>
        </p:spPr>
      </p:pic>
      <p:pic>
        <p:nvPicPr>
          <p:cNvPr descr="image.png" id="299" name="Google Shape;299;p3"/>
          <p:cNvPicPr preferRelativeResize="0"/>
          <p:nvPr/>
        </p:nvPicPr>
        <p:blipFill rotWithShape="1">
          <a:blip r:embed="rId13">
            <a:alphaModFix amt="54000"/>
          </a:blip>
          <a:srcRect b="0" l="0" r="0" t="0"/>
          <a:stretch/>
        </p:blipFill>
        <p:spPr>
          <a:xfrm>
            <a:off x="8953360" y="3568235"/>
            <a:ext cx="371320" cy="371317"/>
          </a:xfrm>
          <a:prstGeom prst="rect">
            <a:avLst/>
          </a:prstGeom>
          <a:noFill/>
          <a:ln>
            <a:noFill/>
          </a:ln>
          <a:effectLst>
            <a:outerShdw blurRad="67017" rotWithShape="0" algn="bl" dir="5400000" dist="22339">
              <a:srgbClr val="000000">
                <a:alpha val="44000"/>
              </a:srgbClr>
            </a:outerShdw>
          </a:effectLst>
        </p:spPr>
      </p:pic>
      <p:pic>
        <p:nvPicPr>
          <p:cNvPr descr="image.png" id="300" name="Google Shape;300;p3"/>
          <p:cNvPicPr preferRelativeResize="0"/>
          <p:nvPr/>
        </p:nvPicPr>
        <p:blipFill rotWithShape="1">
          <a:blip r:embed="rId14">
            <a:alphaModFix amt="54000"/>
          </a:blip>
          <a:srcRect b="0" l="0" r="0" t="0"/>
          <a:stretch/>
        </p:blipFill>
        <p:spPr>
          <a:xfrm>
            <a:off x="8953363" y="4399473"/>
            <a:ext cx="371320" cy="371317"/>
          </a:xfrm>
          <a:prstGeom prst="rect">
            <a:avLst/>
          </a:prstGeom>
          <a:noFill/>
          <a:ln>
            <a:noFill/>
          </a:ln>
          <a:effectLst>
            <a:outerShdw blurRad="67017" rotWithShape="0" algn="bl" dir="5400000" dist="22339">
              <a:srgbClr val="000000">
                <a:alpha val="44000"/>
              </a:srgbClr>
            </a:outerShdw>
          </a:effectLst>
        </p:spPr>
      </p:pic>
      <p:pic>
        <p:nvPicPr>
          <p:cNvPr descr="image.png" id="301" name="Google Shape;301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985379" y="5382626"/>
            <a:ext cx="371320" cy="371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397130" y="2023893"/>
            <a:ext cx="980780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397130" y="2766527"/>
            <a:ext cx="1122530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97130" y="3087210"/>
            <a:ext cx="1264413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397130" y="3407894"/>
            <a:ext cx="1193472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397130" y="3728577"/>
            <a:ext cx="839030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397130" y="4395260"/>
            <a:ext cx="1264413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397130" y="4715943"/>
            <a:ext cx="1335222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397130" y="5483895"/>
            <a:ext cx="909839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020532" y="1981698"/>
            <a:ext cx="210976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"/>
          <p:cNvSpPr txBox="1"/>
          <p:nvPr/>
        </p:nvSpPr>
        <p:spPr>
          <a:xfrm>
            <a:off x="9446707" y="1876737"/>
            <a:ext cx="13203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Judgment Agent</a:t>
            </a:r>
            <a:endParaRPr sz="1240"/>
          </a:p>
        </p:txBody>
      </p:sp>
      <p:sp>
        <p:nvSpPr>
          <p:cNvPr id="312" name="Google Shape;312;p3"/>
          <p:cNvSpPr txBox="1"/>
          <p:nvPr/>
        </p:nvSpPr>
        <p:spPr>
          <a:xfrm>
            <a:off x="9446707" y="2113029"/>
            <a:ext cx="12573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3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규정 기반 판단 수행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313" name="Google Shape;313;p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062727" y="2825601"/>
            <a:ext cx="126585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"/>
          <p:cNvSpPr txBox="1"/>
          <p:nvPr/>
        </p:nvSpPr>
        <p:spPr>
          <a:xfrm>
            <a:off x="9446707" y="2720639"/>
            <a:ext cx="13203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Document Agent</a:t>
            </a:r>
            <a:endParaRPr sz="1240"/>
          </a:p>
        </p:txBody>
      </p:sp>
      <p:sp>
        <p:nvSpPr>
          <p:cNvPr id="315" name="Google Shape;315;p3"/>
          <p:cNvSpPr txBox="1"/>
          <p:nvPr/>
        </p:nvSpPr>
        <p:spPr>
          <a:xfrm>
            <a:off x="9446707" y="2956932"/>
            <a:ext cx="12573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3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문서 검색, 생성, 요약, QA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316" name="Google Shape;316;p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063069" y="3669503"/>
            <a:ext cx="151904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"/>
          <p:cNvSpPr txBox="1"/>
          <p:nvPr/>
        </p:nvSpPr>
        <p:spPr>
          <a:xfrm>
            <a:off x="9488902" y="3564542"/>
            <a:ext cx="1231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Schedule Agent</a:t>
            </a:r>
            <a:endParaRPr sz="1240"/>
          </a:p>
        </p:txBody>
      </p:sp>
      <p:sp>
        <p:nvSpPr>
          <p:cNvPr id="318" name="Google Shape;318;p3"/>
          <p:cNvSpPr txBox="1"/>
          <p:nvPr/>
        </p:nvSpPr>
        <p:spPr>
          <a:xfrm>
            <a:off x="9488902" y="3800835"/>
            <a:ext cx="11730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3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일정 조회 및 추가 관리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319" name="Google Shape;319;p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9033534" y="4509053"/>
            <a:ext cx="210976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"/>
          <p:cNvSpPr txBox="1"/>
          <p:nvPr/>
        </p:nvSpPr>
        <p:spPr>
          <a:xfrm>
            <a:off x="9488891" y="4403484"/>
            <a:ext cx="1373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General Response</a:t>
            </a:r>
            <a:endParaRPr sz="1240"/>
          </a:p>
        </p:txBody>
      </p:sp>
      <p:sp>
        <p:nvSpPr>
          <p:cNvPr id="321" name="Google Shape;321;p3"/>
          <p:cNvSpPr txBox="1"/>
          <p:nvPr/>
        </p:nvSpPr>
        <p:spPr>
          <a:xfrm>
            <a:off x="9508937" y="4637728"/>
            <a:ext cx="13080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3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일반 대화 및 기본 응답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322" name="Google Shape;322;p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9086648" y="5483895"/>
            <a:ext cx="168782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"/>
          <p:cNvSpPr txBox="1"/>
          <p:nvPr/>
        </p:nvSpPr>
        <p:spPr>
          <a:xfrm>
            <a:off x="9619708" y="5307597"/>
            <a:ext cx="983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8637E"/>
                </a:solidFill>
                <a:latin typeface="Noto Sans KR"/>
                <a:ea typeface="Noto Sans KR"/>
                <a:cs typeface="Noto Sans KR"/>
                <a:sym typeface="Noto Sans KR"/>
              </a:rPr>
              <a:t>Clarify</a:t>
            </a:r>
            <a:endParaRPr sz="1240">
              <a:solidFill>
                <a:srgbClr val="58637E"/>
              </a:solidFill>
            </a:endParaRPr>
          </a:p>
        </p:txBody>
      </p:sp>
      <p:sp>
        <p:nvSpPr>
          <p:cNvPr id="324" name="Google Shape;324;p3"/>
          <p:cNvSpPr txBox="1"/>
          <p:nvPr/>
        </p:nvSpPr>
        <p:spPr>
          <a:xfrm>
            <a:off x="9611608" y="5525254"/>
            <a:ext cx="999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3" u="none" cap="none" strike="noStrike">
                <a:solidFill>
                  <a:srgbClr val="334055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 의도 재질문</a:t>
            </a:r>
            <a:endParaRPr sz="863">
              <a:solidFill>
                <a:srgbClr val="3340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3" u="none" cap="none" strike="noStrike">
                <a:solidFill>
                  <a:srgbClr val="334055"/>
                </a:solidFill>
                <a:latin typeface="Noto Sans KR"/>
                <a:ea typeface="Noto Sans KR"/>
                <a:cs typeface="Noto Sans KR"/>
                <a:sym typeface="Noto Sans KR"/>
              </a:rPr>
              <a:t>(상위 3개 후보 제시)</a:t>
            </a:r>
            <a:endParaRPr sz="1240">
              <a:solidFill>
                <a:srgbClr val="334055"/>
              </a:solidFill>
            </a:endParaRPr>
          </a:p>
        </p:txBody>
      </p:sp>
      <p:pic>
        <p:nvPicPr>
          <p:cNvPr descr="image.png" id="325" name="Google Shape;325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2099844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2842479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3163162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3483845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3804528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4471211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4791894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5559846"/>
            <a:ext cx="126585" cy="101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" name="Google Shape;333;p3"/>
          <p:cNvGrpSpPr/>
          <p:nvPr/>
        </p:nvGrpSpPr>
        <p:grpSpPr>
          <a:xfrm>
            <a:off x="762000" y="571500"/>
            <a:ext cx="4341263" cy="415500"/>
            <a:chOff x="762000" y="571500"/>
            <a:chExt cx="4341263" cy="415500"/>
          </a:xfrm>
        </p:grpSpPr>
        <p:sp>
          <p:nvSpPr>
            <p:cNvPr id="334" name="Google Shape;334;p3"/>
            <p:cNvSpPr txBox="1"/>
            <p:nvPr/>
          </p:nvSpPr>
          <p:spPr>
            <a:xfrm>
              <a:off x="2457863" y="624132"/>
              <a:ext cx="2645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000">
                  <a:solidFill>
                    <a:schemeClr val="accen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Koelectra model</a:t>
              </a:r>
              <a:endParaRPr i="0" sz="20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35" name="Google Shape;335;p3"/>
            <p:cNvSpPr txBox="1"/>
            <p:nvPr/>
          </p:nvSpPr>
          <p:spPr>
            <a:xfrm>
              <a:off x="762000" y="571500"/>
              <a:ext cx="2500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Intent 분류</a:t>
              </a:r>
              <a:endParaRPr i="0" sz="2700" u="none" cap="none" strike="noStrike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pic>
        <p:nvPicPr>
          <p:cNvPr descr="image.png" id="336" name="Google Shape;336;p3"/>
          <p:cNvPicPr preferRelativeResize="0"/>
          <p:nvPr/>
        </p:nvPicPr>
        <p:blipFill rotWithShape="1">
          <a:blip r:embed="rId30">
            <a:alphaModFix amt="76000"/>
          </a:blip>
          <a:srcRect b="0" l="0" r="0" t="0"/>
          <a:stretch/>
        </p:blipFill>
        <p:spPr>
          <a:xfrm>
            <a:off x="7505644" y="2632846"/>
            <a:ext cx="841265" cy="261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3"/>
          <p:cNvPicPr preferRelativeResize="0"/>
          <p:nvPr/>
        </p:nvPicPr>
        <p:blipFill rotWithShape="1">
          <a:blip r:embed="rId31">
            <a:alphaModFix amt="76000"/>
          </a:blip>
          <a:srcRect b="0" l="0" r="0" t="0"/>
          <a:stretch/>
        </p:blipFill>
        <p:spPr>
          <a:xfrm>
            <a:off x="7504327" y="4637754"/>
            <a:ext cx="843903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339" name="Google Shape;339;p3"/>
          <p:cNvSpPr txBox="1"/>
          <p:nvPr/>
        </p:nvSpPr>
        <p:spPr>
          <a:xfrm>
            <a:off x="6977975" y="6074625"/>
            <a:ext cx="419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	오분류를 보완하기 위해 clarify fallback 도입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"/>
          <p:cNvSpPr txBox="1"/>
          <p:nvPr/>
        </p:nvSpPr>
        <p:spPr>
          <a:xfrm>
            <a:off x="7558223" y="2681750"/>
            <a:ext cx="738900" cy="163800"/>
          </a:xfrm>
          <a:prstGeom prst="rect">
            <a:avLst/>
          </a:prstGeom>
          <a:solidFill>
            <a:srgbClr val="EBEA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3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conf &lt; 0.85</a:t>
            </a:r>
            <a:endParaRPr b="1" sz="1240"/>
          </a:p>
        </p:txBody>
      </p:sp>
      <p:sp>
        <p:nvSpPr>
          <p:cNvPr id="341" name="Google Shape;341;p3"/>
          <p:cNvSpPr txBox="1"/>
          <p:nvPr/>
        </p:nvSpPr>
        <p:spPr>
          <a:xfrm>
            <a:off x="7560323" y="4693774"/>
            <a:ext cx="738900" cy="163800"/>
          </a:xfrm>
          <a:prstGeom prst="rect">
            <a:avLst/>
          </a:prstGeom>
          <a:solidFill>
            <a:srgbClr val="EBEA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3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conf &gt; 0.85</a:t>
            </a:r>
            <a:endParaRPr b="1" sz="124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c0c338455d_37_171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347" name="Google Shape;347;g3c0c338455d_37_171"/>
          <p:cNvSpPr txBox="1"/>
          <p:nvPr/>
        </p:nvSpPr>
        <p:spPr>
          <a:xfrm>
            <a:off x="531075" y="1150000"/>
            <a:ext cx="54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B5998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Intent 분류 8개 예시</a:t>
            </a:r>
            <a:endParaRPr/>
          </a:p>
        </p:txBody>
      </p:sp>
      <p:sp>
        <p:nvSpPr>
          <p:cNvPr id="348" name="Google Shape;348;g3c0c338455d_37_171"/>
          <p:cNvSpPr/>
          <p:nvPr/>
        </p:nvSpPr>
        <p:spPr>
          <a:xfrm>
            <a:off x="391075" y="1534600"/>
            <a:ext cx="5700000" cy="49164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c0c338455d_37_171"/>
          <p:cNvSpPr/>
          <p:nvPr/>
        </p:nvSpPr>
        <p:spPr>
          <a:xfrm>
            <a:off x="391075" y="1525175"/>
            <a:ext cx="5700000" cy="415500"/>
          </a:xfrm>
          <a:prstGeom prst="flowChartAlternateProcess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Intent                                          사용자 입력 예시</a:t>
            </a:r>
            <a:endParaRPr/>
          </a:p>
        </p:txBody>
      </p:sp>
      <p:sp>
        <p:nvSpPr>
          <p:cNvPr id="350" name="Google Shape;350;g3c0c338455d_37_171"/>
          <p:cNvSpPr txBox="1"/>
          <p:nvPr/>
        </p:nvSpPr>
        <p:spPr>
          <a:xfrm>
            <a:off x="491075" y="2000000"/>
            <a:ext cx="5499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B5998"/>
                </a:solidFill>
                <a:latin typeface="Consolas"/>
                <a:ea typeface="Consolas"/>
                <a:cs typeface="Consolas"/>
                <a:sym typeface="Consolas"/>
              </a:rPr>
              <a:t>judgment          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재택근무 시 야근수당 받을 수 있나요?</a:t>
            </a:r>
            <a:endParaRPr b="0" i="0" sz="1100" u="none" cap="none" strike="noStrike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1" name="Google Shape;351;g3c0c338455d_37_171"/>
          <p:cNvCxnSpPr/>
          <p:nvPr/>
        </p:nvCxnSpPr>
        <p:spPr>
          <a:xfrm>
            <a:off x="491075" y="2520000"/>
            <a:ext cx="5499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g3c0c338455d_37_171"/>
          <p:cNvSpPr txBox="1"/>
          <p:nvPr/>
        </p:nvSpPr>
        <p:spPr>
          <a:xfrm>
            <a:off x="491075" y="2550000"/>
            <a:ext cx="5499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B5998"/>
                </a:solidFill>
                <a:latin typeface="Consolas"/>
                <a:ea typeface="Consolas"/>
                <a:cs typeface="Consolas"/>
                <a:sym typeface="Consolas"/>
              </a:rPr>
              <a:t>doc_search        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 전략 관련 문서 찾아줘</a:t>
            </a:r>
            <a:endParaRPr/>
          </a:p>
        </p:txBody>
      </p:sp>
      <p:cxnSp>
        <p:nvCxnSpPr>
          <p:cNvPr id="353" name="Google Shape;353;g3c0c338455d_37_171"/>
          <p:cNvCxnSpPr/>
          <p:nvPr/>
        </p:nvCxnSpPr>
        <p:spPr>
          <a:xfrm>
            <a:off x="491075" y="3070000"/>
            <a:ext cx="5499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g3c0c338455d_37_171"/>
          <p:cNvSpPr txBox="1"/>
          <p:nvPr/>
        </p:nvSpPr>
        <p:spPr>
          <a:xfrm>
            <a:off x="491075" y="3100000"/>
            <a:ext cx="5499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B5998"/>
                </a:solidFill>
                <a:latin typeface="Consolas"/>
                <a:ea typeface="Consolas"/>
                <a:cs typeface="Consolas"/>
                <a:sym typeface="Consolas"/>
              </a:rPr>
              <a:t>doc_generate      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이번 주 회의록 작성해줘</a:t>
            </a:r>
            <a:endParaRPr/>
          </a:p>
        </p:txBody>
      </p:sp>
      <p:cxnSp>
        <p:nvCxnSpPr>
          <p:cNvPr id="355" name="Google Shape;355;g3c0c338455d_37_171"/>
          <p:cNvCxnSpPr/>
          <p:nvPr/>
        </p:nvCxnSpPr>
        <p:spPr>
          <a:xfrm>
            <a:off x="491075" y="3620000"/>
            <a:ext cx="5499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g3c0c338455d_37_171"/>
          <p:cNvSpPr txBox="1"/>
          <p:nvPr/>
        </p:nvSpPr>
        <p:spPr>
          <a:xfrm>
            <a:off x="491075" y="3650000"/>
            <a:ext cx="5499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B5998"/>
                </a:solidFill>
                <a:latin typeface="Consolas"/>
                <a:ea typeface="Consolas"/>
                <a:cs typeface="Consolas"/>
                <a:sym typeface="Consolas"/>
              </a:rPr>
              <a:t>doc_summary       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분기 보고서 핵심만 정리해줘</a:t>
            </a:r>
            <a:endParaRPr b="0" i="0" sz="1100" u="none" cap="none" strike="noStrike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7" name="Google Shape;357;g3c0c338455d_37_171"/>
          <p:cNvCxnSpPr/>
          <p:nvPr/>
        </p:nvCxnSpPr>
        <p:spPr>
          <a:xfrm>
            <a:off x="491075" y="4170000"/>
            <a:ext cx="5499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g3c0c338455d_37_171"/>
          <p:cNvSpPr txBox="1"/>
          <p:nvPr/>
        </p:nvSpPr>
        <p:spPr>
          <a:xfrm>
            <a:off x="491075" y="4200000"/>
            <a:ext cx="5499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B5998"/>
                </a:solidFill>
                <a:latin typeface="Consolas"/>
                <a:ea typeface="Consolas"/>
                <a:cs typeface="Consolas"/>
                <a:sym typeface="Consolas"/>
              </a:rPr>
              <a:t>doc_qa            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지난 회의에서 결정된 예산은 얼마야?</a:t>
            </a:r>
            <a:endParaRPr/>
          </a:p>
        </p:txBody>
      </p:sp>
      <p:cxnSp>
        <p:nvCxnSpPr>
          <p:cNvPr id="359" name="Google Shape;359;g3c0c338455d_37_171"/>
          <p:cNvCxnSpPr/>
          <p:nvPr/>
        </p:nvCxnSpPr>
        <p:spPr>
          <a:xfrm>
            <a:off x="491075" y="4720000"/>
            <a:ext cx="5499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g3c0c338455d_37_171"/>
          <p:cNvSpPr txBox="1"/>
          <p:nvPr/>
        </p:nvSpPr>
        <p:spPr>
          <a:xfrm>
            <a:off x="491075" y="4750000"/>
            <a:ext cx="5499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B5998"/>
                </a:solidFill>
                <a:latin typeface="Consolas"/>
                <a:ea typeface="Consolas"/>
                <a:cs typeface="Consolas"/>
                <a:sym typeface="Consolas"/>
              </a:rPr>
              <a:t>schedule_add      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내일 오후 3시에 팀 미팅 잡아줘</a:t>
            </a:r>
            <a:endParaRPr/>
          </a:p>
        </p:txBody>
      </p:sp>
      <p:cxnSp>
        <p:nvCxnSpPr>
          <p:cNvPr id="361" name="Google Shape;361;g3c0c338455d_37_171"/>
          <p:cNvCxnSpPr/>
          <p:nvPr/>
        </p:nvCxnSpPr>
        <p:spPr>
          <a:xfrm>
            <a:off x="491075" y="5270000"/>
            <a:ext cx="5499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g3c0c338455d_37_171"/>
          <p:cNvSpPr txBox="1"/>
          <p:nvPr/>
        </p:nvSpPr>
        <p:spPr>
          <a:xfrm>
            <a:off x="491075" y="5300000"/>
            <a:ext cx="5499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B5998"/>
                </a:solidFill>
                <a:latin typeface="Consolas"/>
                <a:ea typeface="Consolas"/>
                <a:cs typeface="Consolas"/>
                <a:sym typeface="Consolas"/>
              </a:rPr>
              <a:t>schedule_view     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이번 주 내 일정 보여줘</a:t>
            </a:r>
            <a:endParaRPr/>
          </a:p>
        </p:txBody>
      </p:sp>
      <p:cxnSp>
        <p:nvCxnSpPr>
          <p:cNvPr id="363" name="Google Shape;363;g3c0c338455d_37_171"/>
          <p:cNvCxnSpPr/>
          <p:nvPr/>
        </p:nvCxnSpPr>
        <p:spPr>
          <a:xfrm>
            <a:off x="491075" y="5820000"/>
            <a:ext cx="5499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g3c0c338455d_37_171"/>
          <p:cNvSpPr txBox="1"/>
          <p:nvPr/>
        </p:nvSpPr>
        <p:spPr>
          <a:xfrm>
            <a:off x="491075" y="5850000"/>
            <a:ext cx="5499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B5998"/>
                </a:solidFill>
                <a:latin typeface="Consolas"/>
                <a:ea typeface="Consolas"/>
                <a:cs typeface="Consolas"/>
                <a:sym typeface="Consolas"/>
              </a:rPr>
              <a:t>general           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요즘 AI 트렌드가 뭐야?</a:t>
            </a:r>
            <a:endParaRPr/>
          </a:p>
        </p:txBody>
      </p:sp>
      <p:sp>
        <p:nvSpPr>
          <p:cNvPr id="365" name="Google Shape;365;g3c0c338455d_37_171"/>
          <p:cNvSpPr txBox="1"/>
          <p:nvPr/>
        </p:nvSpPr>
        <p:spPr>
          <a:xfrm>
            <a:off x="6300000" y="780000"/>
            <a:ext cx="54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B5998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Intent 학습 데이터</a:t>
            </a:r>
            <a:endParaRPr/>
          </a:p>
        </p:txBody>
      </p:sp>
      <p:sp>
        <p:nvSpPr>
          <p:cNvPr id="366" name="Google Shape;366;g3c0c338455d_37_171"/>
          <p:cNvSpPr/>
          <p:nvPr/>
        </p:nvSpPr>
        <p:spPr>
          <a:xfrm>
            <a:off x="6200000" y="1150000"/>
            <a:ext cx="5600100" cy="1440900"/>
          </a:xfrm>
          <a:prstGeom prst="roundRect">
            <a:avLst>
              <a:gd fmla="val 3000" name="adj"/>
            </a:avLst>
          </a:prstGeom>
          <a:solidFill>
            <a:schemeClr val="dk2"/>
          </a:solidFill>
          <a:ln>
            <a:noFill/>
          </a:ln>
          <a:effectLst>
            <a:outerShdw blurRad="400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t" bIns="91425" lIns="182875" spcFirstLastPara="1" rIns="13715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GPT-4o + Claude Sonnet 4 혼합</a:t>
            </a:r>
            <a:endParaRPr b="1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0A5F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2,299건 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8 intent 평균 ~288개, 2개 LLM 반반</a:t>
            </a:r>
            <a:endParaRPr b="0" i="0" sz="1000" u="none" cap="none" strike="noStrike">
              <a:solidFill>
                <a:srgbClr val="94A3B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0A5F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경계쌍 600건 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혼동 intent 쌍 10종 타겟 </a:t>
            </a:r>
            <a:endParaRPr b="0" i="0" sz="1000" u="none" cap="none" strike="noStrike">
              <a:solidFill>
                <a:srgbClr val="94A3B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0A5FA"/>
                </a:solidFill>
                <a:latin typeface="Malgun Gothic"/>
                <a:ea typeface="Malgun Gothic"/>
                <a:cs typeface="Malgun Gothic"/>
                <a:sym typeface="Malgun Gothic"/>
              </a:rPr>
              <a:t>Adversarial 450건 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강건성 평가용</a:t>
            </a:r>
            <a:endParaRPr b="0" i="0" sz="1000" u="none" cap="none" strike="noStrike">
              <a:solidFill>
                <a:srgbClr val="94A3B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Train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2,327  | 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Val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285  | 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286  (stratified, seed=42)</a:t>
            </a:r>
            <a:endParaRPr b="0" i="0" sz="1000" u="none" cap="none" strike="noStrike">
              <a:solidFill>
                <a:srgbClr val="94A3B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7" name="Google Shape;367;g3c0c338455d_37_171"/>
          <p:cNvSpPr/>
          <p:nvPr/>
        </p:nvSpPr>
        <p:spPr>
          <a:xfrm>
            <a:off x="6229158" y="2752338"/>
            <a:ext cx="5600100" cy="37977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데이터 예시</a:t>
            </a:r>
            <a:endParaRPr b="1" i="0" sz="1200" u="none" cap="none" strike="noStrike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B599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데이터</a:t>
            </a:r>
            <a:endParaRPr b="1" i="0" sz="900" u="none" cap="none" strike="noStrike">
              <a:solidFill>
                <a:srgbClr val="3B599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</a:t>
            </a:r>
            <a:r>
              <a:rPr lang="en-US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동료 인사평가 결과를 열람할수있는 권한이 규정상있어?</a:t>
            </a: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", "label": "judgment"}  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{"text": "</a:t>
            </a:r>
            <a:r>
              <a:rPr lang="en-US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사내 개인정보 처리 방침 문서있어?</a:t>
            </a: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", "label": "doc_search"}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</a:t>
            </a:r>
            <a:r>
              <a:rPr lang="en-US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결과</a:t>
            </a: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보고서 만들어줘",  "label": "doc_generate"}                          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</a:t>
            </a:r>
            <a:r>
              <a:rPr lang="en-US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2월 20일 회의록</a:t>
            </a: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요약해줘", "label": "doc_summary"}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"납기일 언제야?",  "label": "doc_qa"}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"내일 3시에 팀미팅 잡아줘",  "label": "schedule_add"}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"이번 주 내 일정 보여줘",  "label": "schedule_view"}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"좋은 아침</a:t>
            </a:r>
            <a:r>
              <a:rPr lang="en-US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이야</a:t>
            </a: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",  "label": "general"}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E052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0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경계쌍 데이터 (혼동 유도)</a:t>
            </a:r>
            <a:endParaRPr b="1" i="0" sz="900" u="none" cap="none" strike="noStrike">
              <a:solidFill>
                <a:srgbClr val="E052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쌍 1: doc_search vs doc_qa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"출장비 관련 규정 문서 찾아줘",   "label": "doc_search"}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"출장비 한도가 얼마인지 알려줘",  "label": "doc_qa"}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쌍 2: doc_search vs doc_qa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"보안 정책 문서 좀 찾아주세요",  "label": "doc_search"}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"비밀번호 변경 주기가 몇 개월이야?", "label": "doc_qa"}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쌍 3: doc_search vs judgment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"법인카드 사용 지침 어디서 볼 수 있어?",   "label": "doc_search"}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"법인카드로 간식 사도 괜찮아?",  "label": "judgment"}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쌍 4: doc_search vs doc_generate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"제안서 양식 있어?", "label": "doc_search"}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{"text": "제안서 만들어줘",   "label": "doc_generate"}</a:t>
            </a:r>
            <a:endParaRPr b="0" i="0" sz="9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g3c0c338455d_37_171"/>
          <p:cNvSpPr txBox="1"/>
          <p:nvPr/>
        </p:nvSpPr>
        <p:spPr>
          <a:xfrm>
            <a:off x="6200000" y="6600000"/>
            <a:ext cx="560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data/training/intent_v2/splits/  |  Max/Min ratio 1.28x  |  데이터 누출 0건</a:t>
            </a:r>
            <a:endParaRPr/>
          </a:p>
        </p:txBody>
      </p:sp>
      <p:sp>
        <p:nvSpPr>
          <p:cNvPr id="369" name="Google Shape;369;g3c0c338455d_37_171"/>
          <p:cNvSpPr txBox="1"/>
          <p:nvPr/>
        </p:nvSpPr>
        <p:spPr>
          <a:xfrm>
            <a:off x="762000" y="571500"/>
            <a:ext cx="25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학습 데이터 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c0c338455d_3_341"/>
          <p:cNvSpPr/>
          <p:nvPr/>
        </p:nvSpPr>
        <p:spPr>
          <a:xfrm>
            <a:off x="3600320" y="6100109"/>
            <a:ext cx="54330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g3c0c338455d_3_341"/>
          <p:cNvSpPr/>
          <p:nvPr/>
        </p:nvSpPr>
        <p:spPr>
          <a:xfrm>
            <a:off x="540875" y="1442319"/>
            <a:ext cx="2606100" cy="19887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c0c338455d_3_341"/>
          <p:cNvSpPr/>
          <p:nvPr/>
        </p:nvSpPr>
        <p:spPr>
          <a:xfrm>
            <a:off x="650604" y="1552049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c0c338455d_3_341"/>
          <p:cNvSpPr txBox="1"/>
          <p:nvPr/>
        </p:nvSpPr>
        <p:spPr>
          <a:xfrm>
            <a:off x="702379" y="1992701"/>
            <a:ext cx="23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데이터 생성</a:t>
            </a:r>
            <a:endParaRPr b="0" i="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78" name="Google Shape;378;g3c0c338455d_3_341"/>
          <p:cNvSpPr txBox="1"/>
          <p:nvPr/>
        </p:nvSpPr>
        <p:spPr>
          <a:xfrm>
            <a:off x="702379" y="2358461"/>
            <a:ext cx="238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GPT-4o + Claude Sonnet 4 혼합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2,</a:t>
            </a: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399</a:t>
            </a: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+ 경계쌍(</a:t>
            </a: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난해)</a:t>
            </a: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00건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g3c0c338455d_3_341"/>
          <p:cNvSpPr/>
          <p:nvPr/>
        </p:nvSpPr>
        <p:spPr>
          <a:xfrm>
            <a:off x="6072500" y="1462669"/>
            <a:ext cx="2606100" cy="19887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c0c338455d_3_341"/>
          <p:cNvSpPr/>
          <p:nvPr/>
        </p:nvSpPr>
        <p:spPr>
          <a:xfrm>
            <a:off x="6182220" y="1572399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</a:t>
            </a:r>
            <a:r>
              <a:rPr b="1" lang="en-US" sz="1000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c0c338455d_3_341"/>
          <p:cNvSpPr txBox="1"/>
          <p:nvPr/>
        </p:nvSpPr>
        <p:spPr>
          <a:xfrm>
            <a:off x="6233995" y="2013051"/>
            <a:ext cx="23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Baseline 3모델 비교</a:t>
            </a:r>
            <a:endParaRPr b="0" i="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82" name="Google Shape;382;g3c0c338455d_3_341"/>
          <p:cNvSpPr txBox="1"/>
          <p:nvPr/>
        </p:nvSpPr>
        <p:spPr>
          <a:xfrm>
            <a:off x="6233995" y="2378811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KoELECTRA  Val F1 0.9825</a:t>
            </a:r>
            <a:r>
              <a:rPr b="0" i="0" lang="en-US" sz="10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 ★</a:t>
            </a:r>
            <a:endParaRPr b="0" i="0" sz="1400" u="none" cap="none" strike="noStrike">
              <a:solidFill>
                <a:srgbClr val="F59E0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BERT-base  Val F1 0.9780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DistilKoBERT  Val F1 0.9498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    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g3c0c338455d_3_341"/>
          <p:cNvSpPr/>
          <p:nvPr/>
        </p:nvSpPr>
        <p:spPr>
          <a:xfrm>
            <a:off x="8838300" y="1490232"/>
            <a:ext cx="2606100" cy="19887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c0c338455d_3_341"/>
          <p:cNvSpPr/>
          <p:nvPr/>
        </p:nvSpPr>
        <p:spPr>
          <a:xfrm>
            <a:off x="8948036" y="1599961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</a:t>
            </a:r>
            <a:r>
              <a:rPr b="1" lang="en-US" sz="1000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c0c338455d_3_341"/>
          <p:cNvSpPr txBox="1"/>
          <p:nvPr/>
        </p:nvSpPr>
        <p:spPr>
          <a:xfrm>
            <a:off x="8999811" y="2040613"/>
            <a:ext cx="23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Grid Search 최적화</a:t>
            </a:r>
            <a:endParaRPr b="0" i="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86" name="Google Shape;386;g3c0c338455d_3_341"/>
          <p:cNvSpPr txBox="1"/>
          <p:nvPr/>
        </p:nvSpPr>
        <p:spPr>
          <a:xfrm>
            <a:off x="8999811" y="2406373"/>
            <a:ext cx="2386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32-point grid search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Best: ep10/lr3e-5/bs16 → 0.9897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3-seed 안정성: 0.9874 ± 0.0033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g3c0c338455d_3_341"/>
          <p:cNvSpPr/>
          <p:nvPr/>
        </p:nvSpPr>
        <p:spPr>
          <a:xfrm>
            <a:off x="1439500" y="3667450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c0c338455d_3_341"/>
          <p:cNvSpPr/>
          <p:nvPr/>
        </p:nvSpPr>
        <p:spPr>
          <a:xfrm>
            <a:off x="1549226" y="3777186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</a:t>
            </a:r>
            <a:r>
              <a:rPr b="1" lang="en-US" sz="1000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c0c338455d_3_341"/>
          <p:cNvSpPr txBox="1"/>
          <p:nvPr/>
        </p:nvSpPr>
        <p:spPr>
          <a:xfrm>
            <a:off x="1601001" y="4321588"/>
            <a:ext cx="23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최종 평가 (Adversarial)</a:t>
            </a:r>
            <a:endParaRPr b="0" i="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90" name="Google Shape;390;g3c0c338455d_3_341"/>
          <p:cNvSpPr txBox="1"/>
          <p:nvPr/>
        </p:nvSpPr>
        <p:spPr>
          <a:xfrm>
            <a:off x="1601001" y="4687348"/>
            <a:ext cx="238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난해한</a:t>
            </a: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450건 스트레스 테스트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KoELECTRA Adv F1 0.8604 </a:t>
            </a:r>
            <a:r>
              <a:rPr b="0" i="0" lang="en-US" sz="10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g3c0c338455d_3_341"/>
          <p:cNvSpPr/>
          <p:nvPr/>
        </p:nvSpPr>
        <p:spPr>
          <a:xfrm>
            <a:off x="4383943" y="3667441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c0c338455d_3_341"/>
          <p:cNvSpPr/>
          <p:nvPr/>
        </p:nvSpPr>
        <p:spPr>
          <a:xfrm>
            <a:off x="4493674" y="3777169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</a:t>
            </a:r>
            <a:r>
              <a:rPr b="1" lang="en-US" sz="1000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3c0c338455d_3_341"/>
          <p:cNvSpPr txBox="1"/>
          <p:nvPr/>
        </p:nvSpPr>
        <p:spPr>
          <a:xfrm>
            <a:off x="4545449" y="4217821"/>
            <a:ext cx="23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오분류 분석 + 보강</a:t>
            </a:r>
            <a:endParaRPr b="0" i="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94" name="Google Shape;394;g3c0c338455d_3_341"/>
          <p:cNvSpPr txBox="1"/>
          <p:nvPr/>
        </p:nvSpPr>
        <p:spPr>
          <a:xfrm>
            <a:off x="4545449" y="4583581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98건 타겟 보강 재학습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Adv F1 +1.80%p (0.8604→0.8784)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doc_qa +7.9%p 최대 개선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       </a:t>
            </a:r>
            <a:r>
              <a:rPr lang="en-US" sz="1000">
                <a:solidFill>
                  <a:schemeClr val="dk1"/>
                </a:solidFill>
              </a:rPr>
              <a:t>→ 틀리는 패턴 분석 → 타겟 보강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g3c0c338455d_3_341"/>
          <p:cNvSpPr/>
          <p:nvPr/>
        </p:nvSpPr>
        <p:spPr>
          <a:xfrm>
            <a:off x="7218658" y="3667441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c0c338455d_3_341"/>
          <p:cNvSpPr/>
          <p:nvPr/>
        </p:nvSpPr>
        <p:spPr>
          <a:xfrm>
            <a:off x="7328389" y="3777169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</a:t>
            </a:r>
            <a:r>
              <a:rPr b="1" lang="en-US" sz="1000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c0c338455d_3_341"/>
          <p:cNvSpPr txBox="1"/>
          <p:nvPr/>
        </p:nvSpPr>
        <p:spPr>
          <a:xfrm>
            <a:off x="7328389" y="4217821"/>
            <a:ext cx="23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Label Smoothing</a:t>
            </a:r>
            <a:endParaRPr b="0" i="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98" name="Google Shape;398;g3c0c338455d_3_341"/>
          <p:cNvSpPr txBox="1"/>
          <p:nvPr/>
        </p:nvSpPr>
        <p:spPr>
          <a:xfrm>
            <a:off x="7328389" y="4583581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LS 0.1 → 과신뢰 66.7%→23.2%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오답 confidence 분리 가능 (thr 0.85)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Adv F1 0.8758 (최종 채택 모델)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                 → 일반화 성능 보장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9" name="Google Shape;399;g3c0c338455d_3_341"/>
          <p:cNvSpPr/>
          <p:nvPr/>
        </p:nvSpPr>
        <p:spPr>
          <a:xfrm>
            <a:off x="3306688" y="1442325"/>
            <a:ext cx="2606100" cy="19887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c0c338455d_3_341"/>
          <p:cNvSpPr/>
          <p:nvPr/>
        </p:nvSpPr>
        <p:spPr>
          <a:xfrm>
            <a:off x="3416430" y="1550807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</a:t>
            </a:r>
            <a:r>
              <a:rPr b="1" lang="en-US" sz="1000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c0c338455d_3_341"/>
          <p:cNvSpPr txBox="1"/>
          <p:nvPr/>
        </p:nvSpPr>
        <p:spPr>
          <a:xfrm>
            <a:off x="3416430" y="1882984"/>
            <a:ext cx="23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라벨 리뷰 + 검증</a:t>
            </a:r>
            <a:endParaRPr b="0" i="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402" name="Google Shape;402;g3c0c338455d_3_341"/>
          <p:cNvSpPr txBox="1"/>
          <p:nvPr/>
        </p:nvSpPr>
        <p:spPr>
          <a:xfrm>
            <a:off x="3416425" y="2248750"/>
            <a:ext cx="23865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 오류 36%가 라벨 문제 확인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시나리오 100문장 확장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        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3" name="Google Shape;403;g3c0c338455d_3_341"/>
          <p:cNvSpPr txBox="1"/>
          <p:nvPr/>
        </p:nvSpPr>
        <p:spPr>
          <a:xfrm>
            <a:off x="762000" y="571500"/>
            <a:ext cx="52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7-Stage</a:t>
            </a:r>
            <a:r>
              <a:rPr b="0" i="0" lang="en-US" sz="27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 실험 파이프라인</a:t>
            </a:r>
            <a:endParaRPr b="0"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404" name="Google Shape;404;g3c0c338455d_3_341"/>
          <p:cNvSpPr txBox="1"/>
          <p:nvPr/>
        </p:nvSpPr>
        <p:spPr>
          <a:xfrm>
            <a:off x="3320125" y="6169281"/>
            <a:ext cx="599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데이터 품질 &gt; 하이퍼파라미터 &gt; 모델 아키텍처</a:t>
            </a:r>
            <a:endParaRPr b="1" i="0" sz="1500" u="none" cap="none" strike="noStrike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5" name="Google Shape;405;g3c0c338455d_3_341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09b11e3f6_18_182"/>
          <p:cNvSpPr/>
          <p:nvPr/>
        </p:nvSpPr>
        <p:spPr>
          <a:xfrm>
            <a:off x="468027" y="2113398"/>
            <a:ext cx="5492400" cy="26514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3150">
            <a:solidFill>
              <a:srgbClr val="334055"/>
            </a:solidFill>
            <a:prstDash val="solid"/>
            <a:round/>
            <a:headEnd len="sm" w="sm" type="none"/>
            <a:tailEnd len="sm" w="sm" type="none"/>
          </a:ln>
          <a:effectLst>
            <a:outerShdw blurRad="41426" rotWithShape="0" dir="5400000" dist="23820">
              <a:srgbClr val="000000">
                <a:alpha val="34900"/>
              </a:srgbClr>
            </a:outerShdw>
          </a:effectLst>
        </p:spPr>
        <p:txBody>
          <a:bodyPr anchorCtr="0" anchor="ctr" bIns="47325" lIns="94675" spcFirstLastPara="1" rIns="94675" wrap="square" tIns="47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64" u="none" cap="none" strike="noStrike">
              <a:solidFill>
                <a:schemeClr val="dk1"/>
              </a:solidFill>
              <a:highlight>
                <a:srgbClr val="00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g3c09b11e3f6_18_182"/>
          <p:cNvSpPr txBox="1"/>
          <p:nvPr/>
        </p:nvSpPr>
        <p:spPr>
          <a:xfrm>
            <a:off x="633520" y="2278407"/>
            <a:ext cx="47349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최종 모델 성능 (Stage 6)</a:t>
            </a:r>
            <a:endParaRPr b="1" sz="144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g3c09b11e3f6_18_182"/>
          <p:cNvSpPr/>
          <p:nvPr/>
        </p:nvSpPr>
        <p:spPr>
          <a:xfrm>
            <a:off x="657434" y="2823653"/>
            <a:ext cx="1610100" cy="8523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31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  <a:effectLst>
            <a:outerShdw blurRad="41426" rotWithShape="0" dir="5400000" dist="23820">
              <a:srgbClr val="000000">
                <a:alpha val="34900"/>
              </a:srgbClr>
            </a:outerShdw>
          </a:effectLst>
        </p:spPr>
        <p:txBody>
          <a:bodyPr anchorCtr="0" anchor="ctr" bIns="47325" lIns="94675" spcFirstLastPara="1" rIns="94675" wrap="square" tIns="47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64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g3c09b11e3f6_18_182"/>
          <p:cNvSpPr txBox="1"/>
          <p:nvPr/>
        </p:nvSpPr>
        <p:spPr>
          <a:xfrm>
            <a:off x="788240" y="2851593"/>
            <a:ext cx="1384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Val F1</a:t>
            </a:r>
            <a:endParaRPr b="1" sz="1449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g3c09b11e3f6_18_182"/>
          <p:cNvSpPr txBox="1"/>
          <p:nvPr/>
        </p:nvSpPr>
        <p:spPr>
          <a:xfrm>
            <a:off x="657434" y="3050604"/>
            <a:ext cx="16101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85" u="none" cap="none" strike="noStrike">
                <a:solidFill>
                  <a:schemeClr val="accent3"/>
                </a:solidFill>
                <a:latin typeface="Roboto Black"/>
                <a:ea typeface="Roboto Black"/>
                <a:cs typeface="Roboto Black"/>
                <a:sym typeface="Roboto Black"/>
              </a:rPr>
              <a:t>0.9894</a:t>
            </a:r>
            <a:endParaRPr sz="1449">
              <a:solidFill>
                <a:schemeClr val="accent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415" name="Google Shape;415;g3c09b11e3f6_18_182"/>
          <p:cNvSpPr txBox="1"/>
          <p:nvPr/>
        </p:nvSpPr>
        <p:spPr>
          <a:xfrm>
            <a:off x="657434" y="3439207"/>
            <a:ext cx="1610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8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학습 데이터 검증</a:t>
            </a:r>
            <a:endParaRPr b="1" sz="1449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g3c09b11e3f6_18_182"/>
          <p:cNvSpPr/>
          <p:nvPr/>
        </p:nvSpPr>
        <p:spPr>
          <a:xfrm>
            <a:off x="2409448" y="2823653"/>
            <a:ext cx="1610100" cy="8523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315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  <a:effectLst>
            <a:outerShdw blurRad="41426" rotWithShape="0" dir="5400000" dist="23820">
              <a:srgbClr val="000000">
                <a:alpha val="34900"/>
              </a:srgbClr>
            </a:outerShdw>
          </a:effectLst>
        </p:spPr>
        <p:txBody>
          <a:bodyPr anchorCtr="0" anchor="ctr" bIns="47325" lIns="94675" spcFirstLastPara="1" rIns="94675" wrap="square" tIns="47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64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g3c09b11e3f6_18_182"/>
          <p:cNvSpPr txBox="1"/>
          <p:nvPr/>
        </p:nvSpPr>
        <p:spPr>
          <a:xfrm>
            <a:off x="2409448" y="2851585"/>
            <a:ext cx="16101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Test F1</a:t>
            </a:r>
            <a:endParaRPr b="1" sz="1449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g3c09b11e3f6_18_182"/>
          <p:cNvSpPr txBox="1"/>
          <p:nvPr/>
        </p:nvSpPr>
        <p:spPr>
          <a:xfrm>
            <a:off x="2409448" y="3050604"/>
            <a:ext cx="16101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85" u="none" cap="none" strike="noStrike">
                <a:solidFill>
                  <a:srgbClr val="3C78D8"/>
                </a:solidFill>
                <a:latin typeface="Roboto Black"/>
                <a:ea typeface="Roboto Black"/>
                <a:cs typeface="Roboto Black"/>
                <a:sym typeface="Roboto Black"/>
              </a:rPr>
              <a:t>0.9788</a:t>
            </a:r>
            <a:endParaRPr sz="1449">
              <a:solidFill>
                <a:srgbClr val="3C78D8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419" name="Google Shape;419;g3c09b11e3f6_18_182"/>
          <p:cNvSpPr txBox="1"/>
          <p:nvPr/>
        </p:nvSpPr>
        <p:spPr>
          <a:xfrm>
            <a:off x="2409448" y="3439207"/>
            <a:ext cx="1610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8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미지 데이터 일반화</a:t>
            </a:r>
            <a:endParaRPr b="1" sz="1449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g3c09b11e3f6_18_182"/>
          <p:cNvSpPr/>
          <p:nvPr/>
        </p:nvSpPr>
        <p:spPr>
          <a:xfrm>
            <a:off x="4161462" y="2823653"/>
            <a:ext cx="1610100" cy="8523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31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1426" rotWithShape="0" dir="5400000" dist="23820">
              <a:srgbClr val="000000">
                <a:alpha val="34900"/>
              </a:srgbClr>
            </a:outerShdw>
          </a:effectLst>
        </p:spPr>
        <p:txBody>
          <a:bodyPr anchorCtr="0" anchor="ctr" bIns="47325" lIns="94675" spcFirstLastPara="1" rIns="94675" wrap="square" tIns="47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64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g3c09b11e3f6_18_182"/>
          <p:cNvSpPr txBox="1"/>
          <p:nvPr/>
        </p:nvSpPr>
        <p:spPr>
          <a:xfrm>
            <a:off x="4161462" y="2851585"/>
            <a:ext cx="16101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Adv F1</a:t>
            </a:r>
            <a:endParaRPr b="1" sz="1449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g3c09b11e3f6_18_182"/>
          <p:cNvSpPr txBox="1"/>
          <p:nvPr/>
        </p:nvSpPr>
        <p:spPr>
          <a:xfrm>
            <a:off x="4161462" y="3050604"/>
            <a:ext cx="16101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85" u="none" cap="none" strike="noStrike">
                <a:solidFill>
                  <a:srgbClr val="674EA7"/>
                </a:solidFill>
                <a:latin typeface="Roboto Black"/>
                <a:ea typeface="Roboto Black"/>
                <a:cs typeface="Roboto Black"/>
                <a:sym typeface="Roboto Black"/>
              </a:rPr>
              <a:t>0.8758</a:t>
            </a:r>
            <a:endParaRPr sz="1449">
              <a:solidFill>
                <a:srgbClr val="674EA7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423" name="Google Shape;423;g3c09b11e3f6_18_182"/>
          <p:cNvSpPr txBox="1"/>
          <p:nvPr/>
        </p:nvSpPr>
        <p:spPr>
          <a:xfrm>
            <a:off x="4161462" y="3439207"/>
            <a:ext cx="1610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8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적대적 스트레스</a:t>
            </a:r>
            <a:endParaRPr b="1" sz="1449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g3c09b11e3f6_18_182"/>
          <p:cNvSpPr txBox="1"/>
          <p:nvPr/>
        </p:nvSpPr>
        <p:spPr>
          <a:xfrm>
            <a:off x="573736" y="3865349"/>
            <a:ext cx="54924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KoELECTRA-base-v3  |  112.9M params  |  431MB  |  추론 7.9ms </a:t>
            </a:r>
            <a:r>
              <a:rPr b="1" i="0" lang="en-US" sz="1139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139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</a:t>
            </a:r>
            <a:br>
              <a:rPr b="1" lang="en-US" sz="113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39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Config: ep10/lr3e-5/bs16</a:t>
            </a:r>
            <a:endParaRPr b="1" sz="144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14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Label Smoothing 0.1 적용  |  Threshold 0.85 (clarify)  |  Fallback 0.4 (general)</a:t>
            </a:r>
            <a:endParaRPr b="1" sz="113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g3c09b11e3f6_18_182"/>
          <p:cNvSpPr/>
          <p:nvPr/>
        </p:nvSpPr>
        <p:spPr>
          <a:xfrm>
            <a:off x="6242885" y="2113393"/>
            <a:ext cx="5492400" cy="26514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3150">
            <a:solidFill>
              <a:srgbClr val="334055"/>
            </a:solidFill>
            <a:prstDash val="solid"/>
            <a:round/>
            <a:headEnd len="sm" w="sm" type="none"/>
            <a:tailEnd len="sm" w="sm" type="none"/>
          </a:ln>
          <a:effectLst>
            <a:outerShdw blurRad="41426" rotWithShape="0" dir="5400000" dist="23820">
              <a:srgbClr val="000000">
                <a:alpha val="34900"/>
              </a:srgbClr>
            </a:outerShdw>
          </a:effectLst>
        </p:spPr>
        <p:txBody>
          <a:bodyPr anchorCtr="0" anchor="ctr" bIns="47325" lIns="94675" spcFirstLastPara="1" rIns="94675" wrap="square" tIns="47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64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g3c09b11e3f6_18_182"/>
          <p:cNvSpPr txBox="1"/>
          <p:nvPr/>
        </p:nvSpPr>
        <p:spPr>
          <a:xfrm>
            <a:off x="6445121" y="2281348"/>
            <a:ext cx="47349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시나리오 테스트 (100문장)</a:t>
            </a:r>
            <a:endParaRPr b="1" sz="144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g3c09b11e3f6_18_182"/>
          <p:cNvSpPr txBox="1"/>
          <p:nvPr/>
        </p:nvSpPr>
        <p:spPr>
          <a:xfrm>
            <a:off x="6445121" y="2735912"/>
            <a:ext cx="15153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normal (표준)</a:t>
            </a:r>
            <a:endParaRPr b="1" sz="144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g3c09b11e3f6_18_182"/>
          <p:cNvSpPr/>
          <p:nvPr/>
        </p:nvSpPr>
        <p:spPr>
          <a:xfrm>
            <a:off x="7581058" y="2742051"/>
            <a:ext cx="3598500" cy="264900"/>
          </a:xfrm>
          <a:prstGeom prst="roundRect">
            <a:avLst>
              <a:gd fmla="val 30000" name="adj"/>
            </a:avLst>
          </a:prstGeom>
          <a:solidFill>
            <a:srgbClr val="93C47D"/>
          </a:solidFill>
          <a:ln>
            <a:noFill/>
          </a:ln>
          <a:effectLst>
            <a:outerShdw blurRad="41426" rotWithShape="0" dir="5400000" dist="23820">
              <a:srgbClr val="000000">
                <a:alpha val="34900"/>
              </a:srgbClr>
            </a:outerShdw>
          </a:effectLst>
        </p:spPr>
        <p:txBody>
          <a:bodyPr anchorCtr="0" anchor="ctr" bIns="47325" lIns="94675" spcFirstLastPara="1" rIns="94675" wrap="square" tIns="47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64" u="none" cap="none" strike="noStrike">
              <a:solidFill>
                <a:srgbClr val="2563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g3c09b11e3f6_18_182"/>
          <p:cNvSpPr txBox="1"/>
          <p:nvPr/>
        </p:nvSpPr>
        <p:spPr>
          <a:xfrm>
            <a:off x="11195553" y="2754852"/>
            <a:ext cx="663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 b="1" sz="1449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g3c09b11e3f6_18_182"/>
          <p:cNvSpPr txBox="1"/>
          <p:nvPr/>
        </p:nvSpPr>
        <p:spPr>
          <a:xfrm>
            <a:off x="6445121" y="3133654"/>
            <a:ext cx="15153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short (초단문)</a:t>
            </a:r>
            <a:endParaRPr b="1" sz="144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g3c09b11e3f6_18_182"/>
          <p:cNvSpPr/>
          <p:nvPr/>
        </p:nvSpPr>
        <p:spPr>
          <a:xfrm>
            <a:off x="7581063" y="3152594"/>
            <a:ext cx="3357300" cy="264900"/>
          </a:xfrm>
          <a:prstGeom prst="roundRect">
            <a:avLst>
              <a:gd fmla="val 30000" name="adj"/>
            </a:avLst>
          </a:prstGeom>
          <a:solidFill>
            <a:srgbClr val="6D9EEB"/>
          </a:solidFill>
          <a:ln>
            <a:noFill/>
          </a:ln>
          <a:effectLst>
            <a:outerShdw blurRad="41426" rotWithShape="0" dir="5400000" dist="23820">
              <a:srgbClr val="000000">
                <a:alpha val="34900"/>
              </a:srgbClr>
            </a:outerShdw>
          </a:effectLst>
        </p:spPr>
        <p:txBody>
          <a:bodyPr anchorCtr="0" anchor="ctr" bIns="47325" lIns="94675" spcFirstLastPara="1" rIns="94675" wrap="square" tIns="47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64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g3c09b11e3f6_18_182"/>
          <p:cNvSpPr txBox="1"/>
          <p:nvPr/>
        </p:nvSpPr>
        <p:spPr>
          <a:xfrm>
            <a:off x="10968812" y="3152594"/>
            <a:ext cx="663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93.3%</a:t>
            </a:r>
            <a:endParaRPr b="1" sz="1449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g3c09b11e3f6_18_182"/>
          <p:cNvSpPr txBox="1"/>
          <p:nvPr/>
        </p:nvSpPr>
        <p:spPr>
          <a:xfrm>
            <a:off x="6445121" y="3531397"/>
            <a:ext cx="15153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boundary (경계)</a:t>
            </a:r>
            <a:endParaRPr b="1" sz="144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g3c09b11e3f6_18_182"/>
          <p:cNvSpPr/>
          <p:nvPr/>
        </p:nvSpPr>
        <p:spPr>
          <a:xfrm>
            <a:off x="7581063" y="3550337"/>
            <a:ext cx="2835600" cy="264900"/>
          </a:xfrm>
          <a:prstGeom prst="roundRect">
            <a:avLst>
              <a:gd fmla="val 30000" name="adj"/>
            </a:avLst>
          </a:prstGeom>
          <a:solidFill>
            <a:srgbClr val="F6B26B"/>
          </a:solidFill>
          <a:ln>
            <a:noFill/>
          </a:ln>
          <a:effectLst>
            <a:outerShdw blurRad="41426" rotWithShape="0" dir="5400000" dist="23820">
              <a:srgbClr val="000000">
                <a:alpha val="34900"/>
              </a:srgbClr>
            </a:outerShdw>
          </a:effectLst>
        </p:spPr>
        <p:txBody>
          <a:bodyPr anchorCtr="0" anchor="ctr" bIns="47325" lIns="94675" spcFirstLastPara="1" rIns="94675" wrap="square" tIns="47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64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g3c09b11e3f6_18_182"/>
          <p:cNvSpPr txBox="1"/>
          <p:nvPr/>
        </p:nvSpPr>
        <p:spPr>
          <a:xfrm>
            <a:off x="10471574" y="3576998"/>
            <a:ext cx="663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rgbClr val="F59E0B"/>
                </a:solidFill>
                <a:latin typeface="Roboto"/>
                <a:ea typeface="Roboto"/>
                <a:cs typeface="Roboto"/>
                <a:sym typeface="Roboto"/>
              </a:rPr>
              <a:t>78.8%</a:t>
            </a:r>
            <a:endParaRPr b="1" sz="1449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g3c09b11e3f6_18_182"/>
          <p:cNvSpPr txBox="1"/>
          <p:nvPr/>
        </p:nvSpPr>
        <p:spPr>
          <a:xfrm>
            <a:off x="6445121" y="3929140"/>
            <a:ext cx="15153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informal (비속어)</a:t>
            </a:r>
            <a:endParaRPr b="1" sz="144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g3c09b11e3f6_18_182"/>
          <p:cNvSpPr/>
          <p:nvPr/>
        </p:nvSpPr>
        <p:spPr>
          <a:xfrm>
            <a:off x="7581063" y="3948080"/>
            <a:ext cx="2735100" cy="264900"/>
          </a:xfrm>
          <a:prstGeom prst="roundRect">
            <a:avLst>
              <a:gd fmla="val 30000" name="adj"/>
            </a:avLst>
          </a:prstGeom>
          <a:solidFill>
            <a:srgbClr val="E06666"/>
          </a:solidFill>
          <a:ln>
            <a:noFill/>
          </a:ln>
          <a:effectLst>
            <a:outerShdw blurRad="41426" rotWithShape="0" dir="5400000" dist="23820">
              <a:srgbClr val="000000">
                <a:alpha val="34900"/>
              </a:srgbClr>
            </a:outerShdw>
          </a:effectLst>
        </p:spPr>
        <p:txBody>
          <a:bodyPr anchorCtr="0" anchor="ctr" bIns="47325" lIns="94675" spcFirstLastPara="1" rIns="94675" wrap="square" tIns="47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64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g3c09b11e3f6_18_182"/>
          <p:cNvSpPr txBox="1"/>
          <p:nvPr/>
        </p:nvSpPr>
        <p:spPr>
          <a:xfrm>
            <a:off x="10370810" y="3974741"/>
            <a:ext cx="663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rgbClr val="EA9999"/>
                </a:solidFill>
                <a:latin typeface="Roboto"/>
                <a:ea typeface="Roboto"/>
                <a:cs typeface="Roboto"/>
                <a:sym typeface="Roboto"/>
              </a:rPr>
              <a:t>76.0%</a:t>
            </a:r>
            <a:endParaRPr b="1" sz="1449">
              <a:solidFill>
                <a:srgbClr val="EA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g3c09b11e3f6_18_182"/>
          <p:cNvSpPr txBox="1"/>
          <p:nvPr/>
        </p:nvSpPr>
        <p:spPr>
          <a:xfrm>
            <a:off x="6445121" y="4365241"/>
            <a:ext cx="47349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25" lIns="94675" spcFirstLastPara="1" rIns="94675" wrap="square" tIns="473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2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전체 Accuracy 85.0%  |  Macro F1 0.8497</a:t>
            </a:r>
            <a:endParaRPr b="1" sz="1449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g3c09b11e3f6_18_182"/>
          <p:cNvSpPr txBox="1"/>
          <p:nvPr/>
        </p:nvSpPr>
        <p:spPr>
          <a:xfrm>
            <a:off x="762000" y="571500"/>
            <a:ext cx="52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최종 결과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441" name="Google Shape;441;g3c09b11e3f6_18_182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c0c338455d_21_151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</a:t>
            </a:r>
            <a:endParaRPr/>
          </a:p>
        </p:txBody>
      </p:sp>
      <p:sp>
        <p:nvSpPr>
          <p:cNvPr id="447" name="Google Shape;447;g3c0c338455d_21_151"/>
          <p:cNvSpPr txBox="1"/>
          <p:nvPr/>
        </p:nvSpPr>
        <p:spPr>
          <a:xfrm>
            <a:off x="552648" y="1172600"/>
            <a:ext cx="43647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350" lIns="88675" spcFirstLastPara="1" rIns="88675" wrap="square" tIns="44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45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파싱 파이프라인</a:t>
            </a:r>
            <a:endParaRPr sz="135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48" name="Google Shape;448;g3c0c338455d_21_151"/>
          <p:cNvSpPr txBox="1"/>
          <p:nvPr/>
        </p:nvSpPr>
        <p:spPr>
          <a:xfrm>
            <a:off x="552648" y="1473989"/>
            <a:ext cx="43647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350" lIns="88675" spcFirstLastPara="1" rIns="88675" wrap="square" tIns="44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63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"사내 규정 PDF 업로드 → 자동 분석"</a:t>
            </a:r>
            <a:endParaRPr sz="135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49" name="Google Shape;449;g3c0c338455d_21_151"/>
          <p:cNvSpPr/>
          <p:nvPr/>
        </p:nvSpPr>
        <p:spPr>
          <a:xfrm>
            <a:off x="606335" y="1855703"/>
            <a:ext cx="4094100" cy="991500"/>
          </a:xfrm>
          <a:prstGeom prst="flowChartAlternateProcess">
            <a:avLst/>
          </a:prstGeom>
          <a:solidFill>
            <a:srgbClr val="F8F9FA"/>
          </a:solidFill>
          <a:ln>
            <a:noFill/>
          </a:ln>
          <a:effectLst>
            <a:outerShdw blurRad="43095" rotWithShape="0" dir="5400000" dist="24780">
              <a:srgbClr val="000000">
                <a:alpha val="34900"/>
              </a:srgbClr>
            </a:outerShdw>
          </a:effectLst>
        </p:spPr>
        <p:txBody>
          <a:bodyPr anchorCtr="0" anchor="ctr" bIns="49225" lIns="98500" spcFirstLastPara="1" rIns="98500" wrap="square" tIns="49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8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0" name="Google Shape;450;g3c0c338455d_21_151"/>
          <p:cNvSpPr/>
          <p:nvPr/>
        </p:nvSpPr>
        <p:spPr>
          <a:xfrm>
            <a:off x="714073" y="1941894"/>
            <a:ext cx="301500" cy="301500"/>
          </a:xfrm>
          <a:prstGeom prst="ellipse">
            <a:avLst/>
          </a:prstGeom>
          <a:solidFill>
            <a:srgbClr val="6FA8DC"/>
          </a:solidFill>
          <a:ln>
            <a:noFill/>
          </a:ln>
          <a:effectLst>
            <a:outerShdw blurRad="43095" rotWithShape="0" dir="5400000" dist="24780">
              <a:srgbClr val="000000">
                <a:alpha val="34900"/>
              </a:srgbClr>
            </a:outerShdw>
          </a:effectLst>
        </p:spPr>
        <p:txBody>
          <a:bodyPr anchorCtr="0" anchor="ctr" bIns="49225" lIns="98500" spcFirstLastPara="1" rIns="98500" wrap="square" tIns="49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1" name="Google Shape;451;g3c0c338455d_21_151"/>
          <p:cNvSpPr txBox="1"/>
          <p:nvPr/>
        </p:nvSpPr>
        <p:spPr>
          <a:xfrm>
            <a:off x="1091156" y="1920346"/>
            <a:ext cx="3447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00" spcFirstLastPara="1" rIns="98500" wrap="square" tIns="49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69" u="none" cap="none" strike="noStrike">
                <a:solidFill>
                  <a:srgbClr val="4285F4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PDF / DOCX / TXT</a:t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2" name="Google Shape;452;g3c0c338455d_21_151"/>
          <p:cNvSpPr txBox="1"/>
          <p:nvPr/>
        </p:nvSpPr>
        <p:spPr>
          <a:xfrm>
            <a:off x="1091156" y="2123349"/>
            <a:ext cx="3447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00" spcFirstLastPara="1" rIns="98500" wrap="square" tIns="49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92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업로드</a:t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3" name="Google Shape;453;g3c0c338455d_21_151"/>
          <p:cNvSpPr txBox="1"/>
          <p:nvPr/>
        </p:nvSpPr>
        <p:spPr>
          <a:xfrm>
            <a:off x="1091156" y="2392694"/>
            <a:ext cx="3447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00" spcFirstLastPara="1" rIns="98500" wrap="square" tIns="492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1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사용자 문서 파일 업로드</a:t>
            </a:r>
            <a:br>
              <a:rPr i="0" lang="en-US" sz="861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861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지원: UTF-8, CP949 자동 감지</a:t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4" name="Google Shape;454;g3c0c338455d_21_151"/>
          <p:cNvSpPr txBox="1"/>
          <p:nvPr/>
        </p:nvSpPr>
        <p:spPr>
          <a:xfrm>
            <a:off x="886553" y="2851511"/>
            <a:ext cx="3533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2500" lIns="85025" spcFirstLastPara="1" rIns="85025" wrap="square" tIns="42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1" u="none" cap="none" strike="noStrike">
                <a:solidFill>
                  <a:srgbClr val="99999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▼</a:t>
            </a:r>
            <a:endParaRPr sz="130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5" name="Google Shape;455;g3c0c338455d_21_151"/>
          <p:cNvSpPr/>
          <p:nvPr/>
        </p:nvSpPr>
        <p:spPr>
          <a:xfrm>
            <a:off x="606335" y="3076963"/>
            <a:ext cx="4094100" cy="991500"/>
          </a:xfrm>
          <a:prstGeom prst="flowChartAlternateProcess">
            <a:avLst/>
          </a:prstGeom>
          <a:solidFill>
            <a:srgbClr val="F8F9FA"/>
          </a:solidFill>
          <a:ln>
            <a:noFill/>
          </a:ln>
          <a:effectLst>
            <a:outerShdw blurRad="43095" rotWithShape="0" dir="5400000" dist="24780">
              <a:srgbClr val="000000">
                <a:alpha val="34900"/>
              </a:srgbClr>
            </a:outerShdw>
          </a:effectLst>
        </p:spPr>
        <p:txBody>
          <a:bodyPr anchorCtr="0" anchor="ctr" bIns="49225" lIns="98500" spcFirstLastPara="1" rIns="98500" wrap="square" tIns="49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8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6" name="Google Shape;456;g3c0c338455d_21_151"/>
          <p:cNvSpPr/>
          <p:nvPr/>
        </p:nvSpPr>
        <p:spPr>
          <a:xfrm>
            <a:off x="714073" y="3163153"/>
            <a:ext cx="301500" cy="301500"/>
          </a:xfrm>
          <a:prstGeom prst="ellipse">
            <a:avLst/>
          </a:prstGeom>
          <a:solidFill>
            <a:srgbClr val="93C47D"/>
          </a:solidFill>
          <a:ln>
            <a:noFill/>
          </a:ln>
          <a:effectLst>
            <a:outerShdw blurRad="43095" rotWithShape="0" dir="5400000" dist="24780">
              <a:srgbClr val="000000">
                <a:alpha val="34900"/>
              </a:srgbClr>
            </a:outerShdw>
          </a:effectLst>
        </p:spPr>
        <p:txBody>
          <a:bodyPr anchorCtr="0" anchor="ctr" bIns="49225" lIns="98500" spcFirstLastPara="1" rIns="98500" wrap="square" tIns="49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7" name="Google Shape;457;g3c0c338455d_21_151"/>
          <p:cNvSpPr txBox="1"/>
          <p:nvPr/>
        </p:nvSpPr>
        <p:spPr>
          <a:xfrm>
            <a:off x="1091156" y="3141605"/>
            <a:ext cx="3447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00" spcFirstLastPara="1" rIns="98500" wrap="square" tIns="49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69" u="none" cap="none" strike="noStrike">
                <a:solidFill>
                  <a:srgbClr val="0F9D5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Docling + PyMuPDF</a:t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8" name="Google Shape;458;g3c0c338455d_21_151"/>
          <p:cNvSpPr txBox="1"/>
          <p:nvPr/>
        </p:nvSpPr>
        <p:spPr>
          <a:xfrm>
            <a:off x="1091156" y="3344609"/>
            <a:ext cx="3447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00" spcFirstLastPara="1" rIns="98500" wrap="square" tIns="49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92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구조 파싱</a:t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9" name="Google Shape;459;g3c0c338455d_21_151"/>
          <p:cNvSpPr txBox="1"/>
          <p:nvPr/>
        </p:nvSpPr>
        <p:spPr>
          <a:xfrm>
            <a:off x="1091156" y="3613953"/>
            <a:ext cx="3447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00" spcFirstLastPara="1" rIns="98500" wrap="square" tIns="492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1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OCR · 테이블 · 헤더 구조 인식</a:t>
            </a:r>
            <a:br>
              <a:rPr i="0" lang="en-US" sz="861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861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Markdown 변환 후 구조화</a:t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0" name="Google Shape;460;g3c0c338455d_21_151"/>
          <p:cNvSpPr txBox="1"/>
          <p:nvPr/>
        </p:nvSpPr>
        <p:spPr>
          <a:xfrm>
            <a:off x="886553" y="4081702"/>
            <a:ext cx="3533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2500" lIns="85025" spcFirstLastPara="1" rIns="85025" wrap="square" tIns="42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1" u="none" cap="none" strike="noStrike">
                <a:solidFill>
                  <a:srgbClr val="99999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▼</a:t>
            </a:r>
            <a:endParaRPr sz="130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1" name="Google Shape;461;g3c0c338455d_21_151"/>
          <p:cNvSpPr/>
          <p:nvPr/>
        </p:nvSpPr>
        <p:spPr>
          <a:xfrm>
            <a:off x="606335" y="4343016"/>
            <a:ext cx="4094100" cy="991500"/>
          </a:xfrm>
          <a:prstGeom prst="flowChartAlternateProcess">
            <a:avLst/>
          </a:prstGeom>
          <a:solidFill>
            <a:srgbClr val="F8F9FA"/>
          </a:solidFill>
          <a:ln>
            <a:noFill/>
          </a:ln>
          <a:effectLst>
            <a:outerShdw blurRad="43095" rotWithShape="0" dir="5400000" dist="24780">
              <a:srgbClr val="000000">
                <a:alpha val="34900"/>
              </a:srgbClr>
            </a:outerShdw>
          </a:effectLst>
        </p:spPr>
        <p:txBody>
          <a:bodyPr anchorCtr="0" anchor="ctr" bIns="49225" lIns="98500" spcFirstLastPara="1" rIns="98500" wrap="square" tIns="49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8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2" name="Google Shape;462;g3c0c338455d_21_151"/>
          <p:cNvSpPr/>
          <p:nvPr/>
        </p:nvSpPr>
        <p:spPr>
          <a:xfrm>
            <a:off x="714073" y="4429206"/>
            <a:ext cx="301500" cy="301500"/>
          </a:xfrm>
          <a:prstGeom prst="ellipse">
            <a:avLst/>
          </a:prstGeom>
          <a:solidFill>
            <a:srgbClr val="DD7E6B"/>
          </a:solidFill>
          <a:ln>
            <a:noFill/>
          </a:ln>
          <a:effectLst>
            <a:outerShdw blurRad="43095" rotWithShape="0" dir="5400000" dist="24780">
              <a:srgbClr val="000000">
                <a:alpha val="34900"/>
              </a:srgbClr>
            </a:outerShdw>
          </a:effectLst>
        </p:spPr>
        <p:txBody>
          <a:bodyPr anchorCtr="0" anchor="ctr" bIns="49225" lIns="98500" spcFirstLastPara="1" rIns="98500" wrap="square" tIns="49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3" name="Google Shape;463;g3c0c338455d_21_151"/>
          <p:cNvSpPr txBox="1"/>
          <p:nvPr/>
        </p:nvSpPr>
        <p:spPr>
          <a:xfrm>
            <a:off x="1091156" y="4407659"/>
            <a:ext cx="3447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00" spcFirstLastPara="1" rIns="98500" wrap="square" tIns="49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69" u="none" cap="none" strike="noStrike">
                <a:solidFill>
                  <a:srgbClr val="ED561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장/조 분할기</a:t>
            </a:r>
            <a:endParaRPr sz="1508">
              <a:solidFill>
                <a:srgbClr val="ED561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4" name="Google Shape;464;g3c0c338455d_21_151"/>
          <p:cNvSpPr txBox="1"/>
          <p:nvPr/>
        </p:nvSpPr>
        <p:spPr>
          <a:xfrm>
            <a:off x="1091156" y="4610662"/>
            <a:ext cx="3447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00" spcFirstLastPara="1" rIns="98500" wrap="square" tIns="49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92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자동 분할</a:t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5" name="Google Shape;465;g3c0c338455d_21_151"/>
          <p:cNvSpPr txBox="1"/>
          <p:nvPr/>
        </p:nvSpPr>
        <p:spPr>
          <a:xfrm>
            <a:off x="1091156" y="4880006"/>
            <a:ext cx="3447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00" spcFirstLastPara="1" rIns="98500" wrap="square" tIns="492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1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제N장 · 제N조 패턴 감지</a:t>
            </a:r>
            <a:br>
              <a:rPr i="0" lang="en-US" sz="861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861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400자 초과 시 불릿 단위 분할</a:t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6" name="Google Shape;466;g3c0c338455d_21_151"/>
          <p:cNvSpPr txBox="1"/>
          <p:nvPr/>
        </p:nvSpPr>
        <p:spPr>
          <a:xfrm>
            <a:off x="886553" y="5351152"/>
            <a:ext cx="3533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2500" lIns="85025" spcFirstLastPara="1" rIns="85025" wrap="square" tIns="42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1" u="none" cap="none" strike="noStrike">
                <a:solidFill>
                  <a:srgbClr val="99999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▼</a:t>
            </a:r>
            <a:endParaRPr sz="130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7" name="Google Shape;467;g3c0c338455d_21_151"/>
          <p:cNvSpPr/>
          <p:nvPr/>
        </p:nvSpPr>
        <p:spPr>
          <a:xfrm>
            <a:off x="606335" y="5631467"/>
            <a:ext cx="4094100" cy="991500"/>
          </a:xfrm>
          <a:prstGeom prst="flowChartAlternateProcess">
            <a:avLst/>
          </a:prstGeom>
          <a:solidFill>
            <a:srgbClr val="F8F9FA"/>
          </a:solidFill>
          <a:ln>
            <a:noFill/>
          </a:ln>
          <a:effectLst>
            <a:outerShdw blurRad="43095" rotWithShape="0" dir="5400000" dist="24780">
              <a:srgbClr val="000000">
                <a:alpha val="34900"/>
              </a:srgbClr>
            </a:outerShdw>
          </a:effectLst>
        </p:spPr>
        <p:txBody>
          <a:bodyPr anchorCtr="0" anchor="ctr" bIns="49225" lIns="98500" spcFirstLastPara="1" rIns="98500" wrap="square" tIns="49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8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8" name="Google Shape;468;g3c0c338455d_21_151"/>
          <p:cNvSpPr/>
          <p:nvPr/>
        </p:nvSpPr>
        <p:spPr>
          <a:xfrm>
            <a:off x="714073" y="5717657"/>
            <a:ext cx="301500" cy="301500"/>
          </a:xfrm>
          <a:prstGeom prst="ellipse">
            <a:avLst/>
          </a:prstGeom>
          <a:solidFill>
            <a:srgbClr val="B4A7D6"/>
          </a:solidFill>
          <a:ln>
            <a:noFill/>
          </a:ln>
          <a:effectLst>
            <a:outerShdw blurRad="43095" rotWithShape="0" dir="5400000" dist="24780">
              <a:srgbClr val="000000">
                <a:alpha val="34900"/>
              </a:srgbClr>
            </a:outerShdw>
          </a:effectLst>
        </p:spPr>
        <p:txBody>
          <a:bodyPr anchorCtr="0" anchor="ctr" bIns="49225" lIns="98500" spcFirstLastPara="1" rIns="98500" wrap="square" tIns="49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9" name="Google Shape;469;g3c0c338455d_21_151"/>
          <p:cNvSpPr txBox="1"/>
          <p:nvPr/>
        </p:nvSpPr>
        <p:spPr>
          <a:xfrm>
            <a:off x="1091156" y="5696109"/>
            <a:ext cx="3447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00" spcFirstLastPara="1" rIns="98500" wrap="square" tIns="49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69" u="none" cap="none" strike="noStrike">
                <a:solidFill>
                  <a:srgbClr val="7C3AED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Qdrant + BM25</a:t>
            </a:r>
            <a:endParaRPr sz="1508">
              <a:solidFill>
                <a:srgbClr val="7C3AED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0" name="Google Shape;470;g3c0c338455d_21_151"/>
          <p:cNvSpPr txBox="1"/>
          <p:nvPr/>
        </p:nvSpPr>
        <p:spPr>
          <a:xfrm>
            <a:off x="1091156" y="5899112"/>
            <a:ext cx="3447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00" spcFirstLastPara="1" rIns="98500" wrap="square" tIns="49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92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자동 색인</a:t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1" name="Google Shape;471;g3c0c338455d_21_151"/>
          <p:cNvSpPr txBox="1"/>
          <p:nvPr/>
        </p:nvSpPr>
        <p:spPr>
          <a:xfrm>
            <a:off x="1091156" y="6168457"/>
            <a:ext cx="3447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00" spcFirstLastPara="1" rIns="98500" wrap="square" tIns="492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1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ko-sbert-nli 768d 임베딩</a:t>
            </a:r>
            <a:br>
              <a:rPr i="0" lang="en-US" sz="861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861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BM25 역색인 동시 구축</a:t>
            </a:r>
            <a:endParaRPr sz="1508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2" name="Google Shape;472;g3c0c338455d_21_151"/>
          <p:cNvSpPr txBox="1"/>
          <p:nvPr/>
        </p:nvSpPr>
        <p:spPr>
          <a:xfrm>
            <a:off x="4823675" y="1666660"/>
            <a:ext cx="31359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350" lIns="88675" spcFirstLastPara="1" rIns="88675" wrap="square" tIns="44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45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Document Agent 4 Intent 처리</a:t>
            </a:r>
            <a:endParaRPr sz="135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3" name="Google Shape;473;g3c0c338455d_21_151"/>
          <p:cNvSpPr/>
          <p:nvPr/>
        </p:nvSpPr>
        <p:spPr>
          <a:xfrm>
            <a:off x="4865835" y="2199091"/>
            <a:ext cx="3338100" cy="1788900"/>
          </a:xfrm>
          <a:prstGeom prst="flowChartAlternateProcess">
            <a:avLst/>
          </a:prstGeom>
          <a:solidFill>
            <a:srgbClr val="F8F9FA"/>
          </a:solidFill>
          <a:ln>
            <a:noFill/>
          </a:ln>
          <a:effectLst>
            <a:outerShdw blurRad="40464" rotWithShape="0" dir="5400000" dist="23267">
              <a:srgbClr val="000000">
                <a:alpha val="34900"/>
              </a:srgbClr>
            </a:outerShdw>
          </a:effectLst>
        </p:spPr>
        <p:txBody>
          <a:bodyPr anchorCtr="0" anchor="ctr" bIns="46225" lIns="92475" spcFirstLastPara="1" rIns="92475" wrap="square" tIns="46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16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4" name="Google Shape;474;g3c0c338455d_21_151"/>
          <p:cNvSpPr/>
          <p:nvPr/>
        </p:nvSpPr>
        <p:spPr>
          <a:xfrm>
            <a:off x="4966994" y="2300247"/>
            <a:ext cx="1416300" cy="283200"/>
          </a:xfrm>
          <a:prstGeom prst="flowChartAlternateProcess">
            <a:avLst/>
          </a:prstGeom>
          <a:solidFill>
            <a:srgbClr val="6FA8DC"/>
          </a:solidFill>
          <a:ln>
            <a:noFill/>
          </a:ln>
          <a:effectLst>
            <a:outerShdw blurRad="40464" rotWithShape="0" dir="5400000" dist="23267">
              <a:srgbClr val="000000">
                <a:alpha val="34900"/>
              </a:srgbClr>
            </a:outerShdw>
          </a:effectLst>
        </p:spPr>
        <p:txBody>
          <a:bodyPr anchorCtr="0" anchor="ctr" bIns="46225" lIns="92475" spcFirstLastPara="1" rIns="92475" wrap="square" tIns="46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12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doc_search</a:t>
            </a:r>
            <a:endParaRPr sz="1416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5" name="Google Shape;475;g3c0c338455d_21_151"/>
          <p:cNvSpPr txBox="1"/>
          <p:nvPr/>
        </p:nvSpPr>
        <p:spPr>
          <a:xfrm>
            <a:off x="6484391" y="2310363"/>
            <a:ext cx="1618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15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검색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6" name="Google Shape;476;g3c0c338455d_21_151"/>
          <p:cNvSpPr txBox="1"/>
          <p:nvPr/>
        </p:nvSpPr>
        <p:spPr>
          <a:xfrm>
            <a:off x="4904528" y="2687237"/>
            <a:ext cx="33381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8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Query → Hybrid Search → RRF 랭킹 → LLM 답변</a:t>
            </a:r>
            <a:endParaRPr sz="161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7" name="Google Shape;477;g3c0c338455d_21_151"/>
          <p:cNvSpPr txBox="1"/>
          <p:nvPr/>
        </p:nvSpPr>
        <p:spPr>
          <a:xfrm>
            <a:off x="4966994" y="3011613"/>
            <a:ext cx="202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1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8" name="Google Shape;478;g3c0c338455d_21_151"/>
          <p:cNvSpPr txBox="1"/>
          <p:nvPr/>
        </p:nvSpPr>
        <p:spPr>
          <a:xfrm>
            <a:off x="5149082" y="3011613"/>
            <a:ext cx="2953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4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kiwipiepy 형태소 분석 + 동의어 확장</a:t>
            </a:r>
            <a:endParaRPr sz="171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9" name="Google Shape;479;g3c0c338455d_21_151"/>
          <p:cNvSpPr txBox="1"/>
          <p:nvPr/>
        </p:nvSpPr>
        <p:spPr>
          <a:xfrm>
            <a:off x="4966994" y="3306059"/>
            <a:ext cx="202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1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80" name="Google Shape;480;g3c0c338455d_21_151"/>
          <p:cNvSpPr txBox="1"/>
          <p:nvPr/>
        </p:nvSpPr>
        <p:spPr>
          <a:xfrm>
            <a:off x="5149084" y="3294852"/>
            <a:ext cx="3135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4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BM25(Top15) + Qdrant(Top15) → RRF(k=60)</a:t>
            </a:r>
            <a:endParaRPr sz="171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81" name="Google Shape;481;g3c0c338455d_21_151"/>
          <p:cNvSpPr txBox="1"/>
          <p:nvPr/>
        </p:nvSpPr>
        <p:spPr>
          <a:xfrm>
            <a:off x="4966994" y="3600504"/>
            <a:ext cx="202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1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82" name="Google Shape;482;g3c0c338455d_21_151"/>
          <p:cNvSpPr txBox="1"/>
          <p:nvPr/>
        </p:nvSpPr>
        <p:spPr>
          <a:xfrm>
            <a:off x="5149082" y="3578107"/>
            <a:ext cx="2953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4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source diversity 필터 → 출처 포함 답변</a:t>
            </a:r>
            <a:endParaRPr sz="171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83" name="Google Shape;483;g3c0c338455d_21_151"/>
          <p:cNvSpPr/>
          <p:nvPr/>
        </p:nvSpPr>
        <p:spPr>
          <a:xfrm>
            <a:off x="8406433" y="2199091"/>
            <a:ext cx="3338100" cy="1788900"/>
          </a:xfrm>
          <a:prstGeom prst="flowChartAlternateProcess">
            <a:avLst/>
          </a:prstGeom>
          <a:solidFill>
            <a:srgbClr val="F8F9FA"/>
          </a:solidFill>
          <a:ln>
            <a:noFill/>
          </a:ln>
          <a:effectLst>
            <a:outerShdw blurRad="40464" rotWithShape="0" dir="5400000" dist="23267">
              <a:srgbClr val="000000">
                <a:alpha val="34900"/>
              </a:srgbClr>
            </a:outerShdw>
          </a:effectLst>
        </p:spPr>
        <p:txBody>
          <a:bodyPr anchorCtr="0" anchor="ctr" bIns="46225" lIns="92475" spcFirstLastPara="1" rIns="92475" wrap="square" tIns="46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16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84" name="Google Shape;484;g3c0c338455d_21_151"/>
          <p:cNvSpPr/>
          <p:nvPr/>
        </p:nvSpPr>
        <p:spPr>
          <a:xfrm>
            <a:off x="8507587" y="2300247"/>
            <a:ext cx="1416300" cy="283200"/>
          </a:xfrm>
          <a:prstGeom prst="flowChartAlternateProcess">
            <a:avLst/>
          </a:prstGeom>
          <a:solidFill>
            <a:srgbClr val="93C47D"/>
          </a:solidFill>
          <a:ln>
            <a:noFill/>
          </a:ln>
          <a:effectLst>
            <a:outerShdw blurRad="40464" rotWithShape="0" dir="5400000" dist="23267">
              <a:srgbClr val="000000">
                <a:alpha val="34900"/>
              </a:srgbClr>
            </a:outerShdw>
          </a:effectLst>
        </p:spPr>
        <p:txBody>
          <a:bodyPr anchorCtr="0" anchor="ctr" bIns="46225" lIns="92475" spcFirstLastPara="1" rIns="92475" wrap="square" tIns="46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12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doc_generate</a:t>
            </a:r>
            <a:endParaRPr sz="1416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85" name="Google Shape;485;g3c0c338455d_21_151"/>
          <p:cNvSpPr txBox="1"/>
          <p:nvPr/>
        </p:nvSpPr>
        <p:spPr>
          <a:xfrm>
            <a:off x="10024984" y="2310363"/>
            <a:ext cx="1618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15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생성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86" name="Google Shape;486;g3c0c338455d_21_151"/>
          <p:cNvSpPr txBox="1"/>
          <p:nvPr/>
        </p:nvSpPr>
        <p:spPr>
          <a:xfrm>
            <a:off x="8507587" y="2654306"/>
            <a:ext cx="31359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8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템플릿 판별 → LLM JSON → DOCX 렌더링</a:t>
            </a:r>
            <a:endParaRPr sz="161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87" name="Google Shape;487;g3c0c338455d_21_151"/>
          <p:cNvSpPr txBox="1"/>
          <p:nvPr/>
        </p:nvSpPr>
        <p:spPr>
          <a:xfrm>
            <a:off x="8507587" y="3011613"/>
            <a:ext cx="202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1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88" name="Google Shape;488;g3c0c338455d_21_151"/>
          <p:cNvSpPr txBox="1"/>
          <p:nvPr/>
        </p:nvSpPr>
        <p:spPr>
          <a:xfrm>
            <a:off x="8689675" y="3011613"/>
            <a:ext cx="2953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4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회의록 / 보고서 / 제안서 3종 템플릿</a:t>
            </a:r>
            <a:endParaRPr sz="171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89" name="Google Shape;489;g3c0c338455d_21_151"/>
          <p:cNvSpPr txBox="1"/>
          <p:nvPr/>
        </p:nvSpPr>
        <p:spPr>
          <a:xfrm>
            <a:off x="8507587" y="3306059"/>
            <a:ext cx="202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1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90" name="Google Shape;490;g3c0c338455d_21_151"/>
          <p:cNvSpPr txBox="1"/>
          <p:nvPr/>
        </p:nvSpPr>
        <p:spPr>
          <a:xfrm>
            <a:off x="8689675" y="3294860"/>
            <a:ext cx="2953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4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Solar json_mode → 필드 자동 정규화</a:t>
            </a:r>
            <a:endParaRPr sz="171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91" name="Google Shape;491;g3c0c338455d_21_151"/>
          <p:cNvSpPr txBox="1"/>
          <p:nvPr/>
        </p:nvSpPr>
        <p:spPr>
          <a:xfrm>
            <a:off x="8507587" y="3600504"/>
            <a:ext cx="202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1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92" name="Google Shape;492;g3c0c338455d_21_151"/>
          <p:cNvSpPr txBox="1"/>
          <p:nvPr/>
        </p:nvSpPr>
        <p:spPr>
          <a:xfrm>
            <a:off x="8689675" y="3578107"/>
            <a:ext cx="2953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4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python-docx 렌더링 → UUID 다운로드</a:t>
            </a:r>
            <a:endParaRPr sz="171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93" name="Google Shape;493;g3c0c338455d_21_151"/>
          <p:cNvSpPr/>
          <p:nvPr/>
        </p:nvSpPr>
        <p:spPr>
          <a:xfrm>
            <a:off x="4865835" y="4156960"/>
            <a:ext cx="3338100" cy="1788900"/>
          </a:xfrm>
          <a:prstGeom prst="flowChartAlternateProcess">
            <a:avLst/>
          </a:prstGeom>
          <a:solidFill>
            <a:srgbClr val="F8F9FA"/>
          </a:solidFill>
          <a:ln>
            <a:noFill/>
          </a:ln>
          <a:effectLst>
            <a:outerShdw blurRad="40464" rotWithShape="0" dir="5400000" dist="23267">
              <a:srgbClr val="000000">
                <a:alpha val="34900"/>
              </a:srgbClr>
            </a:outerShdw>
          </a:effectLst>
        </p:spPr>
        <p:txBody>
          <a:bodyPr anchorCtr="0" anchor="ctr" bIns="46225" lIns="92475" spcFirstLastPara="1" rIns="92475" wrap="square" tIns="46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16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94" name="Google Shape;494;g3c0c338455d_21_151"/>
          <p:cNvSpPr/>
          <p:nvPr/>
        </p:nvSpPr>
        <p:spPr>
          <a:xfrm>
            <a:off x="4966994" y="4258118"/>
            <a:ext cx="1416300" cy="283200"/>
          </a:xfrm>
          <a:prstGeom prst="flowChartAlternateProcess">
            <a:avLst/>
          </a:prstGeom>
          <a:solidFill>
            <a:srgbClr val="DD7E6B"/>
          </a:solidFill>
          <a:ln>
            <a:noFill/>
          </a:ln>
          <a:effectLst>
            <a:outerShdw blurRad="40464" rotWithShape="0" dir="5400000" dist="23267">
              <a:srgbClr val="000000">
                <a:alpha val="34900"/>
              </a:srgbClr>
            </a:outerShdw>
          </a:effectLst>
        </p:spPr>
        <p:txBody>
          <a:bodyPr anchorCtr="0" anchor="ctr" bIns="46225" lIns="92475" spcFirstLastPara="1" rIns="92475" wrap="square" tIns="46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13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doc_summary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95" name="Google Shape;495;g3c0c338455d_21_151"/>
          <p:cNvSpPr txBox="1"/>
          <p:nvPr/>
        </p:nvSpPr>
        <p:spPr>
          <a:xfrm>
            <a:off x="6484391" y="4268234"/>
            <a:ext cx="1618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15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요약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96" name="Google Shape;496;g3c0c338455d_21_151"/>
          <p:cNvSpPr txBox="1"/>
          <p:nvPr/>
        </p:nvSpPr>
        <p:spPr>
          <a:xfrm>
            <a:off x="4966994" y="4612177"/>
            <a:ext cx="31359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8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doc_pick 선택 → 8K 분할 → LLM 요약 → SSE</a:t>
            </a:r>
            <a:endParaRPr sz="161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97" name="Google Shape;497;g3c0c338455d_21_151"/>
          <p:cNvSpPr txBox="1"/>
          <p:nvPr/>
        </p:nvSpPr>
        <p:spPr>
          <a:xfrm>
            <a:off x="4966994" y="4969484"/>
            <a:ext cx="202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1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98" name="Google Shape;498;g3c0c338455d_21_151"/>
          <p:cNvSpPr txBox="1"/>
          <p:nvPr/>
        </p:nvSpPr>
        <p:spPr>
          <a:xfrm>
            <a:off x="5149082" y="4969484"/>
            <a:ext cx="2953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4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Qdrant 필터링 → 사용자 문서 목록 조회</a:t>
            </a:r>
            <a:endParaRPr sz="171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99" name="Google Shape;499;g3c0c338455d_21_151"/>
          <p:cNvSpPr txBox="1"/>
          <p:nvPr/>
        </p:nvSpPr>
        <p:spPr>
          <a:xfrm>
            <a:off x="4966994" y="5275128"/>
            <a:ext cx="202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1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00" name="Google Shape;500;g3c0c338455d_21_151"/>
          <p:cNvSpPr txBox="1"/>
          <p:nvPr/>
        </p:nvSpPr>
        <p:spPr>
          <a:xfrm>
            <a:off x="5149082" y="5252731"/>
            <a:ext cx="2953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4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8,000자 분할 → 핵심문장 + 키워드 추출</a:t>
            </a:r>
            <a:endParaRPr sz="171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01" name="Google Shape;501;g3c0c338455d_21_151"/>
          <p:cNvSpPr txBox="1"/>
          <p:nvPr/>
        </p:nvSpPr>
        <p:spPr>
          <a:xfrm>
            <a:off x="4966994" y="5558375"/>
            <a:ext cx="202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1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02" name="Google Shape;502;g3c0c338455d_21_151"/>
          <p:cNvSpPr txBox="1"/>
          <p:nvPr/>
        </p:nvSpPr>
        <p:spPr>
          <a:xfrm>
            <a:off x="5149082" y="5535978"/>
            <a:ext cx="2953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4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SSE stream_pending 실시간 토큰 전송</a:t>
            </a:r>
            <a:endParaRPr sz="171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03" name="Google Shape;503;g3c0c338455d_21_151"/>
          <p:cNvSpPr/>
          <p:nvPr/>
        </p:nvSpPr>
        <p:spPr>
          <a:xfrm>
            <a:off x="8406433" y="4156960"/>
            <a:ext cx="3338100" cy="1788900"/>
          </a:xfrm>
          <a:prstGeom prst="flowChartAlternateProcess">
            <a:avLst/>
          </a:prstGeom>
          <a:solidFill>
            <a:srgbClr val="F8F9FA"/>
          </a:solidFill>
          <a:ln>
            <a:noFill/>
          </a:ln>
          <a:effectLst>
            <a:outerShdw blurRad="40464" rotWithShape="0" dir="5400000" dist="23267">
              <a:srgbClr val="000000">
                <a:alpha val="34900"/>
              </a:srgbClr>
            </a:outerShdw>
          </a:effectLst>
        </p:spPr>
        <p:txBody>
          <a:bodyPr anchorCtr="0" anchor="ctr" bIns="46225" lIns="92475" spcFirstLastPara="1" rIns="92475" wrap="square" tIns="46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16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04" name="Google Shape;504;g3c0c338455d_21_151"/>
          <p:cNvSpPr/>
          <p:nvPr/>
        </p:nvSpPr>
        <p:spPr>
          <a:xfrm>
            <a:off x="8507587" y="4258118"/>
            <a:ext cx="1416300" cy="283200"/>
          </a:xfrm>
          <a:prstGeom prst="flowChartAlternateProcess">
            <a:avLst/>
          </a:prstGeom>
          <a:solidFill>
            <a:srgbClr val="B4A7D6"/>
          </a:solidFill>
          <a:ln>
            <a:noFill/>
          </a:ln>
          <a:effectLst>
            <a:outerShdw blurRad="40464" rotWithShape="0" dir="5400000" dist="23267">
              <a:srgbClr val="000000">
                <a:alpha val="34900"/>
              </a:srgbClr>
            </a:outerShdw>
          </a:effectLst>
        </p:spPr>
        <p:txBody>
          <a:bodyPr anchorCtr="0" anchor="ctr" bIns="46225" lIns="92475" spcFirstLastPara="1" rIns="92475" wrap="square" tIns="46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13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doc_qa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05" name="Google Shape;505;g3c0c338455d_21_151"/>
          <p:cNvSpPr txBox="1"/>
          <p:nvPr/>
        </p:nvSpPr>
        <p:spPr>
          <a:xfrm>
            <a:off x="10024984" y="4268234"/>
            <a:ext cx="1618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15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Q&amp;A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06" name="Google Shape;506;g3c0c338455d_21_151"/>
          <p:cNvSpPr txBox="1"/>
          <p:nvPr/>
        </p:nvSpPr>
        <p:spPr>
          <a:xfrm>
            <a:off x="8507587" y="4612177"/>
            <a:ext cx="31359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8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Hybrid RAG → LLM JSON → citations 첨부</a:t>
            </a:r>
            <a:endParaRPr sz="161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07" name="Google Shape;507;g3c0c338455d_21_151"/>
          <p:cNvSpPr txBox="1"/>
          <p:nvPr/>
        </p:nvSpPr>
        <p:spPr>
          <a:xfrm>
            <a:off x="8507587" y="4969484"/>
            <a:ext cx="202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1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08" name="Google Shape;508;g3c0c338455d_21_151"/>
          <p:cNvSpPr txBox="1"/>
          <p:nvPr/>
        </p:nvSpPr>
        <p:spPr>
          <a:xfrm>
            <a:off x="8689675" y="4969484"/>
            <a:ext cx="2953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4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scope 필터링 → Top-5 컨텍스트</a:t>
            </a:r>
            <a:endParaRPr sz="171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09" name="Google Shape;509;g3c0c338455d_21_151"/>
          <p:cNvSpPr txBox="1"/>
          <p:nvPr/>
        </p:nvSpPr>
        <p:spPr>
          <a:xfrm>
            <a:off x="8507587" y="5275128"/>
            <a:ext cx="202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1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10" name="Google Shape;510;g3c0c338455d_21_151"/>
          <p:cNvSpPr txBox="1"/>
          <p:nvPr/>
        </p:nvSpPr>
        <p:spPr>
          <a:xfrm>
            <a:off x="8689675" y="5252731"/>
            <a:ext cx="2953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4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answer + citations + confidence 점수</a:t>
            </a:r>
            <a:endParaRPr sz="171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11" name="Google Shape;511;g3c0c338455d_21_151"/>
          <p:cNvSpPr txBox="1"/>
          <p:nvPr/>
        </p:nvSpPr>
        <p:spPr>
          <a:xfrm>
            <a:off x="8507587" y="5558375"/>
            <a:ext cx="202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1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1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12" name="Google Shape;512;g3c0c338455d_21_151"/>
          <p:cNvSpPr txBox="1"/>
          <p:nvPr/>
        </p:nvSpPr>
        <p:spPr>
          <a:xfrm>
            <a:off x="8689675" y="5535978"/>
            <a:ext cx="2953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4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근거 인용문 + 관련도 태깅 (높음/중간/낮음)</a:t>
            </a:r>
            <a:endParaRPr sz="171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13" name="Google Shape;513;g3c0c338455d_21_151"/>
          <p:cNvSpPr txBox="1"/>
          <p:nvPr/>
        </p:nvSpPr>
        <p:spPr>
          <a:xfrm>
            <a:off x="2193641" y="608586"/>
            <a:ext cx="422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Document</a:t>
            </a:r>
            <a:endParaRPr b="0" i="0" sz="7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4" name="Google Shape;514;g3c0c338455d_21_151"/>
          <p:cNvSpPr txBox="1"/>
          <p:nvPr/>
        </p:nvSpPr>
        <p:spPr>
          <a:xfrm>
            <a:off x="741524" y="554746"/>
            <a:ext cx="25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문서 관리</a:t>
            </a:r>
            <a:endParaRPr b="0"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15" name="Google Shape;515;g3c0c338455d_21_151"/>
          <p:cNvSpPr txBox="1"/>
          <p:nvPr/>
        </p:nvSpPr>
        <p:spPr>
          <a:xfrm flipH="1">
            <a:off x="447464" y="1990998"/>
            <a:ext cx="834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9"/>
              <a:buFont typeface="Arial"/>
              <a:buNone/>
            </a:pPr>
            <a:r>
              <a:rPr lang="en-US" sz="1648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387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6" name="Google Shape;516;g3c0c338455d_21_151"/>
          <p:cNvSpPr txBox="1"/>
          <p:nvPr/>
        </p:nvSpPr>
        <p:spPr>
          <a:xfrm flipH="1">
            <a:off x="447464" y="3204765"/>
            <a:ext cx="834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9"/>
              <a:buFont typeface="Arial"/>
              <a:buNone/>
            </a:pPr>
            <a:r>
              <a:rPr lang="en-US" sz="1648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b="0" i="0" sz="387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7" name="Google Shape;517;g3c0c338455d_21_151"/>
          <p:cNvSpPr txBox="1"/>
          <p:nvPr/>
        </p:nvSpPr>
        <p:spPr>
          <a:xfrm flipH="1">
            <a:off x="447464" y="4461108"/>
            <a:ext cx="834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9"/>
              <a:buFont typeface="Arial"/>
              <a:buNone/>
            </a:pPr>
            <a:r>
              <a:rPr lang="en-US" sz="1648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b="0" i="0" sz="387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8" name="Google Shape;518;g3c0c338455d_21_151"/>
          <p:cNvSpPr txBox="1"/>
          <p:nvPr/>
        </p:nvSpPr>
        <p:spPr>
          <a:xfrm flipH="1">
            <a:off x="437745" y="5748290"/>
            <a:ext cx="834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9"/>
              <a:buFont typeface="Arial"/>
              <a:buNone/>
            </a:pPr>
            <a:r>
              <a:rPr lang="en-US" sz="1648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4</a:t>
            </a:r>
            <a:endParaRPr b="0" i="0" sz="387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g3c0c338455d_3_219" title="답변-removebg-preview (5).png"/>
          <p:cNvPicPr preferRelativeResize="0"/>
          <p:nvPr/>
        </p:nvPicPr>
        <p:blipFill rotWithShape="1">
          <a:blip r:embed="rId3">
            <a:alphaModFix/>
          </a:blip>
          <a:srcRect b="41469" l="0" r="0" t="0"/>
          <a:stretch/>
        </p:blipFill>
        <p:spPr>
          <a:xfrm>
            <a:off x="404454" y="2942458"/>
            <a:ext cx="2271744" cy="60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g3c0c338455d_3_219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c0c338455d_3_219"/>
          <p:cNvSpPr/>
          <p:nvPr/>
        </p:nvSpPr>
        <p:spPr>
          <a:xfrm>
            <a:off x="468500" y="2879725"/>
            <a:ext cx="2054100" cy="1930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42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c0c338455d_3_219"/>
          <p:cNvSpPr/>
          <p:nvPr/>
        </p:nvSpPr>
        <p:spPr>
          <a:xfrm>
            <a:off x="667462" y="2996522"/>
            <a:ext cx="359400" cy="2568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>
            <a:noFill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572"/>
          </a:p>
        </p:txBody>
      </p:sp>
      <p:sp>
        <p:nvSpPr>
          <p:cNvPr id="527" name="Google Shape;527;g3c0c338455d_3_219"/>
          <p:cNvSpPr txBox="1"/>
          <p:nvPr/>
        </p:nvSpPr>
        <p:spPr>
          <a:xfrm>
            <a:off x="550650" y="3304624"/>
            <a:ext cx="18897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10" u="none" cap="none" strike="noStrike">
                <a:solidFill>
                  <a:srgbClr val="4285F4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Schedule Agent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28" name="Google Shape;528;g3c0c338455d_3_219"/>
          <p:cNvSpPr txBox="1"/>
          <p:nvPr/>
        </p:nvSpPr>
        <p:spPr>
          <a:xfrm>
            <a:off x="550650" y="3625480"/>
            <a:ext cx="188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7" u="none" cap="none" strike="noStrike">
                <a:solidFill>
                  <a:srgbClr val="1F2A40"/>
                </a:solidFill>
                <a:latin typeface="Roboto"/>
                <a:ea typeface="Roboto"/>
                <a:cs typeface="Roboto"/>
                <a:sym typeface="Roboto"/>
              </a:rPr>
              <a:t>자연어 파싱</a:t>
            </a:r>
            <a:endParaRPr b="1" sz="177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g3c0c338455d_3_219"/>
          <p:cNvSpPr txBox="1"/>
          <p:nvPr/>
        </p:nvSpPr>
        <p:spPr>
          <a:xfrm>
            <a:off x="527559" y="4087499"/>
            <a:ext cx="1889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날짜/시간/참석자 추출</a:t>
            </a:r>
            <a:endParaRPr i="0" sz="1098" u="none" cap="none" strike="noStrike">
              <a:solidFill>
                <a:srgbClr val="445566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8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Spacy 라이브러리 활용</a:t>
            </a:r>
            <a:endParaRPr sz="1098">
              <a:solidFill>
                <a:srgbClr val="445566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30" name="Google Shape;530;g3c0c338455d_3_219"/>
          <p:cNvSpPr txBox="1"/>
          <p:nvPr/>
        </p:nvSpPr>
        <p:spPr>
          <a:xfrm>
            <a:off x="2493042" y="3635682"/>
            <a:ext cx="256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 sz="1572"/>
          </a:p>
        </p:txBody>
      </p:sp>
      <p:sp>
        <p:nvSpPr>
          <p:cNvPr id="531" name="Google Shape;531;g3c0c338455d_3_219"/>
          <p:cNvSpPr/>
          <p:nvPr/>
        </p:nvSpPr>
        <p:spPr>
          <a:xfrm>
            <a:off x="2830625" y="2879725"/>
            <a:ext cx="2054100" cy="1930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427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c0c338455d_3_219"/>
          <p:cNvSpPr/>
          <p:nvPr/>
        </p:nvSpPr>
        <p:spPr>
          <a:xfrm>
            <a:off x="3029585" y="2996522"/>
            <a:ext cx="359400" cy="2568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572"/>
          </a:p>
        </p:txBody>
      </p:sp>
      <p:sp>
        <p:nvSpPr>
          <p:cNvPr id="533" name="Google Shape;533;g3c0c338455d_3_219"/>
          <p:cNvSpPr txBox="1"/>
          <p:nvPr/>
        </p:nvSpPr>
        <p:spPr>
          <a:xfrm>
            <a:off x="2912774" y="3304624"/>
            <a:ext cx="18897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10" u="none" cap="none" strike="noStrike">
                <a:solidFill>
                  <a:srgbClr val="741B47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Google Calendar</a:t>
            </a:r>
            <a:endParaRPr sz="1772">
              <a:solidFill>
                <a:srgbClr val="741B47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34" name="Google Shape;534;g3c0c338455d_3_219"/>
          <p:cNvSpPr txBox="1"/>
          <p:nvPr/>
        </p:nvSpPr>
        <p:spPr>
          <a:xfrm>
            <a:off x="2901229" y="3625480"/>
            <a:ext cx="188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7" u="none" cap="none" strike="noStrike">
                <a:solidFill>
                  <a:srgbClr val="1F2A40"/>
                </a:solidFill>
                <a:latin typeface="Roboto"/>
                <a:ea typeface="Roboto"/>
                <a:cs typeface="Roboto"/>
                <a:sym typeface="Roboto"/>
              </a:rPr>
              <a:t>Calendar 등록</a:t>
            </a:r>
            <a:endParaRPr b="1" sz="177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g3c0c338455d_3_219"/>
          <p:cNvSpPr txBox="1"/>
          <p:nvPr/>
        </p:nvSpPr>
        <p:spPr>
          <a:xfrm>
            <a:off x="2889683" y="4087499"/>
            <a:ext cx="1889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일정 자동 생성</a:t>
            </a:r>
            <a:b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recurrence 지원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36" name="Google Shape;536;g3c0c338455d_3_219"/>
          <p:cNvSpPr txBox="1"/>
          <p:nvPr/>
        </p:nvSpPr>
        <p:spPr>
          <a:xfrm>
            <a:off x="4855166" y="3635682"/>
            <a:ext cx="256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 sz="1572"/>
          </a:p>
        </p:txBody>
      </p:sp>
      <p:sp>
        <p:nvSpPr>
          <p:cNvPr id="537" name="Google Shape;537;g3c0c338455d_3_219"/>
          <p:cNvSpPr/>
          <p:nvPr/>
        </p:nvSpPr>
        <p:spPr>
          <a:xfrm>
            <a:off x="5192725" y="2879725"/>
            <a:ext cx="2054100" cy="1930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42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c0c338455d_3_219"/>
          <p:cNvSpPr/>
          <p:nvPr/>
        </p:nvSpPr>
        <p:spPr>
          <a:xfrm>
            <a:off x="5391708" y="2996522"/>
            <a:ext cx="359400" cy="256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572"/>
          </a:p>
        </p:txBody>
      </p:sp>
      <p:sp>
        <p:nvSpPr>
          <p:cNvPr id="539" name="Google Shape;539;g3c0c338455d_3_219"/>
          <p:cNvSpPr txBox="1"/>
          <p:nvPr/>
        </p:nvSpPr>
        <p:spPr>
          <a:xfrm>
            <a:off x="5274897" y="3304624"/>
            <a:ext cx="18897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10" u="none" cap="none" strike="noStrike">
                <a:solidFill>
                  <a:srgbClr val="00796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Google Meet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40" name="Google Shape;540;g3c0c338455d_3_219"/>
          <p:cNvSpPr txBox="1"/>
          <p:nvPr/>
        </p:nvSpPr>
        <p:spPr>
          <a:xfrm>
            <a:off x="5263351" y="3625480"/>
            <a:ext cx="188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7" u="none" cap="none" strike="noStrike">
                <a:solidFill>
                  <a:srgbClr val="1F2A40"/>
                </a:solidFill>
                <a:latin typeface="Roboto"/>
                <a:ea typeface="Roboto"/>
                <a:cs typeface="Roboto"/>
                <a:sym typeface="Roboto"/>
              </a:rPr>
              <a:t>Meet 링크 생성</a:t>
            </a:r>
            <a:endParaRPr b="1" sz="177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g3c0c338455d_3_219"/>
          <p:cNvSpPr txBox="1"/>
          <p:nvPr/>
        </p:nvSpPr>
        <p:spPr>
          <a:xfrm>
            <a:off x="5251806" y="4087499"/>
            <a:ext cx="1889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화상회의 URL </a:t>
            </a: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자동</a:t>
            </a: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생성</a:t>
            </a:r>
            <a:b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Calendar 이벤트에 첨부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42" name="Google Shape;542;g3c0c338455d_3_219"/>
          <p:cNvSpPr txBox="1"/>
          <p:nvPr/>
        </p:nvSpPr>
        <p:spPr>
          <a:xfrm>
            <a:off x="7217289" y="3635682"/>
            <a:ext cx="256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 sz="1572"/>
          </a:p>
        </p:txBody>
      </p:sp>
      <p:sp>
        <p:nvSpPr>
          <p:cNvPr id="543" name="Google Shape;543;g3c0c338455d_3_219"/>
          <p:cNvSpPr/>
          <p:nvPr/>
        </p:nvSpPr>
        <p:spPr>
          <a:xfrm>
            <a:off x="7554850" y="2879725"/>
            <a:ext cx="2054100" cy="1930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427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3c0c338455d_3_219"/>
          <p:cNvSpPr/>
          <p:nvPr/>
        </p:nvSpPr>
        <p:spPr>
          <a:xfrm>
            <a:off x="7753832" y="2996522"/>
            <a:ext cx="359400" cy="2568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>
            <a:noFill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572"/>
          </a:p>
        </p:txBody>
      </p:sp>
      <p:sp>
        <p:nvSpPr>
          <p:cNvPr id="545" name="Google Shape;545;g3c0c338455d_3_219"/>
          <p:cNvSpPr txBox="1"/>
          <p:nvPr/>
        </p:nvSpPr>
        <p:spPr>
          <a:xfrm>
            <a:off x="7637020" y="3304624"/>
            <a:ext cx="18897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10" u="none" cap="none" strike="noStrike">
                <a:solidFill>
                  <a:srgbClr val="DB4437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Gmail API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46" name="Google Shape;546;g3c0c338455d_3_219"/>
          <p:cNvSpPr txBox="1"/>
          <p:nvPr/>
        </p:nvSpPr>
        <p:spPr>
          <a:xfrm>
            <a:off x="7625475" y="3625480"/>
            <a:ext cx="188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7" u="none" cap="none" strike="noStrike">
                <a:solidFill>
                  <a:srgbClr val="1F2A40"/>
                </a:solidFill>
                <a:latin typeface="Roboto"/>
                <a:ea typeface="Roboto"/>
                <a:cs typeface="Roboto"/>
                <a:sym typeface="Roboto"/>
              </a:rPr>
              <a:t>초대 메일 발송</a:t>
            </a:r>
            <a:endParaRPr b="1" sz="177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g3c0c338455d_3_219"/>
          <p:cNvSpPr txBox="1"/>
          <p:nvPr/>
        </p:nvSpPr>
        <p:spPr>
          <a:xfrm>
            <a:off x="7613935" y="4087500"/>
            <a:ext cx="2054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참석자에게 자동 발송</a:t>
            </a:r>
            <a:b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회의 정보 + Meet 링크 포함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48" name="Google Shape;548;g3c0c338455d_3_219"/>
          <p:cNvSpPr txBox="1"/>
          <p:nvPr/>
        </p:nvSpPr>
        <p:spPr>
          <a:xfrm>
            <a:off x="9579414" y="3635682"/>
            <a:ext cx="256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 sz="1572"/>
          </a:p>
        </p:txBody>
      </p:sp>
      <p:sp>
        <p:nvSpPr>
          <p:cNvPr id="549" name="Google Shape;549;g3c0c338455d_3_219"/>
          <p:cNvSpPr/>
          <p:nvPr/>
        </p:nvSpPr>
        <p:spPr>
          <a:xfrm>
            <a:off x="9916975" y="2879725"/>
            <a:ext cx="2054100" cy="1930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4275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c0c338455d_3_219"/>
          <p:cNvSpPr/>
          <p:nvPr/>
        </p:nvSpPr>
        <p:spPr>
          <a:xfrm>
            <a:off x="10091509" y="2996522"/>
            <a:ext cx="359400" cy="256800"/>
          </a:xfrm>
          <a:prstGeom prst="roundRect">
            <a:avLst>
              <a:gd fmla="val 16667" name="adj"/>
            </a:avLst>
          </a:prstGeom>
          <a:solidFill>
            <a:srgbClr val="7188AA"/>
          </a:solidFill>
          <a:ln>
            <a:noFill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572"/>
          </a:p>
        </p:txBody>
      </p:sp>
      <p:sp>
        <p:nvSpPr>
          <p:cNvPr id="551" name="Google Shape;551;g3c0c338455d_3_219"/>
          <p:cNvSpPr txBox="1"/>
          <p:nvPr/>
        </p:nvSpPr>
        <p:spPr>
          <a:xfrm>
            <a:off x="9999145" y="3304624"/>
            <a:ext cx="18897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10" u="none" cap="none" strike="noStrike">
                <a:solidFill>
                  <a:srgbClr val="7188A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Google Tasks</a:t>
            </a:r>
            <a:endParaRPr sz="1772">
              <a:solidFill>
                <a:srgbClr val="7188A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52" name="Google Shape;552;g3c0c338455d_3_219"/>
          <p:cNvSpPr txBox="1"/>
          <p:nvPr/>
        </p:nvSpPr>
        <p:spPr>
          <a:xfrm>
            <a:off x="9999145" y="3625480"/>
            <a:ext cx="188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7" u="none" cap="none" strike="noStrike">
                <a:solidFill>
                  <a:srgbClr val="1F2A40"/>
                </a:solidFill>
                <a:latin typeface="Roboto"/>
                <a:ea typeface="Roboto"/>
                <a:cs typeface="Roboto"/>
                <a:sym typeface="Roboto"/>
              </a:rPr>
              <a:t>할 일 등록</a:t>
            </a:r>
            <a:endParaRPr b="1" sz="177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g3c0c338455d_3_219"/>
          <p:cNvSpPr txBox="1"/>
          <p:nvPr/>
        </p:nvSpPr>
        <p:spPr>
          <a:xfrm>
            <a:off x="9976054" y="4087499"/>
            <a:ext cx="1889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회의 관련 액션 아이템</a:t>
            </a:r>
            <a:b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Tasks에 자동 등록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54" name="Google Shape;554;g3c0c338455d_3_219"/>
          <p:cNvSpPr txBox="1"/>
          <p:nvPr/>
        </p:nvSpPr>
        <p:spPr>
          <a:xfrm>
            <a:off x="1099065" y="5380239"/>
            <a:ext cx="1024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한 마디 입력  </a:t>
            </a: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r>
              <a:rPr b="1" i="0" lang="en-US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5개 </a:t>
            </a:r>
            <a:r>
              <a:rPr b="1" i="0" lang="en-US" u="none" cap="none" strike="noStrike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rPr>
              <a:t>Google 서비스</a:t>
            </a:r>
            <a:r>
              <a:rPr b="1" i="0" lang="en-US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자동 연쇄 처리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555" name="Google Shape;555;g3c0c338455d_3_2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625" y="1530589"/>
            <a:ext cx="4314825" cy="643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6" name="Google Shape;556;g3c0c338455d_3_2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0980" y="3656861"/>
            <a:ext cx="215704" cy="2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c0c338455d_3_219"/>
          <p:cNvSpPr txBox="1"/>
          <p:nvPr/>
        </p:nvSpPr>
        <p:spPr>
          <a:xfrm>
            <a:off x="1538550" y="1756345"/>
            <a:ext cx="267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"내일 오후 3시 팀 회의 잡아줘"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558" name="Google Shape;558;g3c0c338455d_3_2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3507" y="3671123"/>
            <a:ext cx="256800" cy="228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9" name="Google Shape;559;g3c0c338455d_3_2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94393" y="3656859"/>
            <a:ext cx="256800" cy="2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g3c0c338455d_3_219"/>
          <p:cNvSpPr/>
          <p:nvPr/>
        </p:nvSpPr>
        <p:spPr>
          <a:xfrm>
            <a:off x="4042938" y="5739828"/>
            <a:ext cx="4353600" cy="4155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edium"/>
                <a:ea typeface="Roboto Medium"/>
                <a:cs typeface="Roboto Medium"/>
                <a:sym typeface="Roboto Medium"/>
              </a:rPr>
              <a:t>Google 서비스 API 통합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61" name="Google Shape;561;g3c0c338455d_3_219"/>
          <p:cNvSpPr txBox="1"/>
          <p:nvPr/>
        </p:nvSpPr>
        <p:spPr>
          <a:xfrm>
            <a:off x="775223" y="571500"/>
            <a:ext cx="612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2A40"/>
                </a:solidFill>
                <a:latin typeface="Roboto"/>
                <a:ea typeface="Roboto"/>
                <a:cs typeface="Roboto"/>
                <a:sym typeface="Roboto"/>
              </a:rPr>
              <a:t>Schedule Agent</a:t>
            </a:r>
            <a:r>
              <a:rPr b="1" lang="en-US" sz="2700">
                <a:solidFill>
                  <a:srgbClr val="1F2A40"/>
                </a:solidFill>
                <a:latin typeface="Roboto Black"/>
                <a:ea typeface="Roboto Black"/>
                <a:cs typeface="Roboto Black"/>
                <a:sym typeface="Roboto Black"/>
              </a:rPr>
              <a:t> 연쇄 동작 </a:t>
            </a:r>
            <a:r>
              <a:rPr b="1" lang="en-US" sz="27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플로우</a:t>
            </a:r>
            <a:endParaRPr sz="2700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Google Shape;566;g3c0c338455d_9_27"/>
          <p:cNvGrpSpPr/>
          <p:nvPr/>
        </p:nvGrpSpPr>
        <p:grpSpPr>
          <a:xfrm>
            <a:off x="782709" y="554746"/>
            <a:ext cx="5662992" cy="415500"/>
            <a:chOff x="762000" y="571500"/>
            <a:chExt cx="5662992" cy="415500"/>
          </a:xfrm>
        </p:grpSpPr>
        <p:sp>
          <p:nvSpPr>
            <p:cNvPr id="567" name="Google Shape;567;g3c0c338455d_9_27"/>
            <p:cNvSpPr txBox="1"/>
            <p:nvPr/>
          </p:nvSpPr>
          <p:spPr>
            <a:xfrm>
              <a:off x="2203992" y="625340"/>
              <a:ext cx="4221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000">
                  <a:solidFill>
                    <a:schemeClr val="accen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Schedule</a:t>
              </a:r>
              <a:endParaRPr i="0" sz="7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68" name="Google Shape;568;g3c0c338455d_9_27"/>
            <p:cNvSpPr txBox="1"/>
            <p:nvPr/>
          </p:nvSpPr>
          <p:spPr>
            <a:xfrm>
              <a:off x="762000" y="571500"/>
              <a:ext cx="2500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일정 관리</a:t>
              </a:r>
              <a:endParaRPr i="0" sz="1400" u="none" cap="none" strike="noStrike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sp>
        <p:nvSpPr>
          <p:cNvPr id="569" name="Google Shape;569;g3c0c338455d_9_27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pic>
        <p:nvPicPr>
          <p:cNvPr id="570" name="Google Shape;570;g3c0c338455d_9_27" title="일정추가+메일확인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9400" y="1242400"/>
            <a:ext cx="8993201" cy="545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g3c09b11e3f6_2_5" title="답변-removebg-preview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9750" y="993475"/>
            <a:ext cx="3314024" cy="106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3c09b11e3f6_2_5" title="답변-removebg-preview (5).png"/>
          <p:cNvPicPr preferRelativeResize="0"/>
          <p:nvPr/>
        </p:nvPicPr>
        <p:blipFill rotWithShape="1">
          <a:blip r:embed="rId4">
            <a:alphaModFix/>
          </a:blip>
          <a:srcRect b="41469" l="0" r="0" t="0"/>
          <a:stretch/>
        </p:blipFill>
        <p:spPr>
          <a:xfrm>
            <a:off x="491626" y="1473174"/>
            <a:ext cx="2022650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g3c09b11e3f6_2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7882" y="5978825"/>
            <a:ext cx="8295892" cy="58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g3c09b11e3f6_2_5" title="image-removebg-preview (2).png"/>
          <p:cNvPicPr preferRelativeResize="0"/>
          <p:nvPr/>
        </p:nvPicPr>
        <p:blipFill rotWithShape="1">
          <a:blip r:embed="rId6">
            <a:alphaModFix/>
          </a:blip>
          <a:srcRect b="24854" l="43803" r="3140" t="11790"/>
          <a:stretch/>
        </p:blipFill>
        <p:spPr>
          <a:xfrm>
            <a:off x="10467280" y="5317825"/>
            <a:ext cx="1246495" cy="66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g3c09b11e3f6_2_5"/>
          <p:cNvPicPr preferRelativeResize="0"/>
          <p:nvPr/>
        </p:nvPicPr>
        <p:blipFill rotWithShape="1">
          <a:blip r:embed="rId7">
            <a:alphaModFix/>
          </a:blip>
          <a:srcRect b="0" l="0" r="1874" t="0"/>
          <a:stretch/>
        </p:blipFill>
        <p:spPr>
          <a:xfrm>
            <a:off x="912275" y="2008375"/>
            <a:ext cx="9780326" cy="33094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0" name="Google Shape;580;g3c09b11e3f6_2_5"/>
          <p:cNvGrpSpPr/>
          <p:nvPr/>
        </p:nvGrpSpPr>
        <p:grpSpPr>
          <a:xfrm>
            <a:off x="769454" y="547895"/>
            <a:ext cx="3486394" cy="415500"/>
            <a:chOff x="914400" y="723900"/>
            <a:chExt cx="3486394" cy="415500"/>
          </a:xfrm>
        </p:grpSpPr>
        <p:sp>
          <p:nvSpPr>
            <p:cNvPr id="581" name="Google Shape;581;g3c09b11e3f6_2_5"/>
            <p:cNvSpPr txBox="1"/>
            <p:nvPr/>
          </p:nvSpPr>
          <p:spPr>
            <a:xfrm>
              <a:off x="2317594" y="777743"/>
              <a:ext cx="2083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000">
                  <a:solidFill>
                    <a:schemeClr val="accen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Judgement</a:t>
              </a:r>
              <a:endParaRPr i="0" sz="20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82" name="Google Shape;582;g3c09b11e3f6_2_5"/>
            <p:cNvSpPr txBox="1"/>
            <p:nvPr/>
          </p:nvSpPr>
          <p:spPr>
            <a:xfrm>
              <a:off x="914400" y="723900"/>
              <a:ext cx="2500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규정 판단</a:t>
              </a:r>
              <a:endParaRPr i="0" sz="1400" u="none" cap="none" strike="noStrike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sp>
        <p:nvSpPr>
          <p:cNvPr id="583" name="Google Shape;583;g3c09b11e3f6_2_5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"/>
          <p:cNvSpPr/>
          <p:nvPr/>
        </p:nvSpPr>
        <p:spPr>
          <a:xfrm>
            <a:off x="1304825" y="2800281"/>
            <a:ext cx="9525000" cy="632700"/>
          </a:xfrm>
          <a:prstGeom prst="flowChartAlternateProcess">
            <a:avLst/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6"/>
          <p:cNvSpPr txBox="1"/>
          <p:nvPr/>
        </p:nvSpPr>
        <p:spPr>
          <a:xfrm>
            <a:off x="1904925" y="2984177"/>
            <a:ext cx="876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Layer 1: 키워드 </a:t>
            </a:r>
            <a:r>
              <a:rPr lang="en-US" sz="135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</a:t>
            </a: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Cross-Check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LLM이 "제8조" 등을 인용했을 때, RAG 검색 결과 텍스트</a:t>
            </a:r>
            <a:r>
              <a:rPr lang="en-US" sz="1350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내에  해당 단어가 존재하는지 대조</a:t>
            </a:r>
            <a:endParaRPr i="0" sz="14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90" name="Google Shape;590;p6"/>
          <p:cNvSpPr/>
          <p:nvPr/>
        </p:nvSpPr>
        <p:spPr>
          <a:xfrm>
            <a:off x="1304825" y="3558359"/>
            <a:ext cx="9525000" cy="632700"/>
          </a:xfrm>
          <a:prstGeom prst="flowChartAlternateProcess">
            <a:avLst/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6"/>
          <p:cNvSpPr txBox="1"/>
          <p:nvPr/>
        </p:nvSpPr>
        <p:spPr>
          <a:xfrm>
            <a:off x="1876313" y="3770767"/>
            <a:ext cx="876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Layer 2: 조항 존재 검증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350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RAG 검색으로 가져온 문서 내에서 LLM이 인용한 조항이 실제 존재하는지 텍스트 대조</a:t>
            </a:r>
            <a:endParaRPr i="0" sz="14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92" name="Google Shape;592;p6"/>
          <p:cNvSpPr/>
          <p:nvPr/>
        </p:nvSpPr>
        <p:spPr>
          <a:xfrm>
            <a:off x="1304825" y="4316434"/>
            <a:ext cx="9525000" cy="632700"/>
          </a:xfrm>
          <a:prstGeom prst="flowChartAlternateProcess">
            <a:avLst/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6"/>
          <p:cNvSpPr txBox="1"/>
          <p:nvPr/>
        </p:nvSpPr>
        <p:spPr>
          <a:xfrm>
            <a:off x="1876326" y="4523770"/>
            <a:ext cx="9151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Layer 3: 카테고리 제한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350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판단 결과가 미리 정의된 4가지 (yes / no / conditional / no_regulation) 범주를 벗어나면 자동 Reject</a:t>
            </a:r>
            <a:endParaRPr i="0" sz="14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94" name="Google Shape;594;p6"/>
          <p:cNvSpPr/>
          <p:nvPr/>
        </p:nvSpPr>
        <p:spPr>
          <a:xfrm>
            <a:off x="1333500" y="5074508"/>
            <a:ext cx="9525000" cy="632700"/>
          </a:xfrm>
          <a:prstGeom prst="flowChartAlternateProcess">
            <a:avLst/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6"/>
          <p:cNvSpPr txBox="1"/>
          <p:nvPr/>
        </p:nvSpPr>
        <p:spPr>
          <a:xfrm>
            <a:off x="1886554" y="5278539"/>
            <a:ext cx="876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Layer 4: Confidence 보정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350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</a:t>
            </a:r>
            <a:r>
              <a:rPr i="0" lang="en-US" sz="1350" u="none" cap="none" strike="noStrike">
                <a:solidFill>
                  <a:srgbClr val="2563E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LLM(60%) + RAG 검색점수(25%) + 커버리지(15%)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가중 합산 및 환각 감점 처리</a:t>
            </a:r>
            <a:endParaRPr i="0" sz="14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596" name="Google Shape;5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802" y="29834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7" name="Google Shape;59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9372" y="3748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8" name="Google Shape;59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3659" y="449634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9" name="Google Shape;59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7063" y="525663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601" name="Google Shape;601;p6"/>
          <p:cNvSpPr txBox="1"/>
          <p:nvPr/>
        </p:nvSpPr>
        <p:spPr>
          <a:xfrm>
            <a:off x="827431" y="1230250"/>
            <a:ext cx="1009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7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Hybrid Search (BM25 + Qdrant Vector) RRF 랭킹 합산 Top K 추출   </a:t>
            </a:r>
            <a:endParaRPr sz="2700">
              <a:solidFill>
                <a:schemeClr val="dk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02" name="Google Shape;602;p6"/>
          <p:cNvSpPr txBox="1"/>
          <p:nvPr/>
        </p:nvSpPr>
        <p:spPr>
          <a:xfrm>
            <a:off x="1026735" y="2176006"/>
            <a:ext cx="100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환각 방지 시스템</a:t>
            </a:r>
            <a:endParaRPr b="1" i="0" sz="18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c0c338455d_2_48"/>
          <p:cNvSpPr/>
          <p:nvPr/>
        </p:nvSpPr>
        <p:spPr>
          <a:xfrm>
            <a:off x="4344609" y="6120783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c0c338455d_2_48"/>
          <p:cNvSpPr/>
          <p:nvPr/>
        </p:nvSpPr>
        <p:spPr>
          <a:xfrm>
            <a:off x="4339917" y="5651344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c0c338455d_2_48"/>
          <p:cNvSpPr/>
          <p:nvPr/>
        </p:nvSpPr>
        <p:spPr>
          <a:xfrm>
            <a:off x="5489007" y="6116376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g3c0c338455d_2_48"/>
          <p:cNvSpPr/>
          <p:nvPr/>
        </p:nvSpPr>
        <p:spPr>
          <a:xfrm>
            <a:off x="5489007" y="5647334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g3c0c338455d_2_48"/>
          <p:cNvSpPr/>
          <p:nvPr/>
        </p:nvSpPr>
        <p:spPr>
          <a:xfrm>
            <a:off x="5484107" y="4695464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c0c338455d_2_48"/>
          <p:cNvSpPr/>
          <p:nvPr/>
        </p:nvSpPr>
        <p:spPr>
          <a:xfrm>
            <a:off x="6636947" y="4687089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c0c338455d_2_48"/>
          <p:cNvSpPr/>
          <p:nvPr/>
        </p:nvSpPr>
        <p:spPr>
          <a:xfrm>
            <a:off x="6612747" y="5163376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c0c338455d_2_48"/>
          <p:cNvSpPr/>
          <p:nvPr/>
        </p:nvSpPr>
        <p:spPr>
          <a:xfrm>
            <a:off x="6624472" y="5660411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c0c338455d_2_48"/>
          <p:cNvSpPr/>
          <p:nvPr/>
        </p:nvSpPr>
        <p:spPr>
          <a:xfrm>
            <a:off x="6636955" y="6131491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g3c0c338455d_2_48"/>
          <p:cNvSpPr/>
          <p:nvPr/>
        </p:nvSpPr>
        <p:spPr>
          <a:xfrm>
            <a:off x="5489012" y="5151272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c0c338455d_2_48"/>
          <p:cNvSpPr/>
          <p:nvPr/>
        </p:nvSpPr>
        <p:spPr>
          <a:xfrm>
            <a:off x="6612742" y="5156965"/>
            <a:ext cx="852900" cy="255900"/>
          </a:xfrm>
          <a:prstGeom prst="roundRect">
            <a:avLst>
              <a:gd fmla="val 3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c0c338455d_2_48"/>
          <p:cNvSpPr/>
          <p:nvPr/>
        </p:nvSpPr>
        <p:spPr>
          <a:xfrm>
            <a:off x="4344825" y="6120780"/>
            <a:ext cx="493200" cy="255900"/>
          </a:xfrm>
          <a:prstGeom prst="roundRect">
            <a:avLst>
              <a:gd fmla="val 30000" name="adj"/>
            </a:avLst>
          </a:prstGeom>
          <a:solidFill>
            <a:srgbClr val="CC412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c0c338455d_2_48"/>
          <p:cNvSpPr/>
          <p:nvPr/>
        </p:nvSpPr>
        <p:spPr>
          <a:xfrm>
            <a:off x="6620534" y="4687169"/>
            <a:ext cx="896100" cy="255900"/>
          </a:xfrm>
          <a:prstGeom prst="roundRect">
            <a:avLst>
              <a:gd fmla="val 30000" name="adj"/>
            </a:avLst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c0c338455d_2_48"/>
          <p:cNvSpPr/>
          <p:nvPr/>
        </p:nvSpPr>
        <p:spPr>
          <a:xfrm>
            <a:off x="475802" y="4136798"/>
            <a:ext cx="7315200" cy="456300"/>
          </a:xfrm>
          <a:prstGeom prst="flowChartAlternateProcess">
            <a:avLst/>
          </a:prstGeom>
          <a:solidFill>
            <a:srgbClr val="FFF2CC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g3c0c338455d_2_48"/>
          <p:cNvSpPr/>
          <p:nvPr/>
        </p:nvSpPr>
        <p:spPr>
          <a:xfrm>
            <a:off x="4342884" y="4230780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3c0c338455d_2_48"/>
          <p:cNvSpPr txBox="1"/>
          <p:nvPr/>
        </p:nvSpPr>
        <p:spPr>
          <a:xfrm>
            <a:off x="786771" y="1103150"/>
            <a:ext cx="454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i="0" lang="en-US" sz="16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개 시나리오 x </a:t>
            </a:r>
            <a:r>
              <a:rPr b="1" lang="en-US" sz="16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i="0" lang="en-US" sz="16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개 가중치 조합 = </a:t>
            </a:r>
            <a:r>
              <a:rPr b="1" lang="en-US" sz="16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25</a:t>
            </a:r>
            <a:r>
              <a:rPr b="1" i="0" lang="en-US" sz="16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개 실험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g3c0c338455d_2_48"/>
          <p:cNvSpPr txBox="1"/>
          <p:nvPr/>
        </p:nvSpPr>
        <p:spPr>
          <a:xfrm>
            <a:off x="502465" y="3355653"/>
            <a:ext cx="3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가중치 조합별 종합 순위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g3c0c338455d_2_48"/>
          <p:cNvSpPr txBox="1"/>
          <p:nvPr/>
        </p:nvSpPr>
        <p:spPr>
          <a:xfrm>
            <a:off x="502465" y="3812853"/>
            <a:ext cx="54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순위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g3c0c338455d_2_48"/>
          <p:cNvSpPr txBox="1"/>
          <p:nvPr/>
        </p:nvSpPr>
        <p:spPr>
          <a:xfrm>
            <a:off x="1142549" y="3812850"/>
            <a:ext cx="2525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가중치 조합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g3c0c338455d_2_48"/>
          <p:cNvSpPr txBox="1"/>
          <p:nvPr/>
        </p:nvSpPr>
        <p:spPr>
          <a:xfrm>
            <a:off x="4342945" y="3812853"/>
            <a:ext cx="100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방향 정확도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g3c0c338455d_2_48"/>
          <p:cNvSpPr txBox="1"/>
          <p:nvPr/>
        </p:nvSpPr>
        <p:spPr>
          <a:xfrm>
            <a:off x="5476168" y="3812853"/>
            <a:ext cx="100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범위 적합도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g3c0c338455d_2_48"/>
          <p:cNvSpPr txBox="1"/>
          <p:nvPr/>
        </p:nvSpPr>
        <p:spPr>
          <a:xfrm>
            <a:off x="6658814" y="3812853"/>
            <a:ext cx="914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종합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g3c0c338455d_2_48"/>
          <p:cNvSpPr txBox="1"/>
          <p:nvPr/>
        </p:nvSpPr>
        <p:spPr>
          <a:xfrm>
            <a:off x="502465" y="4196901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g3c0c338455d_2_48"/>
          <p:cNvSpPr txBox="1"/>
          <p:nvPr/>
        </p:nvSpPr>
        <p:spPr>
          <a:xfrm>
            <a:off x="1129325" y="4222337"/>
            <a:ext cx="296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60% + RAG 25% + Cov 15% </a:t>
            </a:r>
            <a:r>
              <a:rPr b="1" i="0" lang="en-US" sz="1300" u="none" cap="none" strike="noStrike">
                <a:solidFill>
                  <a:srgbClr val="ED7D31"/>
                </a:solidFill>
                <a:latin typeface="Roboto"/>
                <a:ea typeface="Roboto"/>
                <a:cs typeface="Roboto"/>
                <a:sym typeface="Roboto"/>
              </a:rPr>
              <a:t>★</a:t>
            </a:r>
            <a:endParaRPr b="1">
              <a:solidFill>
                <a:srgbClr val="ED7D3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g3c0c338455d_2_48"/>
          <p:cNvSpPr txBox="1"/>
          <p:nvPr/>
        </p:nvSpPr>
        <p:spPr>
          <a:xfrm>
            <a:off x="5476168" y="4201394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g3c0c338455d_2_48"/>
          <p:cNvSpPr txBox="1"/>
          <p:nvPr/>
        </p:nvSpPr>
        <p:spPr>
          <a:xfrm>
            <a:off x="6658814" y="4201394"/>
            <a:ext cx="9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g3c0c338455d_2_48"/>
          <p:cNvSpPr txBox="1"/>
          <p:nvPr/>
        </p:nvSpPr>
        <p:spPr>
          <a:xfrm>
            <a:off x="502465" y="4684094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g3c0c338455d_2_48"/>
          <p:cNvSpPr txBox="1"/>
          <p:nvPr/>
        </p:nvSpPr>
        <p:spPr>
          <a:xfrm>
            <a:off x="1142549" y="4697325"/>
            <a:ext cx="250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40% + RAG 40% + Cov 20%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g3c0c338455d_2_48"/>
          <p:cNvSpPr txBox="1"/>
          <p:nvPr/>
        </p:nvSpPr>
        <p:spPr>
          <a:xfrm>
            <a:off x="502465" y="5159582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g3c0c338455d_2_48"/>
          <p:cNvSpPr txBox="1"/>
          <p:nvPr/>
        </p:nvSpPr>
        <p:spPr>
          <a:xfrm>
            <a:off x="1142545" y="5172811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80% + RAG 15% + Cov 5%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g3c0c338455d_2_48"/>
          <p:cNvSpPr txBox="1"/>
          <p:nvPr/>
        </p:nvSpPr>
        <p:spPr>
          <a:xfrm>
            <a:off x="502465" y="563507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g3c0c338455d_2_48"/>
          <p:cNvSpPr txBox="1"/>
          <p:nvPr/>
        </p:nvSpPr>
        <p:spPr>
          <a:xfrm>
            <a:off x="1142545" y="5648299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33% + RAG 33% + Cov 34%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g3c0c338455d_2_48"/>
          <p:cNvSpPr txBox="1"/>
          <p:nvPr/>
        </p:nvSpPr>
        <p:spPr>
          <a:xfrm>
            <a:off x="502465" y="6110558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g3c0c338455d_2_48"/>
          <p:cNvSpPr txBox="1"/>
          <p:nvPr/>
        </p:nvSpPr>
        <p:spPr>
          <a:xfrm>
            <a:off x="1142545" y="6123787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100% (보정 없음)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g3c0c338455d_2_48"/>
          <p:cNvSpPr txBox="1"/>
          <p:nvPr/>
        </p:nvSpPr>
        <p:spPr>
          <a:xfrm>
            <a:off x="7982903" y="1252537"/>
            <a:ext cx="3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핵심 인사이트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g3c0c338455d_2_48"/>
          <p:cNvSpPr/>
          <p:nvPr/>
        </p:nvSpPr>
        <p:spPr>
          <a:xfrm>
            <a:off x="7982903" y="1709737"/>
            <a:ext cx="3840600" cy="1463100"/>
          </a:xfrm>
          <a:prstGeom prst="flowChartAlternateProcess">
            <a:avLst/>
          </a:prstGeom>
          <a:solidFill>
            <a:srgbClr val="FFFFFF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g3c0c338455d_2_48"/>
          <p:cNvSpPr txBox="1"/>
          <p:nvPr/>
        </p:nvSpPr>
        <p:spPr>
          <a:xfrm>
            <a:off x="8257223" y="1801177"/>
            <a:ext cx="329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60/25/15</a:t>
            </a: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가 유일한 만점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g3c0c338455d_2_48"/>
          <p:cNvSpPr txBox="1"/>
          <p:nvPr/>
        </p:nvSpPr>
        <p:spPr>
          <a:xfrm>
            <a:off x="8257223" y="2018421"/>
            <a:ext cx="3291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100" u="none" cap="none" strike="noStrike">
                <a:solidFill>
                  <a:schemeClr val="accent3"/>
                </a:solidFill>
                <a:latin typeface="Roboto Black"/>
                <a:ea typeface="Roboto Black"/>
                <a:cs typeface="Roboto Black"/>
                <a:sym typeface="Roboto Black"/>
              </a:rPr>
              <a:t>10</a:t>
            </a:r>
            <a:r>
              <a:rPr lang="en-US" sz="4100">
                <a:solidFill>
                  <a:schemeClr val="accent3"/>
                </a:solidFill>
                <a:latin typeface="Roboto Black"/>
                <a:ea typeface="Roboto Black"/>
                <a:cs typeface="Roboto Black"/>
                <a:sym typeface="Roboto Black"/>
              </a:rPr>
              <a:t>0</a:t>
            </a:r>
            <a:r>
              <a:rPr i="0" lang="en-US" sz="4100" u="none" cap="none" strike="noStrike">
                <a:solidFill>
                  <a:schemeClr val="accent3"/>
                </a:solidFill>
                <a:latin typeface="Roboto Black"/>
                <a:ea typeface="Roboto Black"/>
                <a:cs typeface="Roboto Black"/>
                <a:sym typeface="Roboto Black"/>
              </a:rPr>
              <a:t>%</a:t>
            </a:r>
            <a:endParaRPr sz="1300">
              <a:solidFill>
                <a:schemeClr val="accent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45" name="Google Shape;645;g3c0c338455d_2_48"/>
          <p:cNvSpPr txBox="1"/>
          <p:nvPr/>
        </p:nvSpPr>
        <p:spPr>
          <a:xfrm>
            <a:off x="8257223" y="2656837"/>
            <a:ext cx="32919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방향 정확도 100% + 범위 적합도 100%</a:t>
            </a:r>
            <a:b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개 시나리오 모두 기대 범위 내 보정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g3c0c338455d_2_48"/>
          <p:cNvSpPr/>
          <p:nvPr/>
        </p:nvSpPr>
        <p:spPr>
          <a:xfrm>
            <a:off x="7982903" y="3355657"/>
            <a:ext cx="3840600" cy="1280100"/>
          </a:xfrm>
          <a:prstGeom prst="flowChartAlternateProcess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g3c0c338455d_2_48"/>
          <p:cNvSpPr txBox="1"/>
          <p:nvPr/>
        </p:nvSpPr>
        <p:spPr>
          <a:xfrm>
            <a:off x="8257223" y="3447097"/>
            <a:ext cx="329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100% 신뢰 시 위험성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g3c0c338455d_2_48"/>
          <p:cNvSpPr txBox="1"/>
          <p:nvPr/>
        </p:nvSpPr>
        <p:spPr>
          <a:xfrm>
            <a:off x="8257223" y="3703319"/>
            <a:ext cx="109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chemeClr val="accent2"/>
                </a:solidFill>
                <a:latin typeface="Roboto Black"/>
                <a:ea typeface="Roboto Black"/>
                <a:cs typeface="Roboto Black"/>
                <a:sym typeface="Roboto Black"/>
              </a:rPr>
              <a:t>55%</a:t>
            </a:r>
            <a:endParaRPr>
              <a:solidFill>
                <a:schemeClr val="accen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49" name="Google Shape;649;g3c0c338455d_2_48"/>
          <p:cNvSpPr txBox="1"/>
          <p:nvPr/>
        </p:nvSpPr>
        <p:spPr>
          <a:xfrm>
            <a:off x="8257223" y="4275050"/>
            <a:ext cx="109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LLM 100%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g3c0c338455d_2_48"/>
          <p:cNvSpPr txBox="1"/>
          <p:nvPr/>
        </p:nvSpPr>
        <p:spPr>
          <a:xfrm>
            <a:off x="9445943" y="3784664"/>
            <a:ext cx="54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D97706"/>
                </a:solidFill>
                <a:latin typeface="Roboto Black"/>
                <a:ea typeface="Roboto Black"/>
                <a:cs typeface="Roboto Black"/>
                <a:sym typeface="Roboto Black"/>
              </a:rPr>
              <a:t>→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51" name="Google Shape;651;g3c0c338455d_2_48"/>
          <p:cNvSpPr txBox="1"/>
          <p:nvPr/>
        </p:nvSpPr>
        <p:spPr>
          <a:xfrm>
            <a:off x="10086009" y="3703330"/>
            <a:ext cx="1463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chemeClr val="accent3"/>
                </a:solidFill>
                <a:latin typeface="Roboto Black"/>
                <a:ea typeface="Roboto Black"/>
                <a:cs typeface="Roboto Black"/>
                <a:sym typeface="Roboto Black"/>
              </a:rPr>
              <a:t>100%</a:t>
            </a:r>
            <a:endParaRPr>
              <a:solidFill>
                <a:schemeClr val="accent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52" name="Google Shape;652;g3c0c338455d_2_48"/>
          <p:cNvSpPr txBox="1"/>
          <p:nvPr/>
        </p:nvSpPr>
        <p:spPr>
          <a:xfrm>
            <a:off x="10244772" y="4262839"/>
            <a:ext cx="109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60/25/15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g3c0c338455d_2_48"/>
          <p:cNvSpPr/>
          <p:nvPr/>
        </p:nvSpPr>
        <p:spPr>
          <a:xfrm>
            <a:off x="7982903" y="4818697"/>
            <a:ext cx="3840600" cy="1371600"/>
          </a:xfrm>
          <a:prstGeom prst="flowChartAlternateProcess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g3c0c338455d_2_48"/>
          <p:cNvSpPr txBox="1"/>
          <p:nvPr/>
        </p:nvSpPr>
        <p:spPr>
          <a:xfrm>
            <a:off x="8257223" y="4910137"/>
            <a:ext cx="329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균등 배분(33/33/34)의 문제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g3c0c338455d_2_48"/>
          <p:cNvSpPr txBox="1"/>
          <p:nvPr/>
        </p:nvSpPr>
        <p:spPr>
          <a:xfrm>
            <a:off x="8191077" y="5249439"/>
            <a:ext cx="13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방향 90%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56" name="Google Shape;656;g3c0c338455d_2_48"/>
          <p:cNvSpPr txBox="1"/>
          <p:nvPr/>
        </p:nvSpPr>
        <p:spPr>
          <a:xfrm>
            <a:off x="9654117" y="5249439"/>
            <a:ext cx="13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334055"/>
                </a:solidFill>
                <a:latin typeface="Roboto Black"/>
                <a:ea typeface="Roboto Black"/>
                <a:cs typeface="Roboto Black"/>
                <a:sym typeface="Roboto Black"/>
              </a:rPr>
              <a:t>범위 </a:t>
            </a:r>
            <a:r>
              <a:rPr i="0" lang="en-US" sz="2000" u="none" cap="none" strike="noStrike">
                <a:solidFill>
                  <a:srgbClr val="334055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80%</a:t>
            </a:r>
            <a:endParaRPr>
              <a:solidFill>
                <a:srgbClr val="334055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657" name="Google Shape;657;g3c0c338455d_2_48"/>
          <p:cNvSpPr txBox="1"/>
          <p:nvPr/>
        </p:nvSpPr>
        <p:spPr>
          <a:xfrm>
            <a:off x="8257223" y="5689042"/>
            <a:ext cx="32919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LLM 비중이 낮으면 '중간 조건'에서</a:t>
            </a:r>
            <a:b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과도한 상향 보정 발생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g3c0c338455d_2_48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659" name="Google Shape;659;g3c0c338455d_2_48"/>
          <p:cNvSpPr/>
          <p:nvPr/>
        </p:nvSpPr>
        <p:spPr>
          <a:xfrm>
            <a:off x="5462911" y="4236732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g3c0c338455d_2_48"/>
          <p:cNvSpPr/>
          <p:nvPr/>
        </p:nvSpPr>
        <p:spPr>
          <a:xfrm>
            <a:off x="6613068" y="4236732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g3c0c338455d_2_48"/>
          <p:cNvSpPr txBox="1"/>
          <p:nvPr/>
        </p:nvSpPr>
        <p:spPr>
          <a:xfrm>
            <a:off x="4205400" y="4173318"/>
            <a:ext cx="12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g3c0c338455d_2_48"/>
          <p:cNvSpPr txBox="1"/>
          <p:nvPr/>
        </p:nvSpPr>
        <p:spPr>
          <a:xfrm>
            <a:off x="6462909" y="4177798"/>
            <a:ext cx="12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g3c0c338455d_2_48"/>
          <p:cNvSpPr txBox="1"/>
          <p:nvPr/>
        </p:nvSpPr>
        <p:spPr>
          <a:xfrm>
            <a:off x="5433973" y="4224011"/>
            <a:ext cx="109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g3c0c338455d_2_48"/>
          <p:cNvSpPr txBox="1"/>
          <p:nvPr/>
        </p:nvSpPr>
        <p:spPr>
          <a:xfrm>
            <a:off x="641819" y="501882"/>
            <a:ext cx="731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Confidence 가중치 </a:t>
            </a:r>
            <a:r>
              <a:rPr b="1" i="0" lang="en-US" sz="2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Ablation Study</a:t>
            </a:r>
            <a:endParaRPr b="1" sz="2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g3c0c338455d_2_48"/>
          <p:cNvSpPr/>
          <p:nvPr/>
        </p:nvSpPr>
        <p:spPr>
          <a:xfrm>
            <a:off x="4342967" y="4676093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c0c338455d_2_48"/>
          <p:cNvSpPr txBox="1"/>
          <p:nvPr/>
        </p:nvSpPr>
        <p:spPr>
          <a:xfrm>
            <a:off x="4205400" y="4611018"/>
            <a:ext cx="12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g3c0c338455d_2_48"/>
          <p:cNvSpPr/>
          <p:nvPr/>
        </p:nvSpPr>
        <p:spPr>
          <a:xfrm>
            <a:off x="4336101" y="5148505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g3c0c338455d_2_48"/>
          <p:cNvSpPr txBox="1"/>
          <p:nvPr/>
        </p:nvSpPr>
        <p:spPr>
          <a:xfrm>
            <a:off x="4198533" y="5083430"/>
            <a:ext cx="12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g3c0c338455d_2_48"/>
          <p:cNvSpPr/>
          <p:nvPr/>
        </p:nvSpPr>
        <p:spPr>
          <a:xfrm>
            <a:off x="5476343" y="4693882"/>
            <a:ext cx="887100" cy="255900"/>
          </a:xfrm>
          <a:prstGeom prst="roundRect">
            <a:avLst>
              <a:gd fmla="val 30000" name="adj"/>
            </a:avLst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g3c0c338455d_2_48"/>
          <p:cNvSpPr txBox="1"/>
          <p:nvPr/>
        </p:nvSpPr>
        <p:spPr>
          <a:xfrm>
            <a:off x="6738184" y="4675369"/>
            <a:ext cx="73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95.0%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g3c0c338455d_2_48"/>
          <p:cNvSpPr txBox="1"/>
          <p:nvPr/>
        </p:nvSpPr>
        <p:spPr>
          <a:xfrm>
            <a:off x="4237112" y="5648299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g3c0c338455d_2_48"/>
          <p:cNvSpPr/>
          <p:nvPr/>
        </p:nvSpPr>
        <p:spPr>
          <a:xfrm>
            <a:off x="4341875" y="5651380"/>
            <a:ext cx="914400" cy="255900"/>
          </a:xfrm>
          <a:prstGeom prst="roundRect">
            <a:avLst>
              <a:gd fmla="val 30000" name="adj"/>
            </a:avLst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g3c0c338455d_2_48"/>
          <p:cNvSpPr txBox="1"/>
          <p:nvPr/>
        </p:nvSpPr>
        <p:spPr>
          <a:xfrm>
            <a:off x="4328471" y="5632857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g3c0c338455d_2_48"/>
          <p:cNvSpPr/>
          <p:nvPr/>
        </p:nvSpPr>
        <p:spPr>
          <a:xfrm>
            <a:off x="5489010" y="5153494"/>
            <a:ext cx="771600" cy="255900"/>
          </a:xfrm>
          <a:prstGeom prst="roundRect">
            <a:avLst>
              <a:gd fmla="val 30000" name="adj"/>
            </a:avLst>
          </a:prstGeom>
          <a:solidFill>
            <a:srgbClr val="CC412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g3c0c338455d_2_48"/>
          <p:cNvSpPr txBox="1"/>
          <p:nvPr/>
        </p:nvSpPr>
        <p:spPr>
          <a:xfrm>
            <a:off x="5449710" y="5137617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g3c0c338455d_2_48"/>
          <p:cNvSpPr/>
          <p:nvPr/>
        </p:nvSpPr>
        <p:spPr>
          <a:xfrm>
            <a:off x="5479293" y="6115069"/>
            <a:ext cx="685200" cy="255900"/>
          </a:xfrm>
          <a:prstGeom prst="roundRect">
            <a:avLst>
              <a:gd fmla="val 30000" name="adj"/>
            </a:avLst>
          </a:prstGeom>
          <a:solidFill>
            <a:srgbClr val="CC412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3c0c338455d_2_48"/>
          <p:cNvSpPr txBox="1"/>
          <p:nvPr/>
        </p:nvSpPr>
        <p:spPr>
          <a:xfrm>
            <a:off x="5423252" y="6101822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g3c0c338455d_2_48"/>
          <p:cNvSpPr txBox="1"/>
          <p:nvPr/>
        </p:nvSpPr>
        <p:spPr>
          <a:xfrm>
            <a:off x="4296120" y="6103112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g3c0c338455d_2_48"/>
          <p:cNvSpPr/>
          <p:nvPr/>
        </p:nvSpPr>
        <p:spPr>
          <a:xfrm>
            <a:off x="6640146" y="6127794"/>
            <a:ext cx="548700" cy="255900"/>
          </a:xfrm>
          <a:prstGeom prst="roundRect">
            <a:avLst>
              <a:gd fmla="val 30000" name="adj"/>
            </a:avLst>
          </a:prstGeom>
          <a:solidFill>
            <a:srgbClr val="CC412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g3c0c338455d_2_48"/>
          <p:cNvSpPr/>
          <p:nvPr/>
        </p:nvSpPr>
        <p:spPr>
          <a:xfrm>
            <a:off x="5479285" y="5645669"/>
            <a:ext cx="822900" cy="255900"/>
          </a:xfrm>
          <a:prstGeom prst="roundRect">
            <a:avLst>
              <a:gd fmla="val 3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g3c0c338455d_2_48"/>
          <p:cNvSpPr txBox="1"/>
          <p:nvPr/>
        </p:nvSpPr>
        <p:spPr>
          <a:xfrm>
            <a:off x="6645585" y="5639563"/>
            <a:ext cx="9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85.0%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g3c0c338455d_2_48"/>
          <p:cNvSpPr txBox="1"/>
          <p:nvPr/>
        </p:nvSpPr>
        <p:spPr>
          <a:xfrm>
            <a:off x="6648131" y="5137421"/>
            <a:ext cx="9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85.0%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g3c0c338455d_2_48"/>
          <p:cNvSpPr txBox="1"/>
          <p:nvPr/>
        </p:nvSpPr>
        <p:spPr>
          <a:xfrm>
            <a:off x="5463756" y="5636509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g3c0c338455d_2_48"/>
          <p:cNvSpPr/>
          <p:nvPr/>
        </p:nvSpPr>
        <p:spPr>
          <a:xfrm>
            <a:off x="6614305" y="5658548"/>
            <a:ext cx="822900" cy="255900"/>
          </a:xfrm>
          <a:prstGeom prst="roundRect">
            <a:avLst>
              <a:gd fmla="val 3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g3c0c338455d_2_48"/>
          <p:cNvSpPr txBox="1"/>
          <p:nvPr/>
        </p:nvSpPr>
        <p:spPr>
          <a:xfrm>
            <a:off x="6648468" y="5646079"/>
            <a:ext cx="9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85.0%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g3c0c338455d_2_48"/>
          <p:cNvSpPr txBox="1"/>
          <p:nvPr/>
        </p:nvSpPr>
        <p:spPr>
          <a:xfrm>
            <a:off x="5582177" y="4684340"/>
            <a:ext cx="73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7" name="Google Shape;687;g3c0c338455d_2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488" y="1535239"/>
            <a:ext cx="7516375" cy="1751447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g3c0c338455d_2_48"/>
          <p:cNvSpPr txBox="1"/>
          <p:nvPr/>
        </p:nvSpPr>
        <p:spPr>
          <a:xfrm>
            <a:off x="6698501" y="6101822"/>
            <a:ext cx="9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55.0%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c0c338455d_2_128"/>
          <p:cNvSpPr txBox="1"/>
          <p:nvPr/>
        </p:nvSpPr>
        <p:spPr>
          <a:xfrm>
            <a:off x="693586" y="481385"/>
            <a:ext cx="822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00" u="none" cap="none" strike="noStrike">
                <a:solidFill>
                  <a:schemeClr val="dk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60</a:t>
            </a:r>
            <a:r>
              <a:rPr i="0" lang="en-US" sz="2700" u="none" cap="none" strike="noStrike">
                <a:solidFill>
                  <a:schemeClr val="dk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/</a:t>
            </a:r>
            <a:r>
              <a:rPr i="0" lang="en-US" sz="2700" u="none" cap="none" strike="noStrike">
                <a:solidFill>
                  <a:schemeClr val="dk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25/15</a:t>
            </a:r>
            <a:r>
              <a:rPr i="0" lang="en-US" sz="2700" u="none" cap="none" strike="noStrike">
                <a:solidFill>
                  <a:srgbClr val="2D58B8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i="0" lang="en-US" sz="2700" u="none" cap="none" strike="noStrike">
                <a:solidFill>
                  <a:srgbClr val="1E293B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가중치 설계 근거</a:t>
            </a:r>
            <a:endParaRPr sz="27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694" name="Google Shape;694;g3c0c338455d_2_128"/>
          <p:cNvSpPr txBox="1"/>
          <p:nvPr/>
        </p:nvSpPr>
        <p:spPr>
          <a:xfrm>
            <a:off x="764787" y="1012250"/>
            <a:ext cx="7881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3775" lIns="87550" spcFirstLastPara="1" rIns="87550" wrap="square" tIns="43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각 가중치는 벤치마크 데이터, </a:t>
            </a:r>
            <a:r>
              <a:rPr i="0" lang="en-US" sz="134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E2E</a:t>
            </a:r>
            <a:r>
              <a:rPr b="1" i="0" lang="en-US" sz="134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실험, </a:t>
            </a:r>
            <a:r>
              <a:rPr i="0" lang="en-US" sz="1340" u="none" cap="none" strike="noStrike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rPr>
              <a:t>Ablation Study</a:t>
            </a:r>
            <a:r>
              <a:rPr b="1" i="0" lang="en-US" sz="134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에 기반합니다</a:t>
            </a:r>
            <a:endParaRPr b="1" sz="1149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g3c0c338455d_2_128"/>
          <p:cNvSpPr/>
          <p:nvPr/>
        </p:nvSpPr>
        <p:spPr>
          <a:xfrm>
            <a:off x="887347" y="1441894"/>
            <a:ext cx="3296400" cy="4479300"/>
          </a:xfrm>
          <a:prstGeom prst="rect">
            <a:avLst/>
          </a:prstGeom>
          <a:solidFill>
            <a:srgbClr val="FFFFFF"/>
          </a:solidFill>
          <a:ln cap="flat" cmpd="sng" w="176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36972" rotWithShape="0" dir="5400000" dist="21259">
              <a:srgbClr val="000000">
                <a:alpha val="34900"/>
              </a:srgbClr>
            </a:outerShdw>
          </a:effectLst>
        </p:spPr>
        <p:txBody>
          <a:bodyPr anchorCtr="0" anchor="ctr" bIns="42225" lIns="84500" spcFirstLastPara="1" rIns="84500" wrap="square" tIns="4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6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g3c0c338455d_2_128"/>
          <p:cNvSpPr txBox="1"/>
          <p:nvPr/>
        </p:nvSpPr>
        <p:spPr>
          <a:xfrm>
            <a:off x="1030055" y="1465352"/>
            <a:ext cx="19605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6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60%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g3c0c338455d_2_128"/>
          <p:cNvSpPr txBox="1"/>
          <p:nvPr/>
        </p:nvSpPr>
        <p:spPr>
          <a:xfrm>
            <a:off x="1052908" y="2087216"/>
            <a:ext cx="16902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3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LLM 판단값</a:t>
            </a:r>
            <a:endParaRPr b="1" sz="1294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g3c0c338455d_2_128"/>
          <p:cNvSpPr/>
          <p:nvPr/>
        </p:nvSpPr>
        <p:spPr>
          <a:xfrm>
            <a:off x="1014125" y="2456115"/>
            <a:ext cx="3042600" cy="1309800"/>
          </a:xfrm>
          <a:prstGeom prst="flowChartAlternateProcess">
            <a:avLst/>
          </a:prstGeom>
          <a:solidFill>
            <a:srgbClr val="DBEAFE"/>
          </a:solidFill>
          <a:ln>
            <a:noFill/>
          </a:ln>
          <a:effectLst>
            <a:outerShdw blurRad="36972" rotWithShape="0" dir="5400000" dist="21259">
              <a:srgbClr val="000000">
                <a:alpha val="34900"/>
              </a:srgbClr>
            </a:outerShdw>
          </a:effectLst>
        </p:spPr>
        <p:txBody>
          <a:bodyPr anchorCtr="0" anchor="ctr" bIns="42225" lIns="84500" spcFirstLastPara="1" rIns="84500" wrap="square" tIns="4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6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g3c0c338455d_2_128"/>
          <p:cNvSpPr txBox="1"/>
          <p:nvPr/>
        </p:nvSpPr>
        <p:spPr>
          <a:xfrm>
            <a:off x="1068398" y="2529447"/>
            <a:ext cx="2788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근거: 벤치마크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g3c0c338455d_2_128"/>
          <p:cNvSpPr txBox="1"/>
          <p:nvPr/>
        </p:nvSpPr>
        <p:spPr>
          <a:xfrm>
            <a:off x="1058040" y="2703124"/>
            <a:ext cx="27888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88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66.7%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g3c0c338455d_2_128"/>
          <p:cNvSpPr txBox="1"/>
          <p:nvPr/>
        </p:nvSpPr>
        <p:spPr>
          <a:xfrm>
            <a:off x="1089113" y="3173692"/>
            <a:ext cx="27888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베이스 모델 판단 정확도</a:t>
            </a:r>
            <a:b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87개 테스트셋 기준</a:t>
            </a:r>
            <a:b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3번 중 1번은 오답 → 100% 신뢰 불가</a:t>
            </a:r>
            <a:endParaRPr sz="129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02" name="Google Shape;702;g3c0c338455d_2_128"/>
          <p:cNvSpPr txBox="1"/>
          <p:nvPr/>
        </p:nvSpPr>
        <p:spPr>
          <a:xfrm>
            <a:off x="1098643" y="3930703"/>
            <a:ext cx="2788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6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Ablation: LLM 100%의 문제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g3c0c338455d_2_128"/>
          <p:cNvSpPr txBox="1"/>
          <p:nvPr/>
        </p:nvSpPr>
        <p:spPr>
          <a:xfrm>
            <a:off x="1140901" y="4184259"/>
            <a:ext cx="1352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LLM 과신 (raw 0.95)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g3c0c338455d_2_128"/>
          <p:cNvSpPr txBox="1"/>
          <p:nvPr/>
        </p:nvSpPr>
        <p:spPr>
          <a:xfrm>
            <a:off x="2493197" y="4184259"/>
            <a:ext cx="1436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0.95 그대로 (보정 실패)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g3c0c338455d_2_128"/>
          <p:cNvSpPr txBox="1"/>
          <p:nvPr/>
        </p:nvSpPr>
        <p:spPr>
          <a:xfrm>
            <a:off x="1140901" y="4454717"/>
            <a:ext cx="1352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보수적 LLM (raw 0.50)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g3c0c338455d_2_128"/>
          <p:cNvSpPr txBox="1"/>
          <p:nvPr/>
        </p:nvSpPr>
        <p:spPr>
          <a:xfrm>
            <a:off x="2493197" y="4454717"/>
            <a:ext cx="1436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0.50 그대로 (보완 실패)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g3c0c338455d_2_128"/>
          <p:cNvSpPr txBox="1"/>
          <p:nvPr/>
        </p:nvSpPr>
        <p:spPr>
          <a:xfrm>
            <a:off x="1140901" y="4725176"/>
            <a:ext cx="1352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종합 점수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g3c0c338455d_2_128"/>
          <p:cNvSpPr txBox="1"/>
          <p:nvPr/>
        </p:nvSpPr>
        <p:spPr>
          <a:xfrm>
            <a:off x="2493197" y="4725176"/>
            <a:ext cx="1436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55.0% (최하위)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g3c0c338455d_2_128"/>
          <p:cNvSpPr/>
          <p:nvPr/>
        </p:nvSpPr>
        <p:spPr>
          <a:xfrm>
            <a:off x="1014125" y="5082835"/>
            <a:ext cx="3042600" cy="718500"/>
          </a:xfrm>
          <a:prstGeom prst="flowChartAlternateProcess">
            <a:avLst/>
          </a:prstGeom>
          <a:solidFill>
            <a:srgbClr val="DBEAFE"/>
          </a:solidFill>
          <a:ln>
            <a:noFill/>
          </a:ln>
          <a:effectLst>
            <a:outerShdw blurRad="36972" rotWithShape="0" dir="5400000" dist="21259">
              <a:srgbClr val="000000">
                <a:alpha val="34900"/>
              </a:srgbClr>
            </a:outerShdw>
          </a:effectLst>
        </p:spPr>
        <p:txBody>
          <a:bodyPr anchorCtr="0" anchor="ctr" bIns="42225" lIns="84500" spcFirstLastPara="1" rIns="84500" wrap="square" tIns="4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63" u="none" cap="none" strike="noStrike">
              <a:solidFill>
                <a:srgbClr val="000000"/>
              </a:solidFill>
              <a:highlight>
                <a:srgbClr val="60A5FA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g3c0c338455d_2_128"/>
          <p:cNvSpPr txBox="1"/>
          <p:nvPr/>
        </p:nvSpPr>
        <p:spPr>
          <a:xfrm>
            <a:off x="1140901" y="5248396"/>
            <a:ext cx="278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6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과반(60%)은 배분하되, 지배적이지 않게</a:t>
            </a:r>
            <a:br>
              <a:rPr i="0" lang="en-US" sz="1016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16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LLM이 아무리 과신해도 최대 기여 = 0.6</a:t>
            </a:r>
            <a:endParaRPr sz="129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11" name="Google Shape;711;g3c0c338455d_2_128"/>
          <p:cNvSpPr/>
          <p:nvPr/>
        </p:nvSpPr>
        <p:spPr>
          <a:xfrm>
            <a:off x="4437120" y="1441894"/>
            <a:ext cx="3296400" cy="4479300"/>
          </a:xfrm>
          <a:prstGeom prst="rect">
            <a:avLst/>
          </a:prstGeom>
          <a:solidFill>
            <a:srgbClr val="FFFFFF"/>
          </a:solidFill>
          <a:ln cap="flat" cmpd="sng" w="176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36972" rotWithShape="0" dir="5400000" dist="21259">
              <a:srgbClr val="000000">
                <a:alpha val="34900"/>
              </a:srgbClr>
            </a:outerShdw>
          </a:effectLst>
        </p:spPr>
        <p:txBody>
          <a:bodyPr anchorCtr="0" anchor="ctr" bIns="42225" lIns="84500" spcFirstLastPara="1" rIns="84500" wrap="square" tIns="4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6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g3c0c338455d_2_128"/>
          <p:cNvSpPr txBox="1"/>
          <p:nvPr/>
        </p:nvSpPr>
        <p:spPr>
          <a:xfrm>
            <a:off x="4602688" y="1465352"/>
            <a:ext cx="18678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6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25%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g3c0c338455d_2_128"/>
          <p:cNvSpPr txBox="1"/>
          <p:nvPr/>
        </p:nvSpPr>
        <p:spPr>
          <a:xfrm>
            <a:off x="4602681" y="2087216"/>
            <a:ext cx="16902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3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RAG 검색 품질</a:t>
            </a:r>
            <a:endParaRPr b="1" sz="1294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g3c0c338455d_2_128"/>
          <p:cNvSpPr/>
          <p:nvPr/>
        </p:nvSpPr>
        <p:spPr>
          <a:xfrm>
            <a:off x="4563893" y="2456107"/>
            <a:ext cx="3042600" cy="1161900"/>
          </a:xfrm>
          <a:prstGeom prst="flowChartAlternateProcess">
            <a:avLst/>
          </a:prstGeom>
          <a:solidFill>
            <a:srgbClr val="DCFCE7"/>
          </a:solidFill>
          <a:ln>
            <a:noFill/>
          </a:ln>
          <a:effectLst>
            <a:outerShdw blurRad="36972" rotWithShape="0" dir="5400000" dist="21259">
              <a:srgbClr val="000000">
                <a:alpha val="34900"/>
              </a:srgbClr>
            </a:outerShdw>
          </a:effectLst>
        </p:spPr>
        <p:txBody>
          <a:bodyPr anchorCtr="0" anchor="ctr" bIns="42225" lIns="84500" spcFirstLastPara="1" rIns="84500" wrap="square" tIns="4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6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g3c0c338455d_2_128"/>
          <p:cNvSpPr txBox="1"/>
          <p:nvPr/>
        </p:nvSpPr>
        <p:spPr>
          <a:xfrm>
            <a:off x="4618172" y="2529447"/>
            <a:ext cx="2788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근거: E2E 실험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g3c0c338455d_2_128"/>
          <p:cNvSpPr txBox="1"/>
          <p:nvPr/>
        </p:nvSpPr>
        <p:spPr>
          <a:xfrm>
            <a:off x="4607814" y="2703124"/>
            <a:ext cx="27888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88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50%→100%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g3c0c338455d_2_128"/>
          <p:cNvSpPr txBox="1"/>
          <p:nvPr/>
        </p:nvSpPr>
        <p:spPr>
          <a:xfrm>
            <a:off x="4638887" y="3173692"/>
            <a:ext cx="2788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RAG 청크 품질 개선만으로</a:t>
            </a:r>
            <a:b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판단 정답률이 2배 상승</a:t>
            </a:r>
            <a:endParaRPr sz="129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18" name="Google Shape;718;g3c0c338455d_2_128"/>
          <p:cNvSpPr txBox="1"/>
          <p:nvPr/>
        </p:nvSpPr>
        <p:spPr>
          <a:xfrm>
            <a:off x="4648416" y="3702027"/>
            <a:ext cx="2788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6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RAG 품질 = 판단 품질 (실증)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g3c0c338455d_2_128"/>
          <p:cNvSpPr txBox="1"/>
          <p:nvPr/>
        </p:nvSpPr>
        <p:spPr>
          <a:xfrm>
            <a:off x="4690675" y="3955583"/>
            <a:ext cx="1352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연차 (12청크)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g3c0c338455d_2_128"/>
          <p:cNvSpPr txBox="1"/>
          <p:nvPr/>
        </p:nvSpPr>
        <p:spPr>
          <a:xfrm>
            <a:off x="6042969" y="3955583"/>
            <a:ext cx="1436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no_regulation 0.46 ✗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g3c0c338455d_2_128"/>
          <p:cNvSpPr txBox="1"/>
          <p:nvPr/>
        </p:nvSpPr>
        <p:spPr>
          <a:xfrm>
            <a:off x="4690675" y="4226042"/>
            <a:ext cx="1352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연차 (44청크)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g3c0c338455d_2_128"/>
          <p:cNvSpPr txBox="1"/>
          <p:nvPr/>
        </p:nvSpPr>
        <p:spPr>
          <a:xfrm>
            <a:off x="6042969" y="4226042"/>
            <a:ext cx="1436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conditional 0.70 ✓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g3c0c338455d_2_128"/>
          <p:cNvSpPr txBox="1"/>
          <p:nvPr/>
        </p:nvSpPr>
        <p:spPr>
          <a:xfrm>
            <a:off x="4690675" y="4496501"/>
            <a:ext cx="1352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클라우드 (12청크)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g3c0c338455d_2_128"/>
          <p:cNvSpPr txBox="1"/>
          <p:nvPr/>
        </p:nvSpPr>
        <p:spPr>
          <a:xfrm>
            <a:off x="6042969" y="4496501"/>
            <a:ext cx="1436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no_regulation 0.40 ✗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g3c0c338455d_2_128"/>
          <p:cNvSpPr txBox="1"/>
          <p:nvPr/>
        </p:nvSpPr>
        <p:spPr>
          <a:xfrm>
            <a:off x="4690675" y="4766960"/>
            <a:ext cx="1352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클라우드 (44청크)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g3c0c338455d_2_128"/>
          <p:cNvSpPr txBox="1"/>
          <p:nvPr/>
        </p:nvSpPr>
        <p:spPr>
          <a:xfrm>
            <a:off x="6042969" y="4766960"/>
            <a:ext cx="1436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no 0.70 ✓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g3c0c338455d_2_128"/>
          <p:cNvSpPr/>
          <p:nvPr/>
        </p:nvSpPr>
        <p:spPr>
          <a:xfrm>
            <a:off x="4563893" y="5033206"/>
            <a:ext cx="3042600" cy="768000"/>
          </a:xfrm>
          <a:prstGeom prst="flowChartAlternateProcess">
            <a:avLst/>
          </a:prstGeom>
          <a:solidFill>
            <a:srgbClr val="DCFCE7"/>
          </a:solidFill>
          <a:ln>
            <a:noFill/>
          </a:ln>
          <a:effectLst>
            <a:outerShdw blurRad="36972" rotWithShape="0" dir="5400000" dist="21259">
              <a:srgbClr val="000000">
                <a:alpha val="34900"/>
              </a:srgbClr>
            </a:outerShdw>
          </a:effectLst>
        </p:spPr>
        <p:txBody>
          <a:bodyPr anchorCtr="0" anchor="ctr" bIns="42225" lIns="84500" spcFirstLastPara="1" rIns="84500" wrap="square" tIns="4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6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g3c0c338455d_2_128"/>
          <p:cNvSpPr txBox="1"/>
          <p:nvPr/>
        </p:nvSpPr>
        <p:spPr>
          <a:xfrm>
            <a:off x="4690675" y="5122624"/>
            <a:ext cx="27888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6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Garbage In = Garbage Out</a:t>
            </a:r>
            <a:br>
              <a:rPr i="0" lang="en-US" sz="1016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16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근거 품질이 판단 정확도를 직접 결정</a:t>
            </a:r>
            <a:br>
              <a:rPr i="0" lang="en-US" sz="1016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16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나머지 40% 중 가장 큰 비중(25%) 배분</a:t>
            </a:r>
            <a:endParaRPr sz="129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29" name="Google Shape;729;g3c0c338455d_2_128"/>
          <p:cNvSpPr/>
          <p:nvPr/>
        </p:nvSpPr>
        <p:spPr>
          <a:xfrm>
            <a:off x="7986893" y="1441894"/>
            <a:ext cx="3296400" cy="4479300"/>
          </a:xfrm>
          <a:prstGeom prst="rect">
            <a:avLst/>
          </a:prstGeom>
          <a:solidFill>
            <a:srgbClr val="FFFFFF"/>
          </a:solidFill>
          <a:ln cap="flat" cmpd="sng" w="176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36972" rotWithShape="0" dir="5400000" dist="21259">
              <a:srgbClr val="000000">
                <a:alpha val="34900"/>
              </a:srgbClr>
            </a:outerShdw>
          </a:effectLst>
        </p:spPr>
        <p:txBody>
          <a:bodyPr anchorCtr="0" anchor="ctr" bIns="42225" lIns="84500" spcFirstLastPara="1" rIns="84500" wrap="square" tIns="4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6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g3c0c338455d_2_128"/>
          <p:cNvSpPr txBox="1"/>
          <p:nvPr/>
        </p:nvSpPr>
        <p:spPr>
          <a:xfrm>
            <a:off x="8106719" y="1465352"/>
            <a:ext cx="18066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6" u="none" cap="none" strike="noStrike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15%</a:t>
            </a:r>
            <a:endParaRPr b="1" sz="1294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g3c0c338455d_2_128"/>
          <p:cNvSpPr txBox="1"/>
          <p:nvPr/>
        </p:nvSpPr>
        <p:spPr>
          <a:xfrm>
            <a:off x="8152454" y="2087216"/>
            <a:ext cx="16902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3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규정 커버리지</a:t>
            </a:r>
            <a:endParaRPr b="1" sz="1294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g3c0c338455d_2_128"/>
          <p:cNvSpPr/>
          <p:nvPr/>
        </p:nvSpPr>
        <p:spPr>
          <a:xfrm>
            <a:off x="8113671" y="2456115"/>
            <a:ext cx="3042600" cy="1309800"/>
          </a:xfrm>
          <a:prstGeom prst="flowChartAlternateProcess">
            <a:avLst/>
          </a:prstGeom>
          <a:solidFill>
            <a:srgbClr val="EDE9FE"/>
          </a:solidFill>
          <a:ln>
            <a:noFill/>
          </a:ln>
          <a:effectLst>
            <a:outerShdw blurRad="36972" rotWithShape="0" dir="5400000" dist="21259">
              <a:srgbClr val="000000">
                <a:alpha val="34900"/>
              </a:srgbClr>
            </a:outerShdw>
          </a:effectLst>
        </p:spPr>
        <p:txBody>
          <a:bodyPr anchorCtr="0" anchor="ctr" bIns="42225" lIns="84500" spcFirstLastPara="1" rIns="84500" wrap="square" tIns="4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6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g3c0c338455d_2_128"/>
          <p:cNvSpPr txBox="1"/>
          <p:nvPr/>
        </p:nvSpPr>
        <p:spPr>
          <a:xfrm>
            <a:off x="8167945" y="2529447"/>
            <a:ext cx="2788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근거: 교차 검증 효과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g3c0c338455d_2_128"/>
          <p:cNvSpPr txBox="1"/>
          <p:nvPr/>
        </p:nvSpPr>
        <p:spPr>
          <a:xfrm>
            <a:off x="8157587" y="2703124"/>
            <a:ext cx="27888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88" u="none" cap="none" strike="noStrike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+0.075</a:t>
            </a:r>
            <a:endParaRPr b="1" sz="1294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g3c0c338455d_2_128"/>
          <p:cNvSpPr txBox="1"/>
          <p:nvPr/>
        </p:nvSpPr>
        <p:spPr>
          <a:xfrm>
            <a:off x="8188660" y="3173692"/>
            <a:ext cx="27888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복수 규정 교차 확인 시</a:t>
            </a:r>
            <a:b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최대 추가 보정 점수</a:t>
            </a:r>
            <a:b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924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보조 신호 — 보너스 수준</a:t>
            </a:r>
            <a:endParaRPr sz="129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36" name="Google Shape;736;g3c0c338455d_2_128"/>
          <p:cNvSpPr txBox="1"/>
          <p:nvPr/>
        </p:nvSpPr>
        <p:spPr>
          <a:xfrm>
            <a:off x="8198189" y="3953570"/>
            <a:ext cx="2788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6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왜 15%인가?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Google Shape;737;g3c0c338455d_2_128"/>
          <p:cNvSpPr txBox="1"/>
          <p:nvPr/>
        </p:nvSpPr>
        <p:spPr>
          <a:xfrm>
            <a:off x="8240449" y="4207126"/>
            <a:ext cx="1352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커버리지 단독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g3c0c338455d_2_128"/>
          <p:cNvSpPr txBox="1"/>
          <p:nvPr/>
        </p:nvSpPr>
        <p:spPr>
          <a:xfrm>
            <a:off x="9592743" y="4207126"/>
            <a:ext cx="1436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판단 불가 → 보조 역할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g3c0c338455d_2_128"/>
          <p:cNvSpPr txBox="1"/>
          <p:nvPr/>
        </p:nvSpPr>
        <p:spPr>
          <a:xfrm>
            <a:off x="8240449" y="4477585"/>
            <a:ext cx="1352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있으면 좋고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g3c0c338455d_2_128"/>
          <p:cNvSpPr txBox="1"/>
          <p:nvPr/>
        </p:nvSpPr>
        <p:spPr>
          <a:xfrm>
            <a:off x="9592743" y="4477585"/>
            <a:ext cx="1436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없어도 치명적이지 않음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g3c0c338455d_2_128"/>
          <p:cNvSpPr txBox="1"/>
          <p:nvPr/>
        </p:nvSpPr>
        <p:spPr>
          <a:xfrm>
            <a:off x="8240449" y="4748044"/>
            <a:ext cx="1352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20%로 올리면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g3c0c338455d_2_128"/>
          <p:cNvSpPr txBox="1"/>
          <p:nvPr/>
        </p:nvSpPr>
        <p:spPr>
          <a:xfrm>
            <a:off x="9592743" y="4748044"/>
            <a:ext cx="1436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4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범위 적합도 90%로 하락</a:t>
            </a:r>
            <a:endParaRPr b="1" sz="129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g3c0c338455d_2_128"/>
          <p:cNvSpPr/>
          <p:nvPr/>
        </p:nvSpPr>
        <p:spPr>
          <a:xfrm>
            <a:off x="8113671" y="5073933"/>
            <a:ext cx="3042600" cy="718500"/>
          </a:xfrm>
          <a:prstGeom prst="flowChartAlternateProcess">
            <a:avLst/>
          </a:prstGeom>
          <a:solidFill>
            <a:srgbClr val="EDE9FE"/>
          </a:solidFill>
          <a:ln>
            <a:noFill/>
          </a:ln>
          <a:effectLst>
            <a:outerShdw blurRad="36972" rotWithShape="0" dir="5400000" dist="21259">
              <a:srgbClr val="000000">
                <a:alpha val="34900"/>
              </a:srgbClr>
            </a:outerShdw>
          </a:effectLst>
        </p:spPr>
        <p:txBody>
          <a:bodyPr anchorCtr="0" anchor="ctr" bIns="42225" lIns="84500" spcFirstLastPara="1" rIns="84500" wrap="square" tIns="4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6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g3c0c338455d_2_128"/>
          <p:cNvSpPr txBox="1"/>
          <p:nvPr/>
        </p:nvSpPr>
        <p:spPr>
          <a:xfrm>
            <a:off x="8240449" y="5239494"/>
            <a:ext cx="278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25" lIns="84500" spcFirstLastPara="1" rIns="84500" wrap="square" tIns="422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16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60 + 25 + 15 = 100%</a:t>
            </a:r>
            <a:br>
              <a:rPr i="0" lang="en-US" sz="1016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16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감점 없이 최적 조건 → confidence = 1.0</a:t>
            </a:r>
            <a:endParaRPr sz="129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45" name="Google Shape;745;g3c0c338455d_2_128"/>
          <p:cNvSpPr/>
          <p:nvPr/>
        </p:nvSpPr>
        <p:spPr>
          <a:xfrm>
            <a:off x="764776" y="6135912"/>
            <a:ext cx="10683900" cy="394200"/>
          </a:xfrm>
          <a:prstGeom prst="flowChartAlternateProcess">
            <a:avLst/>
          </a:prstGeom>
          <a:solidFill>
            <a:srgbClr val="FFFFFF"/>
          </a:solidFill>
          <a:ln cap="flat" cmpd="sng" w="182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308" rotWithShape="0" dir="5400000" dist="22027">
              <a:srgbClr val="000000">
                <a:alpha val="34900"/>
              </a:srgbClr>
            </a:outerShdw>
          </a:effectLst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2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g3c0c338455d_2_128"/>
          <p:cNvSpPr txBox="1"/>
          <p:nvPr/>
        </p:nvSpPr>
        <p:spPr>
          <a:xfrm>
            <a:off x="939920" y="6162183"/>
            <a:ext cx="103335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3775" lIns="87550" spcFirstLastPara="1" rIns="87550" wrap="square" tIns="4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2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최종 Confidence  =  LLM판단 x 0.6  +  RAG품질 x 0.25  +  커버리지 x 0.15  -  감점(충돌/환각/미존재)</a:t>
            </a:r>
            <a:endParaRPr b="1" sz="134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g3c0c338455d_2_128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2" name="Google Shape;752;p8"/>
          <p:cNvGraphicFramePr/>
          <p:nvPr/>
        </p:nvGraphicFramePr>
        <p:xfrm>
          <a:off x="762000" y="16804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{C6D577D9-9FFD-418C-804D-92C204AB576B}</a:tableStyleId>
              </a:tblPr>
              <a:tblGrid>
                <a:gridCol w="2133600"/>
                <a:gridCol w="4267200"/>
                <a:gridCol w="4267200"/>
              </a:tblGrid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항목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303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일반 RAG 챗봇</a:t>
                      </a:r>
                      <a:endParaRPr b="0" sz="1400" u="none" cap="none" strike="noStrike">
                        <a:solidFill>
                          <a:srgbClr val="2F303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2D58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WorkFlow Agent</a:t>
                      </a:r>
                      <a:endParaRPr sz="1400" u="none" cap="none" strike="noStrike">
                        <a:solidFill>
                          <a:srgbClr val="2D58B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CF4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데이터 보안</a:t>
                      </a:r>
                      <a:endParaRPr b="1" i="0" sz="1350" u="none" cap="none" strike="noStrike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모든 질의가 외부 LLM API 경유 (데이터 유출 리스크)</a:t>
                      </a:r>
                      <a:endParaRPr i="0" sz="1350" u="none" cap="none" strike="noStrike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Intent 분류 온프레미스 처리 </a:t>
                      </a:r>
                      <a:endParaRPr b="1" sz="1350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sLLM 전환 설계로 완전 내재화 가능</a:t>
                      </a:r>
                      <a:endParaRPr b="1" i="0" sz="135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Intent 분류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LLM API 의존 (비용 발생, </a:t>
                      </a:r>
                      <a:r>
                        <a:rPr lang="en-US" sz="135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보안</a:t>
                      </a: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KoELECTRA 파인튜닝 (7.9ms, 무료)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환각 방지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프롬프트 제어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4층 가드 시스템 (Cross-check 등)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규정 판단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단일 문서 기반 단순 검색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다중 규정 교차 판단 (충돌/보완 분석)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불확실 처리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할루시네이션 </a:t>
                      </a: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답변 생성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Clarify 라우팅 (모르면 되묻기)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일정 관리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단일 캘린더 등록 수준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Google 서비스 통합 연쇄 동작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53" name="Google Shape;753;p8"/>
          <p:cNvSpPr/>
          <p:nvPr/>
        </p:nvSpPr>
        <p:spPr>
          <a:xfrm>
            <a:off x="762000" y="2273828"/>
            <a:ext cx="213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8"/>
          <p:cNvSpPr/>
          <p:nvPr/>
        </p:nvSpPr>
        <p:spPr>
          <a:xfrm>
            <a:off x="2895600" y="2273828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8"/>
          <p:cNvSpPr/>
          <p:nvPr/>
        </p:nvSpPr>
        <p:spPr>
          <a:xfrm>
            <a:off x="7162800" y="2273828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8"/>
          <p:cNvSpPr/>
          <p:nvPr/>
        </p:nvSpPr>
        <p:spPr>
          <a:xfrm>
            <a:off x="762000" y="2862444"/>
            <a:ext cx="213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8"/>
          <p:cNvSpPr/>
          <p:nvPr/>
        </p:nvSpPr>
        <p:spPr>
          <a:xfrm>
            <a:off x="2895600" y="2862444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8"/>
          <p:cNvSpPr/>
          <p:nvPr/>
        </p:nvSpPr>
        <p:spPr>
          <a:xfrm>
            <a:off x="7162800" y="2862444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8"/>
          <p:cNvSpPr/>
          <p:nvPr/>
        </p:nvSpPr>
        <p:spPr>
          <a:xfrm>
            <a:off x="762000" y="3451059"/>
            <a:ext cx="213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8"/>
          <p:cNvSpPr/>
          <p:nvPr/>
        </p:nvSpPr>
        <p:spPr>
          <a:xfrm>
            <a:off x="2895600" y="3451059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8"/>
          <p:cNvSpPr/>
          <p:nvPr/>
        </p:nvSpPr>
        <p:spPr>
          <a:xfrm>
            <a:off x="7162800" y="3451059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8"/>
          <p:cNvSpPr/>
          <p:nvPr/>
        </p:nvSpPr>
        <p:spPr>
          <a:xfrm>
            <a:off x="762000" y="4039674"/>
            <a:ext cx="213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8"/>
          <p:cNvSpPr/>
          <p:nvPr/>
        </p:nvSpPr>
        <p:spPr>
          <a:xfrm>
            <a:off x="2895600" y="4039674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8"/>
          <p:cNvSpPr/>
          <p:nvPr/>
        </p:nvSpPr>
        <p:spPr>
          <a:xfrm>
            <a:off x="7162800" y="4039674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8"/>
          <p:cNvSpPr/>
          <p:nvPr/>
        </p:nvSpPr>
        <p:spPr>
          <a:xfrm>
            <a:off x="762000" y="4628289"/>
            <a:ext cx="213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8"/>
          <p:cNvSpPr/>
          <p:nvPr/>
        </p:nvSpPr>
        <p:spPr>
          <a:xfrm>
            <a:off x="2895600" y="4628289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8"/>
          <p:cNvSpPr/>
          <p:nvPr/>
        </p:nvSpPr>
        <p:spPr>
          <a:xfrm>
            <a:off x="7162800" y="4628289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8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769" name="Google Shape;769;p8"/>
          <p:cNvSpPr txBox="1"/>
          <p:nvPr/>
        </p:nvSpPr>
        <p:spPr>
          <a:xfrm>
            <a:off x="762000" y="549088"/>
            <a:ext cx="56985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1" lang="en-US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WorkFlow Agent</a:t>
            </a:r>
            <a:r>
              <a:rPr b="1" lang="en-US" sz="2700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27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vs 일반 챗봇</a:t>
            </a:r>
            <a:endParaRPr b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sz="2700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70" name="Google Shape;770;p8"/>
          <p:cNvSpPr/>
          <p:nvPr/>
        </p:nvSpPr>
        <p:spPr>
          <a:xfrm>
            <a:off x="755650" y="5197408"/>
            <a:ext cx="213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8"/>
          <p:cNvSpPr/>
          <p:nvPr/>
        </p:nvSpPr>
        <p:spPr>
          <a:xfrm>
            <a:off x="2889250" y="5197408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8"/>
          <p:cNvSpPr/>
          <p:nvPr/>
        </p:nvSpPr>
        <p:spPr>
          <a:xfrm>
            <a:off x="7156450" y="5197408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c0c338455d_21_467"/>
          <p:cNvSpPr/>
          <p:nvPr/>
        </p:nvSpPr>
        <p:spPr>
          <a:xfrm>
            <a:off x="839805" y="100373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7188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GitHub 마일스톤 기준  |  45개 이슈 중 31개 완료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3c0c338455d_21_467"/>
          <p:cNvSpPr/>
          <p:nvPr/>
        </p:nvSpPr>
        <p:spPr>
          <a:xfrm>
            <a:off x="1489189" y="1394775"/>
            <a:ext cx="2619600" cy="1833900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  <a:effectLst>
            <a:outerShdw blurRad="36383" rotWithShape="0" algn="bl" dir="8100000" dist="12128">
              <a:srgbClr val="000000">
                <a:alpha val="5880"/>
              </a:srgbClr>
            </a:outerShdw>
          </a:effectLst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g3c0c338455d_21_467"/>
          <p:cNvSpPr/>
          <p:nvPr/>
        </p:nvSpPr>
        <p:spPr>
          <a:xfrm>
            <a:off x="1824480" y="1464630"/>
            <a:ext cx="19209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Arial"/>
              <a:buNone/>
            </a:pPr>
            <a:r>
              <a:rPr b="1" i="0" lang="en-US" sz="954" u="none" cap="none" strike="noStrike">
                <a:solidFill>
                  <a:srgbClr val="5C71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진행률</a:t>
            </a:r>
            <a:endParaRPr b="0" i="0" sz="9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g3c0c338455d_21_467"/>
          <p:cNvSpPr/>
          <p:nvPr/>
        </p:nvSpPr>
        <p:spPr>
          <a:xfrm>
            <a:off x="1815219" y="1700391"/>
            <a:ext cx="17463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30"/>
              <a:buFont typeface="Arial"/>
              <a:buNone/>
            </a:pPr>
            <a:r>
              <a:rPr b="1" lang="en-US" sz="5729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68.9</a:t>
            </a:r>
            <a:endParaRPr b="0" i="0" sz="5729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c0c338455d_21_467"/>
          <p:cNvSpPr/>
          <p:nvPr/>
        </p:nvSpPr>
        <p:spPr>
          <a:xfrm>
            <a:off x="3464112" y="1679641"/>
            <a:ext cx="4368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1"/>
              <a:buFont typeface="Arial"/>
              <a:buNone/>
            </a:pPr>
            <a:r>
              <a:rPr b="1" i="0" lang="en-US" sz="2100" u="none" cap="none" strike="noStrike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g3c0c338455d_21_467"/>
          <p:cNvSpPr/>
          <p:nvPr/>
        </p:nvSpPr>
        <p:spPr>
          <a:xfrm>
            <a:off x="1824480" y="2573578"/>
            <a:ext cx="1920900" cy="87600"/>
          </a:xfrm>
          <a:prstGeom prst="flowChartAlternateProcess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g3c0c338455d_21_467"/>
          <p:cNvSpPr/>
          <p:nvPr/>
        </p:nvSpPr>
        <p:spPr>
          <a:xfrm>
            <a:off x="1824480" y="2573578"/>
            <a:ext cx="1306500" cy="876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g3c0c338455d_21_467"/>
          <p:cNvSpPr/>
          <p:nvPr/>
        </p:nvSpPr>
        <p:spPr>
          <a:xfrm>
            <a:off x="1824480" y="2704556"/>
            <a:ext cx="1920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4"/>
              <a:buFont typeface="Arial"/>
              <a:buNone/>
            </a:pPr>
            <a:r>
              <a:rPr b="0" i="0" lang="en-US" sz="763" u="none" cap="none" strike="noStrike">
                <a:solidFill>
                  <a:srgbClr val="5C71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31 완료  /  14 남음  /  45 전체</a:t>
            </a:r>
            <a:endParaRPr b="0" i="0" sz="7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c0c338455d_21_467"/>
          <p:cNvSpPr/>
          <p:nvPr/>
        </p:nvSpPr>
        <p:spPr>
          <a:xfrm>
            <a:off x="1824480" y="2922853"/>
            <a:ext cx="1920900" cy="174600"/>
          </a:xfrm>
          <a:prstGeom prst="flowChartAlternateProcess">
            <a:avLst/>
          </a:prstGeom>
          <a:solidFill>
            <a:srgbClr val="50B432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g3c0c338455d_21_467"/>
          <p:cNvSpPr/>
          <p:nvPr/>
        </p:nvSpPr>
        <p:spPr>
          <a:xfrm>
            <a:off x="1824480" y="2922853"/>
            <a:ext cx="1920900" cy="1746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6"/>
              <a:buFont typeface="Arial"/>
              <a:buNone/>
            </a:pPr>
            <a:r>
              <a:rPr b="1" i="0" lang="en-US" sz="811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현재: 3단계 완료 · 4단계 착수 예정</a:t>
            </a:r>
            <a:endParaRPr b="0" i="0" sz="8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c0c338455d_21_467"/>
          <p:cNvSpPr/>
          <p:nvPr/>
        </p:nvSpPr>
        <p:spPr>
          <a:xfrm>
            <a:off x="4370664" y="1394775"/>
            <a:ext cx="6277500" cy="1833900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  <a:effectLst>
            <a:outerShdw blurRad="36383" rotWithShape="0" algn="bl" dir="8100000" dist="12128">
              <a:srgbClr val="000000">
                <a:alpha val="5880"/>
              </a:srgbClr>
            </a:outerShdw>
          </a:effectLst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g3c0c338455d_21_467"/>
          <p:cNvSpPr/>
          <p:nvPr/>
        </p:nvSpPr>
        <p:spPr>
          <a:xfrm>
            <a:off x="4588952" y="1464630"/>
            <a:ext cx="2619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Arial"/>
              <a:buNone/>
            </a:pPr>
            <a:r>
              <a:rPr b="1" i="0" lang="en-US" sz="954" u="none" cap="none" strike="noStrike">
                <a:solidFill>
                  <a:srgbClr val="5C7188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마일스톤별 진행률</a:t>
            </a:r>
            <a:endParaRPr b="0" i="0" sz="9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3c0c338455d_21_467"/>
          <p:cNvSpPr/>
          <p:nvPr/>
        </p:nvSpPr>
        <p:spPr>
          <a:xfrm>
            <a:off x="4588952" y="1787709"/>
            <a:ext cx="1746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9"/>
              <a:buFont typeface="Arial"/>
              <a:buNone/>
            </a:pPr>
            <a:r>
              <a:rPr b="0" i="0" lang="en-US" sz="859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  설계·환경</a:t>
            </a:r>
            <a:endParaRPr b="0" i="0" sz="8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g3c0c338455d_21_467"/>
          <p:cNvSpPr/>
          <p:nvPr/>
        </p:nvSpPr>
        <p:spPr>
          <a:xfrm>
            <a:off x="6086769" y="1822631"/>
            <a:ext cx="3536100" cy="104700"/>
          </a:xfrm>
          <a:prstGeom prst="flowChartAlternateProcess">
            <a:avLst/>
          </a:prstGeom>
          <a:solidFill>
            <a:srgbClr val="50B432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g3c0c338455d_21_467"/>
          <p:cNvSpPr/>
          <p:nvPr/>
        </p:nvSpPr>
        <p:spPr>
          <a:xfrm>
            <a:off x="9710355" y="1787709"/>
            <a:ext cx="49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9"/>
              <a:buFont typeface="Arial"/>
              <a:buNone/>
            </a:pPr>
            <a:r>
              <a:rPr b="1" i="0" lang="en-US" sz="859" u="none" cap="none" strike="noStrike">
                <a:solidFill>
                  <a:srgbClr val="50B432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 b="0" i="0" sz="8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g3c0c338455d_21_467"/>
          <p:cNvSpPr/>
          <p:nvPr/>
        </p:nvSpPr>
        <p:spPr>
          <a:xfrm>
            <a:off x="10168905" y="1787709"/>
            <a:ext cx="546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4"/>
              <a:buFont typeface="Arial"/>
              <a:buNone/>
            </a:pPr>
            <a:r>
              <a:rPr b="0" i="0" lang="en-US" sz="763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6/6</a:t>
            </a:r>
            <a:endParaRPr b="0" i="0" sz="7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g3c0c338455d_21_467"/>
          <p:cNvSpPr/>
          <p:nvPr/>
        </p:nvSpPr>
        <p:spPr>
          <a:xfrm>
            <a:off x="4588952" y="2023470"/>
            <a:ext cx="1746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9"/>
              <a:buFont typeface="Arial"/>
              <a:buNone/>
            </a:pPr>
            <a:r>
              <a:rPr b="0" i="0" lang="en-US" sz="859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  기반+LLM</a:t>
            </a:r>
            <a:endParaRPr b="0" i="0" sz="8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g3c0c338455d_21_467"/>
          <p:cNvSpPr/>
          <p:nvPr/>
        </p:nvSpPr>
        <p:spPr>
          <a:xfrm>
            <a:off x="6086769" y="2058393"/>
            <a:ext cx="3536100" cy="104700"/>
          </a:xfrm>
          <a:prstGeom prst="flowChartAlternateProcess">
            <a:avLst/>
          </a:prstGeom>
          <a:solidFill>
            <a:srgbClr val="50B432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g3c0c338455d_21_467"/>
          <p:cNvSpPr/>
          <p:nvPr/>
        </p:nvSpPr>
        <p:spPr>
          <a:xfrm>
            <a:off x="9710355" y="2023470"/>
            <a:ext cx="49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9"/>
              <a:buFont typeface="Arial"/>
              <a:buNone/>
            </a:pPr>
            <a:r>
              <a:rPr b="1" i="0" lang="en-US" sz="859" u="none" cap="none" strike="noStrike">
                <a:solidFill>
                  <a:srgbClr val="50B432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 b="0" i="0" sz="8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g3c0c338455d_21_467"/>
          <p:cNvSpPr/>
          <p:nvPr/>
        </p:nvSpPr>
        <p:spPr>
          <a:xfrm>
            <a:off x="10168905" y="2023470"/>
            <a:ext cx="546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4"/>
              <a:buFont typeface="Arial"/>
              <a:buNone/>
            </a:pPr>
            <a:r>
              <a:rPr b="0" i="0" lang="en-US" sz="763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7/7</a:t>
            </a:r>
            <a:endParaRPr b="0" i="0" sz="7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3c0c338455d_21_467"/>
          <p:cNvSpPr/>
          <p:nvPr/>
        </p:nvSpPr>
        <p:spPr>
          <a:xfrm>
            <a:off x="4588952" y="2259230"/>
            <a:ext cx="1746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9"/>
              <a:buFont typeface="Arial"/>
              <a:buNone/>
            </a:pPr>
            <a:r>
              <a:rPr b="0" i="0" lang="en-US" sz="859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3단계  Agent 개발</a:t>
            </a:r>
            <a:endParaRPr b="0" i="0" sz="8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g3c0c338455d_21_467"/>
          <p:cNvSpPr/>
          <p:nvPr/>
        </p:nvSpPr>
        <p:spPr>
          <a:xfrm>
            <a:off x="6086769" y="2294156"/>
            <a:ext cx="3536100" cy="104700"/>
          </a:xfrm>
          <a:prstGeom prst="flowChartAlternateProcess">
            <a:avLst/>
          </a:prstGeom>
          <a:solidFill>
            <a:srgbClr val="50B432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g3c0c338455d_21_467"/>
          <p:cNvSpPr/>
          <p:nvPr/>
        </p:nvSpPr>
        <p:spPr>
          <a:xfrm>
            <a:off x="9710355" y="2259230"/>
            <a:ext cx="49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9"/>
              <a:buFont typeface="Arial"/>
              <a:buNone/>
            </a:pPr>
            <a:r>
              <a:rPr b="1" i="0" lang="en-US" sz="859" u="none" cap="none" strike="noStrike">
                <a:solidFill>
                  <a:srgbClr val="50B432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 b="0" i="0" sz="8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c0c338455d_21_467"/>
          <p:cNvSpPr/>
          <p:nvPr/>
        </p:nvSpPr>
        <p:spPr>
          <a:xfrm>
            <a:off x="10168905" y="2259230"/>
            <a:ext cx="546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4"/>
              <a:buFont typeface="Arial"/>
              <a:buNone/>
            </a:pPr>
            <a:r>
              <a:rPr b="0" i="0" lang="en-US" sz="763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15/15</a:t>
            </a:r>
            <a:endParaRPr b="0" i="0" sz="7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3c0c338455d_21_467"/>
          <p:cNvSpPr/>
          <p:nvPr/>
        </p:nvSpPr>
        <p:spPr>
          <a:xfrm>
            <a:off x="4588952" y="2494991"/>
            <a:ext cx="1746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9"/>
              <a:buFont typeface="Arial"/>
              <a:buNone/>
            </a:pPr>
            <a:r>
              <a:rPr b="0" i="0" lang="en-US" sz="859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4단계  sLLM 파인튜닝</a:t>
            </a:r>
            <a:endParaRPr b="0" i="0" sz="8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g3c0c338455d_21_467"/>
          <p:cNvSpPr/>
          <p:nvPr/>
        </p:nvSpPr>
        <p:spPr>
          <a:xfrm>
            <a:off x="6086769" y="2529918"/>
            <a:ext cx="3536100" cy="104700"/>
          </a:xfrm>
          <a:prstGeom prst="flowChartAlternateProcess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3c0c338455d_21_467"/>
          <p:cNvSpPr/>
          <p:nvPr/>
        </p:nvSpPr>
        <p:spPr>
          <a:xfrm>
            <a:off x="9710355" y="2494991"/>
            <a:ext cx="49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9"/>
              <a:buFont typeface="Arial"/>
              <a:buNone/>
            </a:pPr>
            <a:r>
              <a:rPr b="1" i="0" lang="en-US" sz="859" u="none" cap="none" strike="noStrike">
                <a:solidFill>
                  <a:srgbClr val="ED561B"/>
                </a:solidFill>
                <a:latin typeface="Roboto"/>
                <a:ea typeface="Roboto"/>
                <a:cs typeface="Roboto"/>
                <a:sym typeface="Roboto"/>
              </a:rPr>
              <a:t>0%</a:t>
            </a:r>
            <a:endParaRPr b="0" i="0" sz="8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c0c338455d_21_467"/>
          <p:cNvSpPr/>
          <p:nvPr/>
        </p:nvSpPr>
        <p:spPr>
          <a:xfrm>
            <a:off x="10168905" y="2494991"/>
            <a:ext cx="546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4"/>
              <a:buFont typeface="Arial"/>
              <a:buNone/>
            </a:pPr>
            <a:r>
              <a:rPr b="0" i="0" lang="en-US" sz="763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0/8</a:t>
            </a:r>
            <a:endParaRPr b="0" i="0" sz="7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c0c338455d_21_467"/>
          <p:cNvSpPr/>
          <p:nvPr/>
        </p:nvSpPr>
        <p:spPr>
          <a:xfrm>
            <a:off x="4588952" y="2730752"/>
            <a:ext cx="1746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9"/>
              <a:buFont typeface="Arial"/>
              <a:buNone/>
            </a:pPr>
            <a:r>
              <a:rPr b="0" i="0" lang="en-US" sz="859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5단계  통합·테스트</a:t>
            </a:r>
            <a:endParaRPr b="0" i="0" sz="8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c0c338455d_21_467"/>
          <p:cNvSpPr/>
          <p:nvPr/>
        </p:nvSpPr>
        <p:spPr>
          <a:xfrm>
            <a:off x="6675190" y="2765679"/>
            <a:ext cx="2948100" cy="104700"/>
          </a:xfrm>
          <a:prstGeom prst="flowChartAlternateProcess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g3c0c338455d_21_467"/>
          <p:cNvSpPr/>
          <p:nvPr/>
        </p:nvSpPr>
        <p:spPr>
          <a:xfrm>
            <a:off x="6086769" y="2765680"/>
            <a:ext cx="1414800" cy="104700"/>
          </a:xfrm>
          <a:prstGeom prst="flowChartAlternateProcess">
            <a:avLst/>
          </a:prstGeom>
          <a:solidFill>
            <a:srgbClr val="F0AD4E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g3c0c338455d_21_467"/>
          <p:cNvSpPr/>
          <p:nvPr/>
        </p:nvSpPr>
        <p:spPr>
          <a:xfrm>
            <a:off x="9710355" y="2730752"/>
            <a:ext cx="49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9"/>
              <a:buFont typeface="Arial"/>
              <a:buNone/>
            </a:pPr>
            <a:r>
              <a:rPr b="1" i="0" lang="en-US" sz="859" u="none" cap="none" strike="noStrike">
                <a:solidFill>
                  <a:srgbClr val="F0AD4E"/>
                </a:solidFill>
                <a:latin typeface="Roboto"/>
                <a:ea typeface="Roboto"/>
                <a:cs typeface="Roboto"/>
                <a:sym typeface="Roboto"/>
              </a:rPr>
              <a:t>40%</a:t>
            </a:r>
            <a:endParaRPr b="0" i="0" sz="8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g3c0c338455d_21_467"/>
          <p:cNvSpPr/>
          <p:nvPr/>
        </p:nvSpPr>
        <p:spPr>
          <a:xfrm>
            <a:off x="10168905" y="2730752"/>
            <a:ext cx="546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4"/>
              <a:buFont typeface="Arial"/>
              <a:buNone/>
            </a:pPr>
            <a:r>
              <a:rPr b="0" i="0" lang="en-US" sz="763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2/5</a:t>
            </a:r>
            <a:endParaRPr b="0" i="0" sz="7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g3c0c338455d_21_467"/>
          <p:cNvSpPr/>
          <p:nvPr/>
        </p:nvSpPr>
        <p:spPr>
          <a:xfrm>
            <a:off x="4588952" y="2966512"/>
            <a:ext cx="1746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9"/>
              <a:buFont typeface="Arial"/>
              <a:buNone/>
            </a:pPr>
            <a:r>
              <a:rPr b="0" i="0" lang="en-US" sz="859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6단계  배포</a:t>
            </a:r>
            <a:endParaRPr b="0" i="0" sz="8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g3c0c338455d_21_467"/>
          <p:cNvSpPr/>
          <p:nvPr/>
        </p:nvSpPr>
        <p:spPr>
          <a:xfrm>
            <a:off x="9710355" y="2966512"/>
            <a:ext cx="49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9"/>
              <a:buFont typeface="Arial"/>
              <a:buNone/>
            </a:pPr>
            <a:r>
              <a:rPr b="1" i="0" lang="en-US" sz="859" u="none" cap="none" strike="noStrike">
                <a:solidFill>
                  <a:srgbClr val="ED561B"/>
                </a:solidFill>
                <a:latin typeface="Roboto"/>
                <a:ea typeface="Roboto"/>
                <a:cs typeface="Roboto"/>
                <a:sym typeface="Roboto"/>
              </a:rPr>
              <a:t>25%</a:t>
            </a:r>
            <a:endParaRPr b="0" i="0" sz="8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g3c0c338455d_21_467"/>
          <p:cNvSpPr/>
          <p:nvPr/>
        </p:nvSpPr>
        <p:spPr>
          <a:xfrm>
            <a:off x="10168905" y="2966512"/>
            <a:ext cx="546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4"/>
              <a:buFont typeface="Arial"/>
              <a:buNone/>
            </a:pPr>
            <a:r>
              <a:rPr b="0" i="0" lang="en-US" sz="763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1/4</a:t>
            </a:r>
            <a:endParaRPr b="0" i="0" sz="7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g3c0c338455d_21_467"/>
          <p:cNvSpPr/>
          <p:nvPr/>
        </p:nvSpPr>
        <p:spPr>
          <a:xfrm>
            <a:off x="1477100" y="3369545"/>
            <a:ext cx="4450500" cy="313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383" rotWithShape="0" algn="bl" dir="8100000" dist="12128">
              <a:srgbClr val="000000">
                <a:alpha val="5880"/>
              </a:srgbClr>
            </a:outerShdw>
          </a:effectLst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g3c0c338455d_21_467"/>
          <p:cNvSpPr/>
          <p:nvPr/>
        </p:nvSpPr>
        <p:spPr>
          <a:xfrm>
            <a:off x="1477195" y="3369545"/>
            <a:ext cx="43500" cy="3135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3c0c338455d_21_467"/>
          <p:cNvSpPr/>
          <p:nvPr/>
        </p:nvSpPr>
        <p:spPr>
          <a:xfrm>
            <a:off x="1695402" y="3430663"/>
            <a:ext cx="3318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i="0" lang="en-US" sz="1241" u="none" cap="none" strike="noStrike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COMPLETED  (31 이슈)</a:t>
            </a:r>
            <a:endParaRPr i="0" sz="1241" u="none" cap="none" strike="noStrike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16" name="Google Shape;816;g3c0c338455d_21_467"/>
          <p:cNvSpPr/>
          <p:nvPr/>
        </p:nvSpPr>
        <p:spPr>
          <a:xfrm>
            <a:off x="1695402" y="3745010"/>
            <a:ext cx="698400" cy="174600"/>
          </a:xfrm>
          <a:prstGeom prst="flowChartAlternateProcess">
            <a:avLst/>
          </a:prstGeom>
          <a:solidFill>
            <a:srgbClr val="058DC7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17" name="Google Shape;817;g3c0c338455d_21_467"/>
          <p:cNvSpPr/>
          <p:nvPr/>
        </p:nvSpPr>
        <p:spPr>
          <a:xfrm>
            <a:off x="1695402" y="3744448"/>
            <a:ext cx="698400" cy="1746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8"/>
              <a:buFont typeface="Arial"/>
              <a:buNone/>
            </a:pPr>
            <a:r>
              <a:rPr i="0" lang="en-US" sz="859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AI / ML</a:t>
            </a:r>
            <a:endParaRPr i="0" sz="859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18" name="Google Shape;818;g3c0c338455d_21_467"/>
          <p:cNvSpPr/>
          <p:nvPr/>
        </p:nvSpPr>
        <p:spPr>
          <a:xfrm>
            <a:off x="1782720" y="3963307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KoELECTRA Intent 분류 파인튜닝 완료 — F1 97.88%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19" name="Google Shape;819;g3c0c338455d_21_467"/>
          <p:cNvSpPr/>
          <p:nvPr/>
        </p:nvSpPr>
        <p:spPr>
          <a:xfrm>
            <a:off x="1782720" y="4146676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3개 Agent(판단/문서/일정) LLM API 기반 동작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20" name="Google Shape;820;g3c0c338455d_21_467"/>
          <p:cNvSpPr/>
          <p:nvPr/>
        </p:nvSpPr>
        <p:spPr>
          <a:xfrm>
            <a:off x="1782720" y="4330046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RAG 하이브리드 검색 (BM25 + Qdrant + RRF)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21" name="Google Shape;821;g3c0c338455d_21_467"/>
          <p:cNvSpPr/>
          <p:nvPr/>
        </p:nvSpPr>
        <p:spPr>
          <a:xfrm>
            <a:off x="1782720" y="4513415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LLM 공통 모듈 — GPT/Claude 교체 가능 구조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22" name="Google Shape;822;g3c0c338455d_21_467"/>
          <p:cNvSpPr/>
          <p:nvPr/>
        </p:nvSpPr>
        <p:spPr>
          <a:xfrm>
            <a:off x="1695402" y="4766639"/>
            <a:ext cx="698400" cy="174600"/>
          </a:xfrm>
          <a:prstGeom prst="flowChartAlternateProcess">
            <a:avLst/>
          </a:prstGeom>
          <a:solidFill>
            <a:srgbClr val="50B432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23" name="Google Shape;823;g3c0c338455d_21_467"/>
          <p:cNvSpPr/>
          <p:nvPr/>
        </p:nvSpPr>
        <p:spPr>
          <a:xfrm>
            <a:off x="1695402" y="4766639"/>
            <a:ext cx="6984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8"/>
              <a:buFont typeface="Arial"/>
              <a:buNone/>
            </a:pPr>
            <a:r>
              <a:rPr i="0" lang="en-US" sz="859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Backend</a:t>
            </a:r>
            <a:endParaRPr i="0" sz="859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24" name="Google Shape;824;g3c0c338455d_21_467"/>
          <p:cNvSpPr/>
          <p:nvPr/>
        </p:nvSpPr>
        <p:spPr>
          <a:xfrm>
            <a:off x="1782720" y="4984936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FastAPI 11 라우터 + PostgreSQL 12T + JWT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25" name="Google Shape;825;g3c0c338455d_21_467"/>
          <p:cNvSpPr/>
          <p:nvPr/>
        </p:nvSpPr>
        <p:spPr>
          <a:xfrm>
            <a:off x="1782727" y="5168297"/>
            <a:ext cx="426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Google </a:t>
            </a:r>
            <a:r>
              <a:rPr lang="en-US" sz="954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5</a:t>
            </a: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종 통합 (Calendar/Tasks/Gmail/Sheets/</a:t>
            </a:r>
            <a:r>
              <a:rPr lang="en-US" sz="954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Meeting</a:t>
            </a: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)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26" name="Google Shape;826;g3c0c338455d_21_467"/>
          <p:cNvSpPr/>
          <p:nvPr/>
        </p:nvSpPr>
        <p:spPr>
          <a:xfrm>
            <a:off x="1695402" y="5421530"/>
            <a:ext cx="698400" cy="174600"/>
          </a:xfrm>
          <a:prstGeom prst="flowChartAlternateProcess">
            <a:avLst/>
          </a:prstGeom>
          <a:solidFill>
            <a:srgbClr val="F0AD4E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27" name="Google Shape;827;g3c0c338455d_21_467"/>
          <p:cNvSpPr/>
          <p:nvPr/>
        </p:nvSpPr>
        <p:spPr>
          <a:xfrm>
            <a:off x="1695402" y="5421530"/>
            <a:ext cx="6984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8"/>
              <a:buFont typeface="Arial"/>
              <a:buNone/>
            </a:pPr>
            <a:r>
              <a:rPr i="0" lang="en-US" sz="859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Frontend</a:t>
            </a:r>
            <a:endParaRPr i="0" sz="859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28" name="Google Shape;828;g3c0c338455d_21_467"/>
          <p:cNvSpPr/>
          <p:nvPr/>
        </p:nvSpPr>
        <p:spPr>
          <a:xfrm>
            <a:off x="1782720" y="5639827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React 11페이지 + SSE 챗봇 카드 UI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29" name="Google Shape;829;g3c0c338455d_21_467"/>
          <p:cNvSpPr/>
          <p:nvPr/>
        </p:nvSpPr>
        <p:spPr>
          <a:xfrm>
            <a:off x="1782720" y="5823196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대시보드 14위젯 + FullCalendar + 관리자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30" name="Google Shape;830;g3c0c338455d_21_467"/>
          <p:cNvSpPr/>
          <p:nvPr/>
        </p:nvSpPr>
        <p:spPr>
          <a:xfrm>
            <a:off x="1822757" y="6152188"/>
            <a:ext cx="3520500" cy="201300"/>
          </a:xfrm>
          <a:prstGeom prst="flowChartAlternateProcess">
            <a:avLst/>
          </a:prstGeom>
          <a:solidFill>
            <a:srgbClr val="E3EB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i="0" lang="en-US" sz="950" u="none" cap="none" strike="noStrike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E2E 파이프라인 완료 + AWS CI/CD 배포 중</a:t>
            </a:r>
            <a:endParaRPr i="0" sz="950" u="none" cap="none" strike="noStrike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31" name="Google Shape;831;g3c0c338455d_21_467"/>
          <p:cNvSpPr/>
          <p:nvPr/>
        </p:nvSpPr>
        <p:spPr>
          <a:xfrm>
            <a:off x="6210013" y="3369545"/>
            <a:ext cx="4450500" cy="313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383" rotWithShape="0" algn="bl" dir="8100000" dist="12128">
              <a:srgbClr val="000000">
                <a:alpha val="5880"/>
              </a:srgbClr>
            </a:outerShdw>
          </a:effectLst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g3c0c338455d_21_467"/>
          <p:cNvSpPr/>
          <p:nvPr/>
        </p:nvSpPr>
        <p:spPr>
          <a:xfrm>
            <a:off x="6428305" y="3718105"/>
            <a:ext cx="480300" cy="174600"/>
          </a:xfrm>
          <a:prstGeom prst="flowChartAlternateProcess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8"/>
              <a:buFont typeface="Arial"/>
              <a:buNone/>
            </a:pPr>
            <a:r>
              <a:rPr i="0" lang="en-US" sz="859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NEXT</a:t>
            </a:r>
            <a:endParaRPr i="0" sz="859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33" name="Google Shape;833;g3c0c338455d_21_467"/>
          <p:cNvSpPr/>
          <p:nvPr/>
        </p:nvSpPr>
        <p:spPr>
          <a:xfrm>
            <a:off x="6209917" y="3369545"/>
            <a:ext cx="43500" cy="3135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3c0c338455d_21_467"/>
          <p:cNvSpPr/>
          <p:nvPr/>
        </p:nvSpPr>
        <p:spPr>
          <a:xfrm>
            <a:off x="6428305" y="3430663"/>
            <a:ext cx="3318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i="0" lang="en-US" sz="1241" u="none" cap="none" strike="noStrike">
                <a:solidFill>
                  <a:srgbClr val="A61C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UPCOMING  (14 이슈)</a:t>
            </a:r>
            <a:endParaRPr i="0" sz="1241" u="none" cap="none" strike="noStrike">
              <a:solidFill>
                <a:srgbClr val="A61C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35" name="Google Shape;835;g3c0c338455d_21_467"/>
          <p:cNvSpPr/>
          <p:nvPr/>
        </p:nvSpPr>
        <p:spPr>
          <a:xfrm>
            <a:off x="6995877" y="3718105"/>
            <a:ext cx="13098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Arial"/>
              <a:buNone/>
            </a:pPr>
            <a:r>
              <a:rPr i="0" lang="en-US" sz="1145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4~6주차</a:t>
            </a:r>
            <a:endParaRPr i="0" sz="1145" u="none" cap="none" strike="noStrike">
              <a:solidFill>
                <a:srgbClr val="1E293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36" name="Google Shape;836;g3c0c338455d_21_467"/>
          <p:cNvSpPr/>
          <p:nvPr/>
        </p:nvSpPr>
        <p:spPr>
          <a:xfrm>
            <a:off x="6559283" y="3953865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데이터 수집 + 변환 (판단/문서 JSONL)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37" name="Google Shape;837;g3c0c338455d_21_467"/>
          <p:cNvSpPr/>
          <p:nvPr/>
        </p:nvSpPr>
        <p:spPr>
          <a:xfrm>
            <a:off x="6559283" y="4137234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LoRA 파인튜닝 (판단 Agent + 문서 Agent)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38" name="Google Shape;838;g3c0c338455d_21_467"/>
          <p:cNvSpPr/>
          <p:nvPr/>
        </p:nvSpPr>
        <p:spPr>
          <a:xfrm>
            <a:off x="6559283" y="4320604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Intent 분류 강화 (복합질문 + 멀티턴)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39" name="Google Shape;839;g3c0c338455d_21_467"/>
          <p:cNvSpPr/>
          <p:nvPr/>
        </p:nvSpPr>
        <p:spPr>
          <a:xfrm>
            <a:off x="6559283" y="4503973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챗봇 강화 (chat history + 답변 품질)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40" name="Google Shape;840;g3c0c338455d_21_467"/>
          <p:cNvSpPr/>
          <p:nvPr/>
        </p:nvSpPr>
        <p:spPr>
          <a:xfrm>
            <a:off x="6428305" y="4792125"/>
            <a:ext cx="480300" cy="174600"/>
          </a:xfrm>
          <a:prstGeom prst="flowChartAlternateProcess">
            <a:avLst/>
          </a:prstGeom>
          <a:solidFill>
            <a:srgbClr val="5C7188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41" name="Google Shape;841;g3c0c338455d_21_467"/>
          <p:cNvSpPr/>
          <p:nvPr/>
        </p:nvSpPr>
        <p:spPr>
          <a:xfrm>
            <a:off x="6428305" y="4792125"/>
            <a:ext cx="480300" cy="1746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8"/>
              <a:buFont typeface="Arial"/>
              <a:buNone/>
            </a:pPr>
            <a:r>
              <a:rPr i="0" lang="en-US" sz="859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PLAN</a:t>
            </a:r>
            <a:endParaRPr i="0" sz="859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42" name="Google Shape;842;g3c0c338455d_21_467"/>
          <p:cNvSpPr/>
          <p:nvPr/>
        </p:nvSpPr>
        <p:spPr>
          <a:xfrm>
            <a:off x="6995877" y="4792125"/>
            <a:ext cx="13098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Arial"/>
              <a:buNone/>
            </a:pPr>
            <a:r>
              <a:rPr i="0" lang="en-US" sz="1145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6~7주차</a:t>
            </a:r>
            <a:endParaRPr i="0" sz="1145" u="none" cap="none" strike="noStrike">
              <a:solidFill>
                <a:srgbClr val="1E293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43" name="Google Shape;843;g3c0c338455d_21_467"/>
          <p:cNvSpPr/>
          <p:nvPr/>
        </p:nvSpPr>
        <p:spPr>
          <a:xfrm>
            <a:off x="6559283" y="5027886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vLLM 서빙 + LLM → sLLM 교체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44" name="Google Shape;844;g3c0c338455d_21_467"/>
          <p:cNvSpPr/>
          <p:nvPr/>
        </p:nvSpPr>
        <p:spPr>
          <a:xfrm>
            <a:off x="6559283" y="5211255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lang="en-US" sz="954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서비스 팀 단위로 확장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45" name="Google Shape;845;g3c0c338455d_21_467"/>
          <p:cNvSpPr/>
          <p:nvPr/>
        </p:nvSpPr>
        <p:spPr>
          <a:xfrm>
            <a:off x="6559283" y="5394624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성능 평가 리포트 (판단/RAG/문서)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46" name="Google Shape;846;g3c0c338455d_21_467"/>
          <p:cNvSpPr/>
          <p:nvPr/>
        </p:nvSpPr>
        <p:spPr>
          <a:xfrm>
            <a:off x="6428305" y="5682776"/>
            <a:ext cx="480300" cy="174600"/>
          </a:xfrm>
          <a:prstGeom prst="flowChartAlternateProcess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7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47" name="Google Shape;847;g3c0c338455d_21_467"/>
          <p:cNvSpPr/>
          <p:nvPr/>
        </p:nvSpPr>
        <p:spPr>
          <a:xfrm>
            <a:off x="6428305" y="5682776"/>
            <a:ext cx="4803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8"/>
              <a:buFont typeface="Arial"/>
              <a:buNone/>
            </a:pPr>
            <a:r>
              <a:rPr i="0" lang="en-US" sz="859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FINAL</a:t>
            </a:r>
            <a:endParaRPr i="0" sz="859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48" name="Google Shape;848;g3c0c338455d_21_467"/>
          <p:cNvSpPr/>
          <p:nvPr/>
        </p:nvSpPr>
        <p:spPr>
          <a:xfrm>
            <a:off x="6995877" y="5682776"/>
            <a:ext cx="13098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Arial"/>
              <a:buNone/>
            </a:pPr>
            <a:r>
              <a:rPr i="0" lang="en-US" sz="1145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7~9주차</a:t>
            </a:r>
            <a:endParaRPr i="0" sz="1145" u="none" cap="none" strike="noStrike">
              <a:solidFill>
                <a:srgbClr val="1E293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49" name="Google Shape;849;g3c0c338455d_21_467"/>
          <p:cNvSpPr/>
          <p:nvPr/>
        </p:nvSpPr>
        <p:spPr>
          <a:xfrm>
            <a:off x="6559283" y="5918537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Frontend 배포 (S3/CloudFront)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50" name="Google Shape;850;g3c0c338455d_21_467"/>
          <p:cNvSpPr/>
          <p:nvPr/>
        </p:nvSpPr>
        <p:spPr>
          <a:xfrm>
            <a:off x="6559283" y="6101906"/>
            <a:ext cx="3274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9573" lvl="0" marL="327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5"/>
              <a:buFont typeface="Roboto SemiBold"/>
              <a:buChar char="•"/>
            </a:pPr>
            <a:r>
              <a:rPr i="0" lang="en-US" sz="954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최종 QA + E2E 통합 테스트</a:t>
            </a:r>
            <a:endParaRPr i="0" sz="954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51" name="Google Shape;851;g3c0c338455d_21_467"/>
          <p:cNvSpPr/>
          <p:nvPr/>
        </p:nvSpPr>
        <p:spPr>
          <a:xfrm>
            <a:off x="6559279" y="6285272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최종 발표 준비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52" name="Google Shape;852;g3c0c338455d_21_467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853" name="Google Shape;853;g3c0c338455d_21_467"/>
          <p:cNvSpPr txBox="1"/>
          <p:nvPr/>
        </p:nvSpPr>
        <p:spPr>
          <a:xfrm>
            <a:off x="775227" y="571500"/>
            <a:ext cx="262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F2A4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진행 현황</a:t>
            </a:r>
            <a:endParaRPr sz="2700">
              <a:solidFill>
                <a:srgbClr val="1F2A4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854" name="Google Shape;854;g3c0c338455d_21_467"/>
          <p:cNvSpPr/>
          <p:nvPr/>
        </p:nvSpPr>
        <p:spPr>
          <a:xfrm>
            <a:off x="6678762" y="2997454"/>
            <a:ext cx="2948100" cy="104700"/>
          </a:xfrm>
          <a:prstGeom prst="flowChartAlternateProcess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g3c0c338455d_21_467"/>
          <p:cNvSpPr/>
          <p:nvPr/>
        </p:nvSpPr>
        <p:spPr>
          <a:xfrm>
            <a:off x="6086769" y="3001443"/>
            <a:ext cx="883800" cy="104700"/>
          </a:xfrm>
          <a:prstGeom prst="flowChartAlternateProcess">
            <a:avLst/>
          </a:prstGeom>
          <a:solidFill>
            <a:srgbClr val="DD7E6B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60" name="Google Shape;860;g3c0c338455d_37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25959"/>
            <a:ext cx="2072580" cy="4655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1" name="Google Shape;861;g3c0c338455d_37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5530" y="1725959"/>
            <a:ext cx="2072580" cy="4655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2" name="Google Shape;862;g3c0c338455d_37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9560" y="1725959"/>
            <a:ext cx="2072580" cy="4655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3" name="Google Shape;863;g3c0c338455d_37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03591" y="1725959"/>
            <a:ext cx="2072580" cy="4655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4" name="Google Shape;864;g3c0c338455d_37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47621" y="1725959"/>
            <a:ext cx="2072580" cy="4655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5" name="Google Shape;865;g3c0c338455d_37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196408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g3c0c338455d_37_0"/>
          <p:cNvSpPr txBox="1"/>
          <p:nvPr/>
        </p:nvSpPr>
        <p:spPr>
          <a:xfrm>
            <a:off x="771525" y="2421284"/>
            <a:ext cx="1672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ED561B"/>
                </a:solidFill>
                <a:latin typeface="Roboto Black"/>
                <a:ea typeface="Roboto Black"/>
                <a:cs typeface="Roboto Black"/>
                <a:sym typeface="Roboto Black"/>
              </a:rPr>
              <a:t>신지용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67" name="Google Shape;867;g3c0c338455d_37_0"/>
          <p:cNvSpPr txBox="1"/>
          <p:nvPr/>
        </p:nvSpPr>
        <p:spPr>
          <a:xfrm>
            <a:off x="771525" y="2687984"/>
            <a:ext cx="167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64748B"/>
                </a:solidFill>
                <a:latin typeface="Roboto Medium"/>
                <a:ea typeface="Roboto Medium"/>
                <a:cs typeface="Roboto Medium"/>
                <a:sym typeface="Roboto Medium"/>
              </a:rPr>
              <a:t>PM + Intent 분류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8" name="Google Shape;868;g3c0c338455d_37_0"/>
          <p:cNvSpPr txBox="1"/>
          <p:nvPr/>
        </p:nvSpPr>
        <p:spPr>
          <a:xfrm>
            <a:off x="770370" y="3832130"/>
            <a:ext cx="140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solidFill>
                  <a:srgbClr val="ED561B"/>
                </a:solidFill>
                <a:latin typeface="Roboto Black"/>
                <a:ea typeface="Roboto Black"/>
                <a:cs typeface="Roboto Black"/>
                <a:sym typeface="Roboto Black"/>
              </a:rPr>
              <a:t>87</a:t>
            </a:r>
            <a:r>
              <a:rPr lang="en-US" sz="2100">
                <a:solidFill>
                  <a:srgbClr val="ED561B"/>
                </a:solidFill>
                <a:latin typeface="Roboto Black"/>
                <a:ea typeface="Roboto Black"/>
                <a:cs typeface="Roboto Black"/>
                <a:sym typeface="Roboto Black"/>
              </a:rPr>
              <a:t>.</a:t>
            </a:r>
            <a:r>
              <a:rPr i="0" lang="en-US" sz="2100" u="none" cap="none" strike="noStrike">
                <a:solidFill>
                  <a:srgbClr val="ED561B"/>
                </a:solidFill>
                <a:latin typeface="Roboto Black"/>
                <a:ea typeface="Roboto Black"/>
                <a:cs typeface="Roboto Black"/>
                <a:sym typeface="Roboto Black"/>
              </a:rPr>
              <a:t>8</a:t>
            </a:r>
            <a:r>
              <a:rPr i="0" lang="en-US" sz="2100" u="none" cap="none" strike="noStrike">
                <a:solidFill>
                  <a:srgbClr val="ED561B"/>
                </a:solidFill>
                <a:latin typeface="Roboto Black"/>
                <a:ea typeface="Roboto Black"/>
                <a:cs typeface="Roboto Black"/>
                <a:sym typeface="Roboto Black"/>
              </a:rPr>
              <a:t>%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69" name="Google Shape;869;g3c0c338455d_37_0"/>
          <p:cNvSpPr txBox="1"/>
          <p:nvPr/>
        </p:nvSpPr>
        <p:spPr>
          <a:xfrm>
            <a:off x="770377" y="4192636"/>
            <a:ext cx="976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5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 F1 SCORE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g3c0c338455d_37_0"/>
          <p:cNvSpPr txBox="1"/>
          <p:nvPr/>
        </p:nvSpPr>
        <p:spPr>
          <a:xfrm>
            <a:off x="942975" y="4468861"/>
            <a:ext cx="1714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Intent 7-Stage </a:t>
            </a:r>
            <a:endParaRPr i="0" sz="1037" u="none" cap="none" strike="noStrike">
              <a:solidFill>
                <a:srgbClr val="33415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실험 설계·수행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1" name="Google Shape;871;g3c0c338455d_37_0"/>
          <p:cNvSpPr txBox="1"/>
          <p:nvPr/>
        </p:nvSpPr>
        <p:spPr>
          <a:xfrm>
            <a:off x="942975" y="4921311"/>
            <a:ext cx="14073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LangGraph 오케스트레이터 + SSE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2" name="Google Shape;872;g3c0c338455d_37_0"/>
          <p:cNvSpPr txBox="1"/>
          <p:nvPr/>
        </p:nvSpPr>
        <p:spPr>
          <a:xfrm>
            <a:off x="942975" y="5373745"/>
            <a:ext cx="1501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판단/문서/일정 Agent </a:t>
            </a:r>
            <a:endParaRPr i="0" sz="1037" u="none" cap="none" strike="noStrike">
              <a:solidFill>
                <a:srgbClr val="33415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공동 개발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3" name="Google Shape;873;g3c0c338455d_37_0"/>
          <p:cNvSpPr txBox="1"/>
          <p:nvPr/>
        </p:nvSpPr>
        <p:spPr>
          <a:xfrm>
            <a:off x="942975" y="5826183"/>
            <a:ext cx="1501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GitHub 이슈/마일스톤 </a:t>
            </a:r>
            <a:endParaRPr sz="1037">
              <a:solidFill>
                <a:srgbClr val="33415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전면 정비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874" name="Google Shape;874;g3c0c338455d_37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15555" y="196408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g3c0c338455d_37_0"/>
          <p:cNvSpPr txBox="1"/>
          <p:nvPr/>
        </p:nvSpPr>
        <p:spPr>
          <a:xfrm>
            <a:off x="3015555" y="2421284"/>
            <a:ext cx="1672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2D58B8"/>
                </a:solidFill>
                <a:latin typeface="Roboto Black"/>
                <a:ea typeface="Roboto Black"/>
                <a:cs typeface="Roboto Black"/>
                <a:sym typeface="Roboto Black"/>
              </a:rPr>
              <a:t>진승언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76" name="Google Shape;876;g3c0c338455d_37_0"/>
          <p:cNvSpPr txBox="1"/>
          <p:nvPr/>
        </p:nvSpPr>
        <p:spPr>
          <a:xfrm>
            <a:off x="3015555" y="2687984"/>
            <a:ext cx="167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64748B"/>
                </a:solidFill>
                <a:latin typeface="Roboto Medium"/>
                <a:ea typeface="Roboto Medium"/>
                <a:cs typeface="Roboto Medium"/>
                <a:sym typeface="Roboto Medium"/>
              </a:rPr>
              <a:t>AI 리드 — 문서 Agent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7" name="Google Shape;877;g3c0c338455d_37_0"/>
          <p:cNvSpPr txBox="1"/>
          <p:nvPr/>
        </p:nvSpPr>
        <p:spPr>
          <a:xfrm>
            <a:off x="3014400" y="3832139"/>
            <a:ext cx="152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solidFill>
                  <a:srgbClr val="2D58B8"/>
                </a:solidFill>
                <a:latin typeface="Roboto Black"/>
                <a:ea typeface="Roboto Black"/>
                <a:cs typeface="Roboto Black"/>
                <a:sym typeface="Roboto Black"/>
              </a:rPr>
              <a:t>4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78" name="Google Shape;878;g3c0c338455d_37_0"/>
          <p:cNvSpPr txBox="1"/>
          <p:nvPr/>
        </p:nvSpPr>
        <p:spPr>
          <a:xfrm>
            <a:off x="3014400" y="4192636"/>
            <a:ext cx="15012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5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CORE DOC FUNCTIONS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9" name="Google Shape;879;g3c0c338455d_37_0"/>
          <p:cNvSpPr txBox="1"/>
          <p:nvPr/>
        </p:nvSpPr>
        <p:spPr>
          <a:xfrm>
            <a:off x="3187005" y="4468870"/>
            <a:ext cx="1501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Document Agent (생성/요약/검색)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80" name="Google Shape;880;g3c0c338455d_37_0"/>
          <p:cNvSpPr txBox="1"/>
          <p:nvPr/>
        </p:nvSpPr>
        <p:spPr>
          <a:xfrm>
            <a:off x="3187005" y="4921308"/>
            <a:ext cx="15012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PDF·DOCX 파서 + 템플릿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81" name="Google Shape;881;g3c0c338455d_37_0"/>
          <p:cNvSpPr txBox="1"/>
          <p:nvPr/>
        </p:nvSpPr>
        <p:spPr>
          <a:xfrm>
            <a:off x="3187005" y="5195152"/>
            <a:ext cx="15012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CI/CD 파이프라인 구축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82" name="Google Shape;882;g3c0c338455d_37_0"/>
          <p:cNvSpPr txBox="1"/>
          <p:nvPr/>
        </p:nvSpPr>
        <p:spPr>
          <a:xfrm>
            <a:off x="3187005" y="5468995"/>
            <a:ext cx="15012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Qdrant 문서 관리 API 구현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883" name="Google Shape;883;g3c0c338455d_37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59585" y="196408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g3c0c338455d_37_0"/>
          <p:cNvSpPr txBox="1"/>
          <p:nvPr/>
        </p:nvSpPr>
        <p:spPr>
          <a:xfrm>
            <a:off x="5259585" y="2421284"/>
            <a:ext cx="1672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58DC7"/>
                </a:solidFill>
                <a:latin typeface="Roboto Black"/>
                <a:ea typeface="Roboto Black"/>
                <a:cs typeface="Roboto Black"/>
                <a:sym typeface="Roboto Black"/>
              </a:rPr>
              <a:t>윤경은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85" name="Google Shape;885;g3c0c338455d_37_0"/>
          <p:cNvSpPr txBox="1"/>
          <p:nvPr/>
        </p:nvSpPr>
        <p:spPr>
          <a:xfrm>
            <a:off x="5259585" y="2687984"/>
            <a:ext cx="167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64748B"/>
                </a:solidFill>
                <a:latin typeface="Roboto Medium"/>
                <a:ea typeface="Roboto Medium"/>
                <a:cs typeface="Roboto Medium"/>
                <a:sym typeface="Roboto Medium"/>
              </a:rPr>
              <a:t>AI 서브 — 판단 Agent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86" name="Google Shape;886;g3c0c338455d_37_0"/>
          <p:cNvSpPr txBox="1"/>
          <p:nvPr/>
        </p:nvSpPr>
        <p:spPr>
          <a:xfrm>
            <a:off x="5258413" y="3832130"/>
            <a:ext cx="79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solidFill>
                  <a:srgbClr val="058DC7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r>
              <a:rPr lang="en-US" sz="2100">
                <a:solidFill>
                  <a:srgbClr val="058DC7"/>
                </a:solidFill>
                <a:latin typeface="Roboto Black"/>
                <a:ea typeface="Roboto Black"/>
                <a:cs typeface="Roboto Black"/>
                <a:sym typeface="Roboto Black"/>
              </a:rPr>
              <a:t>7</a:t>
            </a:r>
            <a:r>
              <a:rPr i="0" lang="en-US" sz="2100" u="none" cap="none" strike="noStrike">
                <a:solidFill>
                  <a:srgbClr val="058DC7"/>
                </a:solidFill>
                <a:latin typeface="Roboto Black"/>
                <a:ea typeface="Roboto Black"/>
                <a:cs typeface="Roboto Black"/>
                <a:sym typeface="Roboto Black"/>
              </a:rPr>
              <a:t>0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87" name="Google Shape;887;g3c0c338455d_37_0"/>
          <p:cNvSpPr txBox="1"/>
          <p:nvPr/>
        </p:nvSpPr>
        <p:spPr>
          <a:xfrm>
            <a:off x="5258423" y="4192636"/>
            <a:ext cx="17142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5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1" lang="en-US" sz="925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i="0" lang="en-US" sz="925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G. DOCUMENT CHUNKS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8" name="Google Shape;888;g3c0c338455d_37_0"/>
          <p:cNvSpPr txBox="1"/>
          <p:nvPr/>
        </p:nvSpPr>
        <p:spPr>
          <a:xfrm>
            <a:off x="5431035" y="4468870"/>
            <a:ext cx="15012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RAG (Qdrant + Reranker)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89" name="Google Shape;889;g3c0c338455d_37_0"/>
          <p:cNvSpPr txBox="1"/>
          <p:nvPr/>
        </p:nvSpPr>
        <p:spPr>
          <a:xfrm>
            <a:off x="5431035" y="4742714"/>
            <a:ext cx="15012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다중 규정 교차 판단 로직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90" name="Google Shape;890;g3c0c338455d_37_0"/>
          <p:cNvSpPr txBox="1"/>
          <p:nvPr/>
        </p:nvSpPr>
        <p:spPr>
          <a:xfrm>
            <a:off x="5431035" y="5016558"/>
            <a:ext cx="15012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4층 구조 환각 방지 시스템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91" name="Google Shape;891;g3c0c338455d_37_0"/>
          <p:cNvSpPr txBox="1"/>
          <p:nvPr/>
        </p:nvSpPr>
        <p:spPr>
          <a:xfrm>
            <a:off x="5431035" y="5290402"/>
            <a:ext cx="1501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Fine-tuning 데이터 </a:t>
            </a:r>
            <a:endParaRPr i="0" sz="1037" u="none" cap="none" strike="noStrike">
              <a:solidFill>
                <a:srgbClr val="33415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1.5k 구축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892" name="Google Shape;892;g3c0c338455d_37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03616" y="196408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g3c0c338455d_37_0"/>
          <p:cNvSpPr txBox="1"/>
          <p:nvPr/>
        </p:nvSpPr>
        <p:spPr>
          <a:xfrm>
            <a:off x="7503616" y="2421284"/>
            <a:ext cx="1672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50B432"/>
                </a:solidFill>
                <a:latin typeface="Roboto Black"/>
                <a:ea typeface="Roboto Black"/>
                <a:cs typeface="Roboto Black"/>
                <a:sym typeface="Roboto Black"/>
              </a:rPr>
              <a:t>안혜빈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94" name="Google Shape;894;g3c0c338455d_37_0"/>
          <p:cNvSpPr txBox="1"/>
          <p:nvPr/>
        </p:nvSpPr>
        <p:spPr>
          <a:xfrm>
            <a:off x="7503616" y="2687984"/>
            <a:ext cx="167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64748B"/>
                </a:solidFill>
                <a:latin typeface="Roboto Medium"/>
                <a:ea typeface="Roboto Medium"/>
                <a:cs typeface="Roboto Medium"/>
                <a:sym typeface="Roboto Medium"/>
              </a:rPr>
              <a:t>Backend + Google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95" name="Google Shape;895;g3c0c338455d_37_0"/>
          <p:cNvSpPr txBox="1"/>
          <p:nvPr/>
        </p:nvSpPr>
        <p:spPr>
          <a:xfrm>
            <a:off x="7502480" y="3832130"/>
            <a:ext cx="635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solidFill>
                  <a:srgbClr val="50B432"/>
                </a:solidFill>
                <a:latin typeface="Roboto Black"/>
                <a:ea typeface="Roboto Black"/>
                <a:cs typeface="Roboto Black"/>
                <a:sym typeface="Roboto Black"/>
              </a:rPr>
              <a:t>51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96" name="Google Shape;896;g3c0c338455d_37_0"/>
          <p:cNvSpPr txBox="1"/>
          <p:nvPr/>
        </p:nvSpPr>
        <p:spPr>
          <a:xfrm>
            <a:off x="7502445" y="4192636"/>
            <a:ext cx="1642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5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REST API ENDPOINTS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g3c0c338455d_37_0"/>
          <p:cNvSpPr txBox="1"/>
          <p:nvPr/>
        </p:nvSpPr>
        <p:spPr>
          <a:xfrm>
            <a:off x="7675066" y="4468870"/>
            <a:ext cx="15012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DB 11개 테이블 설계·관리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98" name="Google Shape;898;g3c0c338455d_37_0"/>
          <p:cNvSpPr txBox="1"/>
          <p:nvPr/>
        </p:nvSpPr>
        <p:spPr>
          <a:xfrm>
            <a:off x="7675066" y="4742714"/>
            <a:ext cx="1501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Google 5대 서비스 통합 (OAuth)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99" name="Google Shape;899;g3c0c338455d_37_0"/>
          <p:cNvSpPr txBox="1"/>
          <p:nvPr/>
        </p:nvSpPr>
        <p:spPr>
          <a:xfrm>
            <a:off x="7675066" y="5195152"/>
            <a:ext cx="15012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Schedule Agent API 구현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00" name="Google Shape;900;g3c0c338455d_37_0"/>
          <p:cNvSpPr txBox="1"/>
          <p:nvPr/>
        </p:nvSpPr>
        <p:spPr>
          <a:xfrm>
            <a:off x="3169709" y="5738014"/>
            <a:ext cx="1501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AWS EC2 배포 및</a:t>
            </a:r>
            <a:endParaRPr i="0" sz="1037" u="none" cap="none" strike="noStrike">
              <a:solidFill>
                <a:srgbClr val="33415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CI/CD 운영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901" name="Google Shape;901;g3c0c338455d_37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47646" y="196408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g3c0c338455d_37_0"/>
          <p:cNvSpPr txBox="1"/>
          <p:nvPr/>
        </p:nvSpPr>
        <p:spPr>
          <a:xfrm>
            <a:off x="9747646" y="2421284"/>
            <a:ext cx="1672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accent4"/>
                </a:solidFill>
                <a:latin typeface="Roboto Black"/>
                <a:ea typeface="Roboto Black"/>
                <a:cs typeface="Roboto Black"/>
                <a:sym typeface="Roboto Black"/>
              </a:rPr>
              <a:t>문지영</a:t>
            </a:r>
            <a:endParaRPr sz="1500">
              <a:solidFill>
                <a:schemeClr val="accent4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03" name="Google Shape;903;g3c0c338455d_37_0"/>
          <p:cNvSpPr txBox="1"/>
          <p:nvPr/>
        </p:nvSpPr>
        <p:spPr>
          <a:xfrm>
            <a:off x="9747646" y="2687984"/>
            <a:ext cx="167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64748B"/>
                </a:solidFill>
                <a:latin typeface="Roboto Medium"/>
                <a:ea typeface="Roboto Medium"/>
                <a:cs typeface="Roboto Medium"/>
                <a:sym typeface="Roboto Medium"/>
              </a:rPr>
              <a:t>Frontend 전담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04" name="Google Shape;904;g3c0c338455d_37_0"/>
          <p:cNvSpPr txBox="1"/>
          <p:nvPr/>
        </p:nvSpPr>
        <p:spPr>
          <a:xfrm>
            <a:off x="9746504" y="3832130"/>
            <a:ext cx="92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solidFill>
                  <a:schemeClr val="accent4"/>
                </a:solidFill>
                <a:latin typeface="Roboto Black"/>
                <a:ea typeface="Roboto Black"/>
                <a:cs typeface="Roboto Black"/>
                <a:sym typeface="Roboto Black"/>
              </a:rPr>
              <a:t>63</a:t>
            </a:r>
            <a:endParaRPr>
              <a:solidFill>
                <a:schemeClr val="accent4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05" name="Google Shape;905;g3c0c338455d_37_0"/>
          <p:cNvSpPr txBox="1"/>
          <p:nvPr/>
        </p:nvSpPr>
        <p:spPr>
          <a:xfrm>
            <a:off x="9746507" y="4192636"/>
            <a:ext cx="20727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5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REACT COMPONENTS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g3c0c338455d_37_0"/>
          <p:cNvSpPr txBox="1"/>
          <p:nvPr/>
        </p:nvSpPr>
        <p:spPr>
          <a:xfrm>
            <a:off x="9919096" y="4468870"/>
            <a:ext cx="15012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12페이지 전체 UI/UX 개발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07" name="Google Shape;907;g3c0c338455d_37_0"/>
          <p:cNvSpPr txBox="1"/>
          <p:nvPr/>
        </p:nvSpPr>
        <p:spPr>
          <a:xfrm>
            <a:off x="9919096" y="4742714"/>
            <a:ext cx="1501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대시보드·챗봇·일정 인터페이스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08" name="Google Shape;908;g3c0c338455d_37_0"/>
          <p:cNvSpPr txBox="1"/>
          <p:nvPr/>
        </p:nvSpPr>
        <p:spPr>
          <a:xfrm>
            <a:off x="9919096" y="5195152"/>
            <a:ext cx="1501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다크모드 + Zustand </a:t>
            </a:r>
            <a:endParaRPr i="0" sz="1037" u="none" cap="none" strike="noStrike">
              <a:solidFill>
                <a:srgbClr val="33415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상태 관리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09" name="Google Shape;909;g3c0c338455d_37_0"/>
          <p:cNvSpPr txBox="1"/>
          <p:nvPr/>
        </p:nvSpPr>
        <p:spPr>
          <a:xfrm>
            <a:off x="9919096" y="5647589"/>
            <a:ext cx="15012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SSE 기반 실시간 통신 구현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910" name="Google Shape;910;g3c0c338455d_37_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7250" y="2059334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g3c0c338455d_37_0"/>
          <p:cNvSpPr txBox="1"/>
          <p:nvPr/>
        </p:nvSpPr>
        <p:spPr>
          <a:xfrm>
            <a:off x="771525" y="4468870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ED561B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12" name="Google Shape;912;g3c0c338455d_37_0"/>
          <p:cNvSpPr txBox="1"/>
          <p:nvPr/>
        </p:nvSpPr>
        <p:spPr>
          <a:xfrm>
            <a:off x="771525" y="4921308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ED561B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13" name="Google Shape;913;g3c0c338455d_37_0"/>
          <p:cNvSpPr txBox="1"/>
          <p:nvPr/>
        </p:nvSpPr>
        <p:spPr>
          <a:xfrm>
            <a:off x="771525" y="5373745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ED561B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14" name="Google Shape;914;g3c0c338455d_37_0"/>
          <p:cNvSpPr txBox="1"/>
          <p:nvPr/>
        </p:nvSpPr>
        <p:spPr>
          <a:xfrm>
            <a:off x="771525" y="5826183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ED561B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915" name="Google Shape;915;g3c0c338455d_37_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129855" y="2059334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g3c0c338455d_37_0"/>
          <p:cNvSpPr txBox="1"/>
          <p:nvPr/>
        </p:nvSpPr>
        <p:spPr>
          <a:xfrm>
            <a:off x="3015555" y="4468870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2D58B8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17" name="Google Shape;917;g3c0c338455d_37_0"/>
          <p:cNvSpPr txBox="1"/>
          <p:nvPr/>
        </p:nvSpPr>
        <p:spPr>
          <a:xfrm>
            <a:off x="3015555" y="4921308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2D58B8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18" name="Google Shape;918;g3c0c338455d_37_0"/>
          <p:cNvSpPr txBox="1"/>
          <p:nvPr/>
        </p:nvSpPr>
        <p:spPr>
          <a:xfrm>
            <a:off x="3015555" y="5195152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2D58B8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19" name="Google Shape;919;g3c0c338455d_37_0"/>
          <p:cNvSpPr txBox="1"/>
          <p:nvPr/>
        </p:nvSpPr>
        <p:spPr>
          <a:xfrm>
            <a:off x="3015555" y="5468995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2D58B8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920" name="Google Shape;920;g3c0c338455d_37_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354835" y="205933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g3c0c338455d_37_0"/>
          <p:cNvSpPr txBox="1"/>
          <p:nvPr/>
        </p:nvSpPr>
        <p:spPr>
          <a:xfrm>
            <a:off x="5259585" y="4468870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058DC7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22" name="Google Shape;922;g3c0c338455d_37_0"/>
          <p:cNvSpPr txBox="1"/>
          <p:nvPr/>
        </p:nvSpPr>
        <p:spPr>
          <a:xfrm>
            <a:off x="5259585" y="4742714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058DC7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23" name="Google Shape;923;g3c0c338455d_37_0"/>
          <p:cNvSpPr txBox="1"/>
          <p:nvPr/>
        </p:nvSpPr>
        <p:spPr>
          <a:xfrm>
            <a:off x="5259585" y="5016558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058DC7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24" name="Google Shape;924;g3c0c338455d_37_0"/>
          <p:cNvSpPr txBox="1"/>
          <p:nvPr/>
        </p:nvSpPr>
        <p:spPr>
          <a:xfrm>
            <a:off x="5259585" y="5290402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058DC7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925" name="Google Shape;925;g3c0c338455d_37_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598866" y="205933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g3c0c338455d_37_0"/>
          <p:cNvSpPr txBox="1"/>
          <p:nvPr/>
        </p:nvSpPr>
        <p:spPr>
          <a:xfrm>
            <a:off x="7503616" y="4468870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50B432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27" name="Google Shape;927;g3c0c338455d_37_0"/>
          <p:cNvSpPr txBox="1"/>
          <p:nvPr/>
        </p:nvSpPr>
        <p:spPr>
          <a:xfrm>
            <a:off x="7503616" y="4742714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50B432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28" name="Google Shape;928;g3c0c338455d_37_0"/>
          <p:cNvSpPr txBox="1"/>
          <p:nvPr/>
        </p:nvSpPr>
        <p:spPr>
          <a:xfrm>
            <a:off x="7503616" y="5195152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50B432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29" name="Google Shape;929;g3c0c338455d_37_0"/>
          <p:cNvSpPr txBox="1"/>
          <p:nvPr/>
        </p:nvSpPr>
        <p:spPr>
          <a:xfrm>
            <a:off x="7503616" y="5468995"/>
            <a:ext cx="4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930" name="Google Shape;930;g3c0c338455d_37_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833371" y="2059334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g3c0c338455d_37_0"/>
          <p:cNvSpPr txBox="1"/>
          <p:nvPr/>
        </p:nvSpPr>
        <p:spPr>
          <a:xfrm>
            <a:off x="9747646" y="4468870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solidFill>
                <a:schemeClr val="accent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32" name="Google Shape;932;g3c0c338455d_37_0"/>
          <p:cNvSpPr txBox="1"/>
          <p:nvPr/>
        </p:nvSpPr>
        <p:spPr>
          <a:xfrm>
            <a:off x="9747646" y="4742714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solidFill>
                <a:schemeClr val="accent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33" name="Google Shape;933;g3c0c338455d_37_0"/>
          <p:cNvSpPr txBox="1"/>
          <p:nvPr/>
        </p:nvSpPr>
        <p:spPr>
          <a:xfrm>
            <a:off x="9747646" y="5195152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solidFill>
                <a:schemeClr val="accent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34" name="Google Shape;934;g3c0c338455d_37_0"/>
          <p:cNvSpPr txBox="1"/>
          <p:nvPr/>
        </p:nvSpPr>
        <p:spPr>
          <a:xfrm>
            <a:off x="9747646" y="5647589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solidFill>
                <a:schemeClr val="accent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35" name="Google Shape;935;g3c0c338455d_37_0"/>
          <p:cNvSpPr txBox="1"/>
          <p:nvPr/>
        </p:nvSpPr>
        <p:spPr>
          <a:xfrm>
            <a:off x="3014061" y="5726680"/>
            <a:ext cx="47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37" u="none" cap="none" strike="noStrike">
                <a:solidFill>
                  <a:srgbClr val="2D58B8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36" name="Google Shape;936;g3c0c338455d_37_0"/>
          <p:cNvSpPr txBox="1"/>
          <p:nvPr/>
        </p:nvSpPr>
        <p:spPr>
          <a:xfrm>
            <a:off x="762000" y="571500"/>
            <a:ext cx="569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7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역할별 업무 현황</a:t>
            </a:r>
            <a:endParaRPr sz="2700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37" name="Google Shape;937;g3c0c338455d_37_0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938" name="Google Shape;938;g3c0c338455d_37_0"/>
          <p:cNvSpPr txBox="1"/>
          <p:nvPr/>
        </p:nvSpPr>
        <p:spPr>
          <a:xfrm>
            <a:off x="1156638" y="3257997"/>
            <a:ext cx="92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434343"/>
                </a:solidFill>
                <a:latin typeface="Roboto Black"/>
                <a:ea typeface="Roboto Black"/>
                <a:cs typeface="Roboto Black"/>
                <a:sym typeface="Roboto Black"/>
              </a:rPr>
              <a:t>66</a:t>
            </a:r>
            <a:r>
              <a:rPr i="0" lang="en-US" sz="2700" u="none" cap="none" strike="noStrike">
                <a:solidFill>
                  <a:srgbClr val="434343"/>
                </a:solidFill>
                <a:latin typeface="Roboto Black"/>
                <a:ea typeface="Roboto Black"/>
                <a:cs typeface="Roboto Black"/>
                <a:sym typeface="Roboto Black"/>
              </a:rPr>
              <a:t>%</a:t>
            </a:r>
            <a:endParaRPr sz="2000">
              <a:solidFill>
                <a:srgbClr val="43434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39" name="Google Shape;939;g3c0c338455d_37_0"/>
          <p:cNvSpPr txBox="1"/>
          <p:nvPr/>
        </p:nvSpPr>
        <p:spPr>
          <a:xfrm>
            <a:off x="1366326" y="3135109"/>
            <a:ext cx="5034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7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rPr>
              <a:t>진행률</a:t>
            </a:r>
            <a:endParaRPr sz="1600">
              <a:solidFill>
                <a:srgbClr val="88888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40" name="Google Shape;940;g3c0c338455d_37_0"/>
          <p:cNvSpPr txBox="1"/>
          <p:nvPr/>
        </p:nvSpPr>
        <p:spPr>
          <a:xfrm>
            <a:off x="3390400" y="3267522"/>
            <a:ext cx="92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434343"/>
                </a:solidFill>
                <a:latin typeface="Roboto Black"/>
                <a:ea typeface="Roboto Black"/>
                <a:cs typeface="Roboto Black"/>
                <a:sym typeface="Roboto Black"/>
              </a:rPr>
              <a:t>58</a:t>
            </a:r>
            <a:r>
              <a:rPr i="0" lang="en-US" sz="2700" u="none" cap="none" strike="noStrike">
                <a:solidFill>
                  <a:srgbClr val="434343"/>
                </a:solidFill>
                <a:latin typeface="Roboto Black"/>
                <a:ea typeface="Roboto Black"/>
                <a:cs typeface="Roboto Black"/>
                <a:sym typeface="Roboto Black"/>
              </a:rPr>
              <a:t>%</a:t>
            </a:r>
            <a:endParaRPr sz="2000">
              <a:solidFill>
                <a:srgbClr val="43434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41" name="Google Shape;941;g3c0c338455d_37_0"/>
          <p:cNvSpPr txBox="1"/>
          <p:nvPr/>
        </p:nvSpPr>
        <p:spPr>
          <a:xfrm>
            <a:off x="3600088" y="3135109"/>
            <a:ext cx="5034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7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rPr>
              <a:t>진행률</a:t>
            </a:r>
            <a:endParaRPr sz="1600">
              <a:solidFill>
                <a:srgbClr val="88888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42" name="Google Shape;942;g3c0c338455d_37_0"/>
          <p:cNvSpPr txBox="1"/>
          <p:nvPr/>
        </p:nvSpPr>
        <p:spPr>
          <a:xfrm>
            <a:off x="5739297" y="3248859"/>
            <a:ext cx="713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434343"/>
                </a:solidFill>
                <a:latin typeface="Roboto Black"/>
                <a:ea typeface="Roboto Black"/>
                <a:cs typeface="Roboto Black"/>
                <a:sym typeface="Roboto Black"/>
              </a:rPr>
              <a:t>81</a:t>
            </a:r>
            <a:r>
              <a:rPr i="0" lang="en-US" sz="2700" u="none" cap="none" strike="noStrike">
                <a:solidFill>
                  <a:srgbClr val="434343"/>
                </a:solidFill>
                <a:latin typeface="Roboto Black"/>
                <a:ea typeface="Roboto Black"/>
                <a:cs typeface="Roboto Black"/>
                <a:sym typeface="Roboto Black"/>
              </a:rPr>
              <a:t>%</a:t>
            </a:r>
            <a:endParaRPr sz="2000">
              <a:solidFill>
                <a:srgbClr val="43434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43" name="Google Shape;943;g3c0c338455d_37_0"/>
          <p:cNvSpPr txBox="1"/>
          <p:nvPr/>
        </p:nvSpPr>
        <p:spPr>
          <a:xfrm>
            <a:off x="5812151" y="3135109"/>
            <a:ext cx="5034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7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rPr>
              <a:t>진행률</a:t>
            </a:r>
            <a:endParaRPr sz="1600">
              <a:solidFill>
                <a:srgbClr val="88888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44" name="Google Shape;944;g3c0c338455d_37_0"/>
          <p:cNvSpPr txBox="1"/>
          <p:nvPr/>
        </p:nvSpPr>
        <p:spPr>
          <a:xfrm>
            <a:off x="7878475" y="3257997"/>
            <a:ext cx="92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434343"/>
                </a:solidFill>
                <a:latin typeface="Roboto Black"/>
                <a:ea typeface="Roboto Black"/>
                <a:cs typeface="Roboto Black"/>
                <a:sym typeface="Roboto Black"/>
              </a:rPr>
              <a:t>80</a:t>
            </a:r>
            <a:r>
              <a:rPr i="0" lang="en-US" sz="2700" u="none" cap="none" strike="noStrike">
                <a:solidFill>
                  <a:srgbClr val="434343"/>
                </a:solidFill>
                <a:latin typeface="Roboto Black"/>
                <a:ea typeface="Roboto Black"/>
                <a:cs typeface="Roboto Black"/>
                <a:sym typeface="Roboto Black"/>
              </a:rPr>
              <a:t>%</a:t>
            </a:r>
            <a:endParaRPr sz="2000">
              <a:solidFill>
                <a:srgbClr val="43434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45" name="Google Shape;945;g3c0c338455d_37_0"/>
          <p:cNvSpPr txBox="1"/>
          <p:nvPr/>
        </p:nvSpPr>
        <p:spPr>
          <a:xfrm>
            <a:off x="8088163" y="3135109"/>
            <a:ext cx="5034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7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rPr>
              <a:t>진행률</a:t>
            </a:r>
            <a:endParaRPr sz="1600">
              <a:solidFill>
                <a:srgbClr val="88888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46" name="Google Shape;946;g3c0c338455d_37_0"/>
          <p:cNvSpPr txBox="1"/>
          <p:nvPr/>
        </p:nvSpPr>
        <p:spPr>
          <a:xfrm>
            <a:off x="10154488" y="3257997"/>
            <a:ext cx="92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434343"/>
                </a:solidFill>
                <a:latin typeface="Roboto Black"/>
                <a:ea typeface="Roboto Black"/>
                <a:cs typeface="Roboto Black"/>
                <a:sym typeface="Roboto Black"/>
              </a:rPr>
              <a:t>89</a:t>
            </a:r>
            <a:r>
              <a:rPr i="0" lang="en-US" sz="2700" u="none" cap="none" strike="noStrike">
                <a:solidFill>
                  <a:srgbClr val="434343"/>
                </a:solidFill>
                <a:latin typeface="Roboto Black"/>
                <a:ea typeface="Roboto Black"/>
                <a:cs typeface="Roboto Black"/>
                <a:sym typeface="Roboto Black"/>
              </a:rPr>
              <a:t>%</a:t>
            </a:r>
            <a:endParaRPr sz="2000">
              <a:solidFill>
                <a:srgbClr val="43434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47" name="Google Shape;947;g3c0c338455d_37_0"/>
          <p:cNvSpPr txBox="1"/>
          <p:nvPr/>
        </p:nvSpPr>
        <p:spPr>
          <a:xfrm>
            <a:off x="10364176" y="3135109"/>
            <a:ext cx="5034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7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rPr>
              <a:t>진행률</a:t>
            </a:r>
            <a:endParaRPr sz="1600">
              <a:solidFill>
                <a:srgbClr val="88888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2" name="Google Shape;952;g3c0c338455d_24_3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7833" y="607812"/>
            <a:ext cx="385762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g3c0c338455d_24_311"/>
          <p:cNvSpPr/>
          <p:nvPr/>
        </p:nvSpPr>
        <p:spPr>
          <a:xfrm>
            <a:off x="666713" y="1678178"/>
            <a:ext cx="5286300" cy="1843800"/>
          </a:xfrm>
          <a:prstGeom prst="flowChartAlternateProcess">
            <a:avLst/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g3c0c338455d_24_311"/>
          <p:cNvSpPr/>
          <p:nvPr/>
        </p:nvSpPr>
        <p:spPr>
          <a:xfrm>
            <a:off x="6238838" y="1678178"/>
            <a:ext cx="5286300" cy="1843800"/>
          </a:xfrm>
          <a:prstGeom prst="flowChartAlternateProcess">
            <a:avLst/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g3c0c338455d_24_311"/>
          <p:cNvSpPr/>
          <p:nvPr/>
        </p:nvSpPr>
        <p:spPr>
          <a:xfrm>
            <a:off x="666713" y="3807760"/>
            <a:ext cx="5286300" cy="1843800"/>
          </a:xfrm>
          <a:prstGeom prst="flowChartAlternateProcess">
            <a:avLst/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g3c0c338455d_24_311"/>
          <p:cNvSpPr/>
          <p:nvPr/>
        </p:nvSpPr>
        <p:spPr>
          <a:xfrm>
            <a:off x="6238838" y="3807760"/>
            <a:ext cx="5286300" cy="1843800"/>
          </a:xfrm>
          <a:prstGeom prst="flowChartAlternateProcess">
            <a:avLst/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g3c0c338455d_24_311"/>
          <p:cNvSpPr/>
          <p:nvPr/>
        </p:nvSpPr>
        <p:spPr>
          <a:xfrm>
            <a:off x="666713" y="3512485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g3c0c338455d_24_311"/>
          <p:cNvSpPr/>
          <p:nvPr/>
        </p:nvSpPr>
        <p:spPr>
          <a:xfrm>
            <a:off x="666713" y="3512485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g3c0c338455d_24_311"/>
          <p:cNvSpPr/>
          <p:nvPr/>
        </p:nvSpPr>
        <p:spPr>
          <a:xfrm>
            <a:off x="666713" y="1678178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g3c0c338455d_24_311"/>
          <p:cNvSpPr/>
          <p:nvPr/>
        </p:nvSpPr>
        <p:spPr>
          <a:xfrm>
            <a:off x="5943563" y="1678178"/>
            <a:ext cx="9600" cy="184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g3c0c338455d_24_311"/>
          <p:cNvSpPr txBox="1"/>
          <p:nvPr/>
        </p:nvSpPr>
        <p:spPr>
          <a:xfrm>
            <a:off x="1476338" y="1973453"/>
            <a:ext cx="439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Intent 분류 최적화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g3c0c338455d_24_311"/>
          <p:cNvSpPr txBox="1"/>
          <p:nvPr/>
        </p:nvSpPr>
        <p:spPr>
          <a:xfrm>
            <a:off x="1476338" y="2403864"/>
            <a:ext cx="41814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KoELECTRA 모델 파인튜닝 및 Label Smoothing을 통해 Test F1 97.88% 달성, 과신뢰 오분류 69% 감소 및 빠른 추론 속도 확보.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g3c0c338455d_24_311"/>
          <p:cNvSpPr/>
          <p:nvPr/>
        </p:nvSpPr>
        <p:spPr>
          <a:xfrm>
            <a:off x="6238838" y="3512485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g3c0c338455d_24_311"/>
          <p:cNvSpPr/>
          <p:nvPr/>
        </p:nvSpPr>
        <p:spPr>
          <a:xfrm>
            <a:off x="6238838" y="3512485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g3c0c338455d_24_311"/>
          <p:cNvSpPr/>
          <p:nvPr/>
        </p:nvSpPr>
        <p:spPr>
          <a:xfrm>
            <a:off x="6238838" y="1678178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g3c0c338455d_24_311"/>
          <p:cNvSpPr/>
          <p:nvPr/>
        </p:nvSpPr>
        <p:spPr>
          <a:xfrm>
            <a:off x="11515688" y="1678178"/>
            <a:ext cx="9600" cy="184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g3c0c338455d_24_311"/>
          <p:cNvSpPr txBox="1"/>
          <p:nvPr/>
        </p:nvSpPr>
        <p:spPr>
          <a:xfrm>
            <a:off x="7048463" y="1973453"/>
            <a:ext cx="439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하이브리드 RAG 구축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g3c0c338455d_24_311"/>
          <p:cNvSpPr txBox="1"/>
          <p:nvPr/>
        </p:nvSpPr>
        <p:spPr>
          <a:xfrm>
            <a:off x="7048463" y="2403864"/>
            <a:ext cx="4181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단순 키워드를 넘어서는 BM25 매칭과 Qdrant 벡터 검색을 결합한 하이브리드 검색 파이프라인 구현 완비.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69" name="Google Shape;969;g3c0c338455d_24_311"/>
          <p:cNvSpPr/>
          <p:nvPr/>
        </p:nvSpPr>
        <p:spPr>
          <a:xfrm>
            <a:off x="666713" y="5642067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g3c0c338455d_24_311"/>
          <p:cNvSpPr/>
          <p:nvPr/>
        </p:nvSpPr>
        <p:spPr>
          <a:xfrm>
            <a:off x="666713" y="5642067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g3c0c338455d_24_311"/>
          <p:cNvSpPr/>
          <p:nvPr/>
        </p:nvSpPr>
        <p:spPr>
          <a:xfrm>
            <a:off x="666713" y="3807760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g3c0c338455d_24_311"/>
          <p:cNvSpPr/>
          <p:nvPr/>
        </p:nvSpPr>
        <p:spPr>
          <a:xfrm>
            <a:off x="5943563" y="3807760"/>
            <a:ext cx="9600" cy="184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g3c0c338455d_24_311"/>
          <p:cNvSpPr txBox="1"/>
          <p:nvPr/>
        </p:nvSpPr>
        <p:spPr>
          <a:xfrm>
            <a:off x="1476338" y="4103035"/>
            <a:ext cx="439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외부 서비스 연동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g3c0c338455d_24_311"/>
          <p:cNvSpPr txBox="1"/>
          <p:nvPr/>
        </p:nvSpPr>
        <p:spPr>
          <a:xfrm>
            <a:off x="1476338" y="4533446"/>
            <a:ext cx="41814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Google Calendar, Tasks, Gmail, Sheets, </a:t>
            </a:r>
            <a:r>
              <a:rPr lang="en-US" sz="1350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Meeting</a:t>
            </a:r>
            <a:r>
              <a:rPr i="0" lang="en-US" sz="1350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 등 Google Workspace </a:t>
            </a:r>
            <a:r>
              <a:rPr lang="en-US" sz="1350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5</a:t>
            </a:r>
            <a:r>
              <a:rPr i="0" lang="en-US" sz="1350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종에 대한 통합 OAuth 인증 및 API 연동 성공.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75" name="Google Shape;975;g3c0c338455d_24_311"/>
          <p:cNvSpPr/>
          <p:nvPr/>
        </p:nvSpPr>
        <p:spPr>
          <a:xfrm>
            <a:off x="6238838" y="5642067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g3c0c338455d_24_311"/>
          <p:cNvSpPr/>
          <p:nvPr/>
        </p:nvSpPr>
        <p:spPr>
          <a:xfrm>
            <a:off x="6238838" y="5642067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g3c0c338455d_24_311"/>
          <p:cNvSpPr/>
          <p:nvPr/>
        </p:nvSpPr>
        <p:spPr>
          <a:xfrm>
            <a:off x="6238838" y="3807760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g3c0c338455d_24_311"/>
          <p:cNvSpPr/>
          <p:nvPr/>
        </p:nvSpPr>
        <p:spPr>
          <a:xfrm>
            <a:off x="11515688" y="3807760"/>
            <a:ext cx="9600" cy="184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g3c0c338455d_24_311"/>
          <p:cNvSpPr txBox="1"/>
          <p:nvPr/>
        </p:nvSpPr>
        <p:spPr>
          <a:xfrm>
            <a:off x="7048463" y="4103035"/>
            <a:ext cx="439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Full-Stack 인프라 구축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g3c0c338455d_24_311"/>
          <p:cNvSpPr txBox="1"/>
          <p:nvPr/>
        </p:nvSpPr>
        <p:spPr>
          <a:xfrm>
            <a:off x="7048463" y="4533446"/>
            <a:ext cx="4181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12개 테이블 기반 DB, 실시간 SSE 스트리밍 백엔드, 그리고 React 11개 페이지에 달하는 안정적인 프론트엔드 환경 구축.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981" name="Google Shape;981;g3c0c338455d_24_3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463" y="198297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2" name="Google Shape;982;g3c0c338455d_24_3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588" y="198297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3" name="Google Shape;983;g3c0c338455d_24_3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463" y="4112560"/>
            <a:ext cx="2952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4" name="Google Shape;984;g3c0c338455d_24_3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588" y="4112560"/>
            <a:ext cx="3429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g3c0c338455d_24_311"/>
          <p:cNvSpPr txBox="1"/>
          <p:nvPr/>
        </p:nvSpPr>
        <p:spPr>
          <a:xfrm>
            <a:off x="775226" y="571500"/>
            <a:ext cx="137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F2A4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핵심 성과 </a:t>
            </a:r>
            <a:endParaRPr sz="2700">
              <a:solidFill>
                <a:srgbClr val="1F2A4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986" name="Google Shape;986;g3c0c338455d_24_311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1" name="Google Shape;991;g3c0c338455d_37_6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5517356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2" name="Google Shape;992;g3c0c338455d_37_6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1323425"/>
            <a:ext cx="5214926" cy="250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3" name="Google Shape;993;g3c0c338455d_37_6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7425" y="1323425"/>
            <a:ext cx="5214950" cy="250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4" name="Google Shape;994;g3c0c338455d_37_6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4045900"/>
            <a:ext cx="5214926" cy="250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5" name="Google Shape;995;g3c0c338455d_37_6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7425" y="4045900"/>
            <a:ext cx="5214950" cy="250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6" name="Google Shape;996;g3c0c338455d_37_6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88468" y="175205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g3c0c338455d_37_656"/>
          <p:cNvSpPr txBox="1"/>
          <p:nvPr/>
        </p:nvSpPr>
        <p:spPr>
          <a:xfrm>
            <a:off x="2382667" y="2656931"/>
            <a:ext cx="1878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상용 API 의존성</a:t>
            </a:r>
            <a:endParaRPr/>
          </a:p>
        </p:txBody>
      </p:sp>
      <p:sp>
        <p:nvSpPr>
          <p:cNvPr id="998" name="Google Shape;998;g3c0c338455d_37_656"/>
          <p:cNvSpPr txBox="1"/>
          <p:nvPr/>
        </p:nvSpPr>
        <p:spPr>
          <a:xfrm>
            <a:off x="1000125" y="3133181"/>
            <a:ext cx="46434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GPT-4o-mini 등 외부 API 의존으로 인해 사내 민감 데이터의 보안 리스크(온프레미스 부재) 및 장기적 운영 비용 최적화에 한계가 있습니다.</a:t>
            </a:r>
            <a:endParaRPr/>
          </a:p>
        </p:txBody>
      </p:sp>
      <p:pic>
        <p:nvPicPr>
          <p:cNvPr descr="image.png" id="999" name="Google Shape;999;g3c0c338455d_37_6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41531" y="175205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g3c0c338455d_37_656"/>
          <p:cNvSpPr txBox="1"/>
          <p:nvPr/>
        </p:nvSpPr>
        <p:spPr>
          <a:xfrm>
            <a:off x="7330194" y="2656931"/>
            <a:ext cx="2889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복합 질문 처리 로직 부재</a:t>
            </a:r>
            <a:endParaRPr/>
          </a:p>
        </p:txBody>
      </p:sp>
      <p:sp>
        <p:nvSpPr>
          <p:cNvPr id="1001" name="Google Shape;1001;g3c0c338455d_37_656"/>
          <p:cNvSpPr txBox="1"/>
          <p:nvPr/>
        </p:nvSpPr>
        <p:spPr>
          <a:xfrm>
            <a:off x="6453187" y="3133181"/>
            <a:ext cx="46434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"회의록 요약하고 일정 추가해줘"와 같은 다중 의도가 섞인 복합 질문을 지능적으로 분할하고 처리하는 라우팅 파이프라인이 아직 미비합니다.</a:t>
            </a:r>
            <a:endParaRPr/>
          </a:p>
        </p:txBody>
      </p:sp>
      <p:pic>
        <p:nvPicPr>
          <p:cNvPr descr="image.png" id="1002" name="Google Shape;1002;g3c0c338455d_37_65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88468" y="431720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g3c0c338455d_37_656"/>
          <p:cNvSpPr txBox="1"/>
          <p:nvPr/>
        </p:nvSpPr>
        <p:spPr>
          <a:xfrm>
            <a:off x="1913233" y="5222081"/>
            <a:ext cx="2817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범용 모델의 도메인 한계</a:t>
            </a:r>
            <a:endParaRPr/>
          </a:p>
        </p:txBody>
      </p:sp>
      <p:sp>
        <p:nvSpPr>
          <p:cNvPr id="1004" name="Google Shape;1004;g3c0c338455d_37_656"/>
          <p:cNvSpPr txBox="1"/>
          <p:nvPr/>
        </p:nvSpPr>
        <p:spPr>
          <a:xfrm>
            <a:off x="1000125" y="5698331"/>
            <a:ext cx="46434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사내 규정 판단 및 특수 양식 출력 품질을 높이기 위한 Agent별 전문 파인튜닝(LoRA)이 적용되지 않아 판단 근거의 정밀도에 한계가 존재합니다.</a:t>
            </a:r>
            <a:endParaRPr/>
          </a:p>
        </p:txBody>
      </p:sp>
      <p:pic>
        <p:nvPicPr>
          <p:cNvPr descr="image.png" id="1005" name="Google Shape;1005;g3c0c338455d_37_65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41531" y="431720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g3c0c338455d_37_656"/>
          <p:cNvSpPr txBox="1"/>
          <p:nvPr/>
        </p:nvSpPr>
        <p:spPr>
          <a:xfrm>
            <a:off x="7221899" y="5222081"/>
            <a:ext cx="3105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Agent 간 자율 협업 미완성</a:t>
            </a:r>
            <a:endParaRPr/>
          </a:p>
        </p:txBody>
      </p:sp>
      <p:sp>
        <p:nvSpPr>
          <p:cNvPr id="1007" name="Google Shape;1007;g3c0c338455d_37_656"/>
          <p:cNvSpPr txBox="1"/>
          <p:nvPr/>
        </p:nvSpPr>
        <p:spPr>
          <a:xfrm>
            <a:off x="6453187" y="5698331"/>
            <a:ext cx="46434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사용자가 매 단계 개입해야 하는 현재의 구조를 넘어, Agent가 스스로 다음 단계를 판단하고 호출하는 완전 자율 워크플로우로의 고도화가 필요합니다.</a:t>
            </a:r>
            <a:endParaRPr/>
          </a:p>
        </p:txBody>
      </p:sp>
      <p:pic>
        <p:nvPicPr>
          <p:cNvPr descr="image.png" id="1008" name="Google Shape;1008;g3c0c338455d_37_65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68488" y="1952075"/>
            <a:ext cx="3429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9" name="Google Shape;1009;g3c0c338455d_37_65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41407" y="1962003"/>
            <a:ext cx="2762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0" name="Google Shape;1010;g3c0c338455d_37_65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218096" y="4517225"/>
            <a:ext cx="2933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1" name="Google Shape;1011;g3c0c338455d_37_65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641410" y="4537069"/>
            <a:ext cx="252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g3c0c338455d_37_656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pic>
        <p:nvPicPr>
          <p:cNvPr descr="image.png" id="1013" name="Google Shape;1013;g3c0c338455d_37_65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741817" y="607799"/>
            <a:ext cx="338137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g3c0c338455d_37_656"/>
          <p:cNvSpPr txBox="1"/>
          <p:nvPr/>
        </p:nvSpPr>
        <p:spPr>
          <a:xfrm>
            <a:off x="775226" y="571500"/>
            <a:ext cx="295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F2A4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현재 시스템의 한계점</a:t>
            </a:r>
            <a:endParaRPr sz="2700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9" name="Google Shape;1019;g3c0c338455d_2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981009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0" name="Google Shape;1020;g3c0c338455d_23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2775" y="1169150"/>
            <a:ext cx="1954400" cy="22295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1" name="Google Shape;1021;g3c0c338455d_23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18794" y="3981009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2" name="Google Shape;1022;g3c0c338455d_23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44825" y="1169150"/>
            <a:ext cx="1954400" cy="22295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3" name="Google Shape;1023;g3c0c338455d_23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0839" y="3981009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4" name="Google Shape;1024;g3c0c338455d_23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94665" y="607801"/>
            <a:ext cx="338137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g3c0c338455d_23_0"/>
          <p:cNvSpPr/>
          <p:nvPr/>
        </p:nvSpPr>
        <p:spPr>
          <a:xfrm>
            <a:off x="666750" y="3695134"/>
            <a:ext cx="10858500" cy="38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6" name="Google Shape;1026;g3c0c338455d_23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77255" y="4187234"/>
            <a:ext cx="533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g3c0c338455d_23_0"/>
          <p:cNvSpPr txBox="1"/>
          <p:nvPr/>
        </p:nvSpPr>
        <p:spPr>
          <a:xfrm>
            <a:off x="827915" y="4520609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74E13"/>
                </a:solidFill>
                <a:latin typeface="Roboto"/>
                <a:ea typeface="Roboto"/>
                <a:cs typeface="Roboto"/>
                <a:sym typeface="Roboto"/>
              </a:rPr>
              <a:t>복합 질문 강화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028" name="Google Shape;1028;g3c0c338455d_23_0"/>
          <p:cNvSpPr txBox="1"/>
          <p:nvPr/>
        </p:nvSpPr>
        <p:spPr>
          <a:xfrm>
            <a:off x="866775" y="4851007"/>
            <a:ext cx="15543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다중 의도를 분석하고 분리하여 동시 처리할 수 있는 Smart Hybrid 오케스트레이터를 고도화합니다.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1029" name="Google Shape;1029;g3c0c338455d_23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03277" y="1415698"/>
            <a:ext cx="533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g3c0c338455d_23_0"/>
          <p:cNvSpPr txBox="1"/>
          <p:nvPr/>
        </p:nvSpPr>
        <p:spPr>
          <a:xfrm>
            <a:off x="3053938" y="1749073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Agent 파인튜닝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031" name="Google Shape;1031;g3c0c338455d_23_0"/>
          <p:cNvSpPr txBox="1"/>
          <p:nvPr/>
        </p:nvSpPr>
        <p:spPr>
          <a:xfrm>
            <a:off x="2959475" y="2079459"/>
            <a:ext cx="16875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사내 규정 판단용(LoRA v1) 및 문서 처리용(LoRA v2) 도메인 특화 학습으로 정확도를 극대화합니다.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1032" name="Google Shape;1032;g3c0c338455d_23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29300" y="4187234"/>
            <a:ext cx="533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g3c0c338455d_23_0"/>
          <p:cNvSpPr txBox="1"/>
          <p:nvPr/>
        </p:nvSpPr>
        <p:spPr>
          <a:xfrm>
            <a:off x="5279960" y="4520609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자체 sLLM 전환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034" name="Google Shape;1034;g3c0c338455d_23_0"/>
          <p:cNvSpPr txBox="1"/>
          <p:nvPr/>
        </p:nvSpPr>
        <p:spPr>
          <a:xfrm>
            <a:off x="5318819" y="4851007"/>
            <a:ext cx="15543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외부 API 의존성을 낮추기 위해 Kanana-1.5-8B 기반 자체 모델로 교체하고 vLLM 서빙 환경을 구축합니다.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1035" name="Google Shape;1035;g3c0c338455d_23_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43622" y="1323684"/>
            <a:ext cx="556816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g3c0c338455d_23_0"/>
          <p:cNvSpPr txBox="1"/>
          <p:nvPr/>
        </p:nvSpPr>
        <p:spPr>
          <a:xfrm>
            <a:off x="7505982" y="1653823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34F5C"/>
                </a:solidFill>
                <a:latin typeface="Roboto"/>
                <a:ea typeface="Roboto"/>
                <a:cs typeface="Roboto"/>
                <a:sym typeface="Roboto"/>
              </a:rPr>
              <a:t>팀 워크스페이스</a:t>
            </a:r>
            <a:endParaRPr>
              <a:solidFill>
                <a:srgbClr val="134F5C"/>
              </a:solidFill>
            </a:endParaRPr>
          </a:p>
        </p:txBody>
      </p:sp>
      <p:sp>
        <p:nvSpPr>
          <p:cNvPr id="1037" name="Google Shape;1037;g3c0c338455d_23_0"/>
          <p:cNvSpPr txBox="1"/>
          <p:nvPr/>
        </p:nvSpPr>
        <p:spPr>
          <a:xfrm>
            <a:off x="7544841" y="1936596"/>
            <a:ext cx="15543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개인 비서를 넘어, 팀 단위 문서·일정 실시간 공유 및 Slack, Notion 등 실무 협업 도구 연동을 통한 통합 워크플로우를 구현합니다.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1038" name="Google Shape;1038;g3c0c338455d_23_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81344" y="4187234"/>
            <a:ext cx="533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g3c0c338455d_23_0"/>
          <p:cNvSpPr txBox="1"/>
          <p:nvPr/>
        </p:nvSpPr>
        <p:spPr>
          <a:xfrm>
            <a:off x="9732005" y="4520609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74E13"/>
                </a:solidFill>
                <a:latin typeface="Roboto"/>
                <a:ea typeface="Roboto"/>
                <a:cs typeface="Roboto"/>
                <a:sym typeface="Roboto"/>
              </a:rPr>
              <a:t>통합 테스트 &amp; 배포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040" name="Google Shape;1040;g3c0c338455d_23_0"/>
          <p:cNvSpPr txBox="1"/>
          <p:nvPr/>
        </p:nvSpPr>
        <p:spPr>
          <a:xfrm>
            <a:off x="9770864" y="4851007"/>
            <a:ext cx="15543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전체 E2E 시나리오 검증 및 GitHub Actions 기반 CI/CD 파이프라인을 통해 실서버에 안정적으로 배포합니다.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041" name="Google Shape;1041;g3c0c338455d_23_0"/>
          <p:cNvSpPr/>
          <p:nvPr/>
        </p:nvSpPr>
        <p:spPr>
          <a:xfrm>
            <a:off x="1510605" y="3561232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g3c0c338455d_23_0"/>
          <p:cNvSpPr/>
          <p:nvPr/>
        </p:nvSpPr>
        <p:spPr>
          <a:xfrm>
            <a:off x="3736627" y="3580834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g3c0c338455d_23_0"/>
          <p:cNvSpPr/>
          <p:nvPr/>
        </p:nvSpPr>
        <p:spPr>
          <a:xfrm>
            <a:off x="5962650" y="356122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g3c0c338455d_23_0"/>
          <p:cNvSpPr/>
          <p:nvPr/>
        </p:nvSpPr>
        <p:spPr>
          <a:xfrm>
            <a:off x="8188672" y="3580834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g3c0c338455d_23_0"/>
          <p:cNvSpPr/>
          <p:nvPr/>
        </p:nvSpPr>
        <p:spPr>
          <a:xfrm>
            <a:off x="10414694" y="358082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g3c0c338455d_23_0"/>
          <p:cNvSpPr txBox="1"/>
          <p:nvPr/>
        </p:nvSpPr>
        <p:spPr>
          <a:xfrm>
            <a:off x="762000" y="571500"/>
            <a:ext cx="435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F2A4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향후 계획 및 서비스 확장 로드맵</a:t>
            </a:r>
            <a:endParaRPr sz="2700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47" name="Google Shape;1047;g3c0c338455d_23_0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oogle Shape;1052;g3c09b11e3f6_15_10"/>
          <p:cNvGrpSpPr/>
          <p:nvPr/>
        </p:nvGrpSpPr>
        <p:grpSpPr>
          <a:xfrm>
            <a:off x="3919050" y="2646800"/>
            <a:ext cx="4353900" cy="1564410"/>
            <a:chOff x="3919050" y="2075150"/>
            <a:chExt cx="4353900" cy="1564410"/>
          </a:xfrm>
        </p:grpSpPr>
        <p:sp>
          <p:nvSpPr>
            <p:cNvPr id="1053" name="Google Shape;1053;g3c09b11e3f6_15_10"/>
            <p:cNvSpPr txBox="1"/>
            <p:nvPr/>
          </p:nvSpPr>
          <p:spPr>
            <a:xfrm>
              <a:off x="3919050" y="2075150"/>
              <a:ext cx="4353900" cy="10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800">
                  <a:solidFill>
                    <a:srgbClr val="5C7188"/>
                  </a:solidFill>
                  <a:latin typeface="Roboto"/>
                  <a:ea typeface="Roboto"/>
                  <a:cs typeface="Roboto"/>
                  <a:sym typeface="Roboto"/>
                </a:rPr>
                <a:t>THANK YOU </a:t>
              </a:r>
              <a:endParaRPr b="1" sz="5800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4" name="Google Shape;1054;g3c09b11e3f6_15_10"/>
            <p:cNvSpPr txBox="1"/>
            <p:nvPr/>
          </p:nvSpPr>
          <p:spPr>
            <a:xfrm>
              <a:off x="5580300" y="3070160"/>
              <a:ext cx="10314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16213E"/>
                  </a:solidFill>
                  <a:latin typeface="Roboto"/>
                  <a:ea typeface="Roboto"/>
                  <a:cs typeface="Roboto"/>
                  <a:sym typeface="Roboto"/>
                </a:rPr>
                <a:t>Q &amp; A </a:t>
              </a:r>
              <a:endParaRPr b="1" sz="25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55" name="Google Shape;1055;g3c09b11e3f6_15_10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F5F2EC"/>
      </a:lt2>
      <a:accent1>
        <a:srgbClr val="256CA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