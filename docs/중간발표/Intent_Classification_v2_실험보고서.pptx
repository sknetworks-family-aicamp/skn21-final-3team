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73152" cy="22860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Intent Classification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맑은 고딕"/>
              </a:defRPr>
            </a:pPr>
            <a:r>
              <a:t>7-Stage 체계적 실험을 통한 최적 모델 도출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291840"/>
            <a:ext cx="32004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5661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최종 모델  KoELECTRA-base-v3  |  Adv F1 87.58%  |  추론 7.9ms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작성자: 신지용 (PM)  |  WorkFlow Agent — 듀듀 팀  |  2026.02.24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389120"/>
            <a:ext cx="365760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617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937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Intent 클래스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9" y="4617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2,899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9" y="4937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394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실험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9" y="53949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9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비교 모델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821424"/>
            <a:ext cx="12191695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7-Stage 실험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맑은 고딕"/>
              </a:defRPr>
            </a:pPr>
            <a:r>
              <a:t>데이터 생성 → 모델 비교 → 최적화 → 보강 → 과신뢰 해소까지 체계적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0160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38988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737360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데이터 생성 +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103120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GPT-4o + Claude Sonnet 4 혼합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기본 2,299 + 경계쌍 600건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8 intent × ~288개, 균형 1.28x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280160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64408" y="138988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737360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Baseline 3모델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103120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KoELECTRA  Val F1 0.9825 ★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BERT-base  Val F1 0.9780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DistilKoBERT  Val F1 0.9498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280160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9048" y="138988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1737360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Grid Search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103120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32-point grid search</a:t>
            </a:r>
          </a:p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Best: ep10/lr3e-5/bs16 → 0.9897</a:t>
            </a:r>
          </a:p>
          <a:p>
            <a:pPr>
              <a:spcAft>
                <a:spcPts val="400"/>
              </a:spcAft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3-seed 안정성: 0.9874 ± 0.0033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280160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3688" y="138988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737360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최종 평가 (Adversarial)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103120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Adversarial 450건 스트레스 테스트</a:t>
            </a:r>
          </a:p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KoELECTRA Adv F1 0.8604 ★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McNemar p&gt;0.05 → 실용 기준 선택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3749039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09928" y="3858767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206239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오분류 분석 + 보강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571999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98건 타겟 보강 재학습</a:t>
            </a:r>
          </a:p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Adv F1 +1.80%p (0.8604→0.8784)</a:t>
            </a:r>
          </a:p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doc_qa +7.9%p 최대 개선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749039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44568" y="3858767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206239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Label Smoothing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571999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0B981"/>
                </a:solidFill>
                <a:latin typeface="맑은 고딕"/>
              </a:defRPr>
            </a:pPr>
            <a:r>
              <a:t>LS 0.1 → 과신뢰 66.7%→23.2%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오답 confidence 분리 가능 (thr 0.85)</a:t>
            </a:r>
          </a:p>
          <a:p>
            <a:pPr>
              <a:spcAft>
                <a:spcPts val="400"/>
              </a:spcAft>
              <a:defRPr sz="1000" b="0">
                <a:solidFill>
                  <a:srgbClr val="00D2FF"/>
                </a:solidFill>
                <a:latin typeface="맑은 고딕"/>
              </a:defRPr>
            </a:pPr>
            <a:r>
              <a:t>Adv F1 0.8758 (최종 채택 모델)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749039"/>
            <a:ext cx="2606040" cy="214884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79208" y="3858767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Stage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9208" y="4206239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라벨 리뷰 + 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4571999"/>
            <a:ext cx="23865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F59E0B"/>
                </a:solidFill>
                <a:latin typeface="맑은 고딕"/>
              </a:defRPr>
            </a:pPr>
            <a:r>
              <a:t>doc 오류 63%가 라벨 문제 확인</a:t>
            </a:r>
          </a:p>
          <a:p>
            <a:pPr>
              <a:spcAft>
                <a:spcPts val="400"/>
              </a:spcAft>
              <a:defRPr sz="1000" b="0">
                <a:solidFill>
                  <a:srgbClr val="EF4444"/>
                </a:solidFill>
                <a:latin typeface="맑은 고딕"/>
              </a:defRPr>
            </a:pPr>
            <a:r>
              <a:t>25건 소량 보강 → 효과 없음 (한계)</a:t>
            </a:r>
          </a:p>
          <a:p>
            <a:pPr>
              <a:spcAft>
                <a:spcPts val="400"/>
              </a:spcAft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시나리오 100문장 확장 → 85%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Stage 1 → 2 → 3 → 4 → 5 → 6(채택) → 7(검증)  |  핵심 교훈: "데이터 품질 &gt; 하이퍼파라미터 &gt; 모델 아키텍처"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0" y="6821424"/>
            <a:ext cx="12191695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최종 결과 &amp; 인사이트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최종 모델 성능 (Stage 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Val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맑은 고딕"/>
              </a:defRPr>
            </a:pPr>
            <a:r>
              <a:t>0.9894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학습 데이터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78308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8562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Test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391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0.9788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774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미지 데이터 일반화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78308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8562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Adv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0391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  <a:latin typeface="맑은 고딕"/>
              </a:defRPr>
            </a:pPr>
            <a:r>
              <a:t>0.8758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37744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맑은 고딕"/>
              </a:defRPr>
            </a:pPr>
            <a:r>
              <a:t>적대적 스트레스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KoELECTRA-base-v3  |  112.9M params  |  431MB  |  추론 7.9ms  |  Config: ep10/lr3e-5/bs16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Label Smoothing 0.1 적용  |  Threshold 0.85 (clarify)  |  Fallback 0.4 (general)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977639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시나리오 테스트 (100문장)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normal (표준)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526280"/>
            <a:ext cx="3474720" cy="25603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4560" y="4526280"/>
            <a:ext cx="3474720" cy="25603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4526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short (초단문)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910328"/>
            <a:ext cx="3474720" cy="25603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4910328"/>
            <a:ext cx="3241913" cy="256032"/>
          </a:xfrm>
          <a:prstGeom prst="roundRect">
            <a:avLst>
              <a:gd name="adj" fmla="val 3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7913" y="491032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93.3%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760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boundary (경계)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5294376"/>
            <a:ext cx="3474720" cy="25603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5294376"/>
            <a:ext cx="2738079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4079" y="529437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78.8%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6013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맑은 고딕"/>
              </a:defRPr>
            </a:pPr>
            <a:r>
              <a:t>informal (비속어)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5678424"/>
            <a:ext cx="3474720" cy="25603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" y="5678424"/>
            <a:ext cx="2640787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6787" y="56784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76.0%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전체 Accuracy 85.0%  |  Macro F1 0.8497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097280"/>
            <a:ext cx="5303520" cy="51206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3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123444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373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1. 과신뢰 해소 (Stage 6 최대 성과)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  <a:latin typeface="맑은 고딕"/>
              </a:defRPr>
            </a:pPr>
            <a:r>
              <a:t>   오분류 중 과신뢰: 66.7% → 23.2% (-69%)</a:t>
            </a:r>
          </a:p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 Threshold 0.85로 정답/오답 분리 가능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 → clarify 라우팅으로 안전하게 처리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2. 데이터 품질 &gt; HP &gt; 모델 아키텍처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  <a:latin typeface="맑은 고딕"/>
              </a:defRPr>
            </a:pPr>
            <a:r>
              <a:t>   Grid Search +0.72%p vs 보강 98건 +1.80%p</a:t>
            </a:r>
          </a:p>
          <a:p>
            <a:pPr>
              <a:spcAft>
                <a:spcPts val="4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   소량(25건) 보강은 효과 없음 → 임계량 ~100건+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3. doc_qa 라벨 리뷰 결과</a:t>
            </a:r>
          </a:p>
          <a:p>
            <a:pPr>
              <a:spcAft>
                <a:spcPts val="400"/>
              </a:spcAft>
              <a:defRPr sz="1100" b="0">
                <a:solidFill>
                  <a:srgbClr val="F59E0B"/>
                </a:solidFill>
                <a:latin typeface="맑은 고딕"/>
              </a:defRPr>
            </a:pPr>
            <a:r>
              <a:t>   오류 27건 중 63%가 모델 문제 아님 (라벨 애매/오류)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  <a:latin typeface="맑은 고딕"/>
              </a:defRPr>
            </a:pPr>
            <a:r>
              <a:t>   Adjusted F1 ~85% (raw 76.6% → 실질 85%)</a:t>
            </a:r>
          </a:p>
          <a:p>
            <a:pPr>
              <a:spcAft>
                <a:spcPts val="400"/>
              </a:spcAft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 doc 4종 모두 Document Agent 라우팅 → 실영향 미미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4. 모델 선택: KoELECTRA 근거</a:t>
            </a:r>
          </a:p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 ELECTRA RTD → 짧은 한국어 구분에 유리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  <a:latin typeface="맑은 고딕"/>
              </a:defRPr>
            </a:pPr>
            <a:r>
              <a:t>   Adv F1 최고 + 추론 24% 빠름 (vs BERT)</a:t>
            </a:r>
          </a:p>
          <a:p>
            <a:pPr>
              <a:spcAft>
                <a:spcPts val="400"/>
              </a:spcAft>
              <a:defRPr sz="1100" b="0">
                <a:solidFill>
                  <a:srgbClr val="CBD5E1"/>
                </a:solidFill>
                <a:latin typeface="맑은 고딕"/>
              </a:defRPr>
            </a:pPr>
            <a:r>
              <a:t>   Seed 안정성: 0.9874 ± 0.0033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0" y="6821424"/>
            <a:ext cx="12191695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