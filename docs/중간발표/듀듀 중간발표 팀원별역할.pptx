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8" r:id="rId30"/>
    <p:sldId id="279" r:id="rId31"/>
    <p:sldId id="280" r:id="rId55"/>
  </p:sldIdLst>
  <p:sldSz cy="6858000" cx="12192000"/>
  <p:notesSz cx="6858000" cy="9144000"/>
  <p:embeddedFontLst>
    <p:embeddedFont>
      <p:font typeface="Roboto ExtraBold"/>
      <p:bold r:id="rId32"/>
      <p:boldItalic r:id="rId33"/>
    </p:embeddedFont>
    <p:embeddedFont>
      <p:font typeface="Roboto Black"/>
      <p:bold r:id="rId34"/>
      <p:boldItalic r:id="rId35"/>
    </p:embeddedFont>
    <p:embeddedFont>
      <p:font typeface="Noto Sans KR"/>
      <p:regular r:id="rId36"/>
      <p:bold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Roboto Medium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Roboto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icjVm3FoVvXAnWD1P5zh7gD0LO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안혜빈"/>
  <p:cmAuthor clrIdx="1" id="1" initials="" lastIdx="2" name="진승언"/>
  <p:cmAuthor clrIdx="2" id="2" initials="" lastIdx="3" name="윤경은"/>
  <p:cmAuthor clrIdx="3" id="3" initials="" lastIdx="1" name="jiyong sh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BAB46F-39B1-478F-BC96-D6E6CAD747A2}">
  <a:tblStyle styleId="{50BAB46F-39B1-478F-BC96-D6E6CAD747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font" Target="fonts/RobotoExtraBold-bold.fntdata"/><Relationship Id="rId33" Type="http://schemas.openxmlformats.org/officeDocument/2006/relationships/font" Target="fonts/RobotoExtraBold-boldItalic.fntdata"/><Relationship Id="rId34" Type="http://schemas.openxmlformats.org/officeDocument/2006/relationships/font" Target="fonts/RobotoBlack-bold.fntdata"/><Relationship Id="rId35" Type="http://schemas.openxmlformats.org/officeDocument/2006/relationships/font" Target="fonts/RobotoBlack-boldItalic.fntdata"/><Relationship Id="rId36" Type="http://schemas.openxmlformats.org/officeDocument/2006/relationships/font" Target="fonts/NotoSansKR-regular.fntdata"/><Relationship Id="rId37" Type="http://schemas.openxmlformats.org/officeDocument/2006/relationships/font" Target="fonts/NotoSansKR-bold.fntdata"/><Relationship Id="rId38" Type="http://schemas.openxmlformats.org/officeDocument/2006/relationships/font" Target="fonts/Roboto-regular.fntdata"/><Relationship Id="rId39" Type="http://schemas.openxmlformats.org/officeDocument/2006/relationships/font" Target="fonts/Roboto-bold.fntdata"/><Relationship Id="rId40" Type="http://schemas.openxmlformats.org/officeDocument/2006/relationships/font" Target="fonts/Roboto-italic.fntdata"/><Relationship Id="rId41" Type="http://schemas.openxmlformats.org/officeDocument/2006/relationships/font" Target="fonts/Roboto-boldItalic.fntdata"/><Relationship Id="rId42" Type="http://schemas.openxmlformats.org/officeDocument/2006/relationships/font" Target="fonts/RobotoMedium-regular.fntdata"/><Relationship Id="rId43" Type="http://schemas.openxmlformats.org/officeDocument/2006/relationships/font" Target="fonts/RobotoMedium-bold.fntdata"/><Relationship Id="rId44" Type="http://schemas.openxmlformats.org/officeDocument/2006/relationships/font" Target="fonts/RobotoMedium-italic.fntdata"/><Relationship Id="rId45" Type="http://schemas.openxmlformats.org/officeDocument/2006/relationships/font" Target="fonts/RobotoMedium-boldItalic.fntdata"/><Relationship Id="rId46" Type="http://schemas.openxmlformats.org/officeDocument/2006/relationships/font" Target="fonts/Poppins-regular.fntdata"/><Relationship Id="rId47" Type="http://schemas.openxmlformats.org/officeDocument/2006/relationships/font" Target="fonts/Poppins-bold.fntdata"/><Relationship Id="rId48" Type="http://schemas.openxmlformats.org/officeDocument/2006/relationships/font" Target="fonts/Poppins-italic.fntdata"/><Relationship Id="rId49" Type="http://schemas.openxmlformats.org/officeDocument/2006/relationships/font" Target="fonts/Poppins-boldItalic.fntdata"/><Relationship Id="rId50" Type="http://schemas.openxmlformats.org/officeDocument/2006/relationships/font" Target="fonts/RobotoSemiBold-regular.fntdata"/><Relationship Id="rId51" Type="http://schemas.openxmlformats.org/officeDocument/2006/relationships/font" Target="fonts/RobotoSemiBold-bold.fntdata"/><Relationship Id="rId52" Type="http://schemas.openxmlformats.org/officeDocument/2006/relationships/font" Target="fonts/RobotoSemiBold-italic.fntdata"/><Relationship Id="rId53" Type="http://schemas.openxmlformats.org/officeDocument/2006/relationships/font" Target="fonts/RobotoSemiBold-boldItalic.fntdata"/><Relationship Id="rId54" Type="http://customschemas.google.com/relationships/presentationmetadata" Target="metadata"/><Relationship Id="rId55" Type="http://schemas.openxmlformats.org/officeDocument/2006/relationships/slide" Target="slides/slide24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25T02:57:03.356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2-25T05:19:26.164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U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02-25T02:56:19.334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A"/>
      </p:ext>
    </p:extLst>
  </p:cm>
  <p:cm authorId="0" idx="2" dt="2026-02-25T02:56:19.334">
    <p:pos x="6000" y="0"/>
    <p:text>끝</p:text>
    <p:extLst>
      <p:ext uri="{C676402C-5697-4E1C-873F-D02D1690AC5C}">
        <p15:threadingInfo timeZoneBias="0">
          <p15:parentCm authorId="2" idx="1"/>
        </p15:threadingInfo>
      </p:ext>
      <p:ext uri="http://customooxmlschemas.google.com/">
        <go:slidesCustomData xmlns:go="http://customooxmlschemas.google.com/" commentPostId="AAABzpOat3E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2-26T11:51:54.753">
    <p:pos x="6000" y="0"/>
    <p:text>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Oat3Y"/>
      </p:ext>
    </p:extLst>
  </p:cm>
  <p:cm authorId="2" idx="2" dt="2026-02-25T05:25:04.322">
    <p:pos x="6000" y="0"/>
    <p:text>아니 진짜 개 밤티</p:text>
    <p:extLst>
      <p:ext uri="{C676402C-5697-4E1C-873F-D02D1690AC5C}">
        <p15:threadingInfo timeZoneBias="0">
          <p15:parentCm authorId="1" idx="2"/>
        </p15:threadingInfo>
      </p:ext>
      <p:ext uri="http://customooxmlschemas.google.com/">
        <go:slidesCustomData xmlns:go="http://customooxmlschemas.google.com/" commentPostId="AAABzpOat3k"/>
      </p:ext>
    </p:extLst>
  </p:cm>
  <p:cm authorId="2" idx="3" dt="2026-02-26T11:51:54.753">
    <p:pos x="6000" y="0"/>
    <p:text>취소합니다 개 간지</p:text>
    <p:extLst>
      <p:ext uri="{C676402C-5697-4E1C-873F-D02D1690AC5C}">
        <p15:threadingInfo timeZoneBias="0">
          <p15:parentCm authorId="1" idx="2"/>
        </p15:threadingInfo>
      </p:ext>
      <p:ext uri="http://customooxmlschemas.google.com/">
        <go:slidesCustomData xmlns:go="http://customooxmlschemas.google.com/" commentPostId="AAABzpP8KVk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3" idx="1" dt="2026-02-26T12:03:05.687">
    <p:pos x="6000" y="0"/>
    <p:text>여기 데이터 넣을거임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zpP8KVo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9b11e3f6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09b11e3f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09b11e3f6_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09b11e3f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c338455d_2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0c338455d_24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c338455d_2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c0c338455d_24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09b11e3f6_18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09b11e3f6_18_41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0c338455d_27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0c338455d_2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0c338455d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c0c338455d_3_34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09b11e3f6_18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c09b11e3f6_18_18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0c338455d_2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c0c338455d_21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0c338455d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c0c338455d_3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0c338455d_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3c0c338455d_9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09b11e3f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g3c09b11e3f6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0c338455d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c0c338455d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c0c338455d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3" name="Google Shape;613;g3c0c338455d_2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0c338455d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2" name="Google Shape;672;g3c0c338455d_2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4" name="Google Shape;8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c0c338455d_21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7" name="Google Shape;827;g3c0c338455d_21_4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c0c338455d_24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g3c0c338455d_24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c0c338455d_24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g3c0c338455d_24_5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c0c338455d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g3c0c338455d_2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c09b11e3f6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8" name="Google Shape;1008;g3c09b11e3f6_1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9.png"/><Relationship Id="rId9" Type="http://schemas.openxmlformats.org/officeDocument/2006/relationships/image" Target="../media/image2.png"/><Relationship Id="rId10" Type="http://schemas.openxmlformats.org/officeDocument/2006/relationships/image" Target="../media/image8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8.png"/><Relationship Id="rId14" Type="http://schemas.openxmlformats.org/officeDocument/2006/relationships/image" Target="../media/image16.png"/><Relationship Id="rId15" Type="http://schemas.openxmlformats.org/officeDocument/2006/relationships/image" Target="../media/image26.png"/><Relationship Id="rId16" Type="http://schemas.openxmlformats.org/officeDocument/2006/relationships/image" Target="../media/image10.png"/><Relationship Id="rId17" Type="http://schemas.openxmlformats.org/officeDocument/2006/relationships/image" Target="../media/image20.png"/><Relationship Id="rId18" Type="http://schemas.openxmlformats.org/officeDocument/2006/relationships/image" Target="../media/image23.png"/><Relationship Id="rId19" Type="http://schemas.openxmlformats.org/officeDocument/2006/relationships/image" Target="../media/image19.png"/><Relationship Id="rId20" Type="http://schemas.openxmlformats.org/officeDocument/2006/relationships/image" Target="../media/image21.png"/><Relationship Id="rId21" Type="http://schemas.openxmlformats.org/officeDocument/2006/relationships/image" Target="../media/image24.png"/><Relationship Id="rId22" Type="http://schemas.openxmlformats.org/officeDocument/2006/relationships/image" Target="../media/image22.png"/><Relationship Id="rId23" Type="http://schemas.openxmlformats.org/officeDocument/2006/relationships/image" Target="../media/image14.png"/><Relationship Id="rId24" Type="http://schemas.openxmlformats.org/officeDocument/2006/relationships/image" Target="../media/image13.png"/><Relationship Id="rId25" Type="http://schemas.openxmlformats.org/officeDocument/2006/relationships/image" Target="../media/image15.png"/><Relationship Id="rId26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4.xml"/><Relationship Id="rId4" Type="http://schemas.openxmlformats.org/officeDocument/2006/relationships/image" Target="../media/image100.png"/><Relationship Id="rId5" Type="http://schemas.openxmlformats.org/officeDocument/2006/relationships/image" Target="../media/image33.png"/><Relationship Id="rId6" Type="http://schemas.openxmlformats.org/officeDocument/2006/relationships/image" Target="../media/image52.png"/><Relationship Id="rId7" Type="http://schemas.openxmlformats.org/officeDocument/2006/relationships/image" Target="../media/image28.png"/><Relationship Id="rId8" Type="http://schemas.openxmlformats.org/officeDocument/2006/relationships/image" Target="../media/image35.png"/><Relationship Id="rId9" Type="http://schemas.openxmlformats.org/officeDocument/2006/relationships/image" Target="../media/image54.png"/><Relationship Id="rId10" Type="http://schemas.openxmlformats.org/officeDocument/2006/relationships/image" Target="../media/image29.png"/><Relationship Id="rId11" Type="http://schemas.openxmlformats.org/officeDocument/2006/relationships/image" Target="../media/image34.png"/><Relationship Id="rId12" Type="http://schemas.openxmlformats.org/officeDocument/2006/relationships/image" Target="../media/image38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6.png"/><Relationship Id="rId16" Type="http://schemas.openxmlformats.org/officeDocument/2006/relationships/image" Target="../media/image42.png"/><Relationship Id="rId17" Type="http://schemas.openxmlformats.org/officeDocument/2006/relationships/image" Target="../media/image39.png"/><Relationship Id="rId18" Type="http://schemas.openxmlformats.org/officeDocument/2006/relationships/image" Target="../media/image43.png"/><Relationship Id="rId19" Type="http://schemas.openxmlformats.org/officeDocument/2006/relationships/image" Target="../media/image46.png"/><Relationship Id="rId20" Type="http://schemas.openxmlformats.org/officeDocument/2006/relationships/image" Target="../media/image44.png"/><Relationship Id="rId21" Type="http://schemas.openxmlformats.org/officeDocument/2006/relationships/image" Target="../media/image48.png"/><Relationship Id="rId22" Type="http://schemas.openxmlformats.org/officeDocument/2006/relationships/image" Target="../media/image53.png"/><Relationship Id="rId23" Type="http://schemas.openxmlformats.org/officeDocument/2006/relationships/image" Target="../media/image45.png"/><Relationship Id="rId24" Type="http://schemas.openxmlformats.org/officeDocument/2006/relationships/image" Target="../media/image40.png"/><Relationship Id="rId25" Type="http://schemas.openxmlformats.org/officeDocument/2006/relationships/image" Target="../media/image41.png"/><Relationship Id="rId26" Type="http://schemas.openxmlformats.org/officeDocument/2006/relationships/image" Target="../media/image37.png"/><Relationship Id="rId27" Type="http://schemas.openxmlformats.org/officeDocument/2006/relationships/image" Target="../media/image47.png"/><Relationship Id="rId28" Type="http://schemas.openxmlformats.org/officeDocument/2006/relationships/image" Target="../media/image49.png"/><Relationship Id="rId29" Type="http://schemas.openxmlformats.org/officeDocument/2006/relationships/image" Target="../media/image50.png"/><Relationship Id="rId30" Type="http://schemas.openxmlformats.org/officeDocument/2006/relationships/image" Target="../media/image60.png"/><Relationship Id="rId31" Type="http://schemas.openxmlformats.org/officeDocument/2006/relationships/image" Target="../media/image5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67.png"/><Relationship Id="rId5" Type="http://schemas.openxmlformats.org/officeDocument/2006/relationships/image" Target="../media/image56.png"/><Relationship Id="rId6" Type="http://schemas.openxmlformats.org/officeDocument/2006/relationships/image" Target="../media/image69.png"/><Relationship Id="rId7" Type="http://schemas.openxmlformats.org/officeDocument/2006/relationships/image" Target="../media/image5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iVv7LWubR062lKvI3Rj7QGLVGtRj8PL9/view" TargetMode="External"/><Relationship Id="rId4" Type="http://schemas.openxmlformats.org/officeDocument/2006/relationships/image" Target="../media/image5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Relationship Id="rId5" Type="http://schemas.openxmlformats.org/officeDocument/2006/relationships/image" Target="../media/image96.png"/><Relationship Id="rId6" Type="http://schemas.openxmlformats.org/officeDocument/2006/relationships/image" Target="../media/image64.png"/><Relationship Id="rId7" Type="http://schemas.openxmlformats.org/officeDocument/2006/relationships/image" Target="../media/image7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Relationship Id="rId6" Type="http://schemas.openxmlformats.org/officeDocument/2006/relationships/image" Target="../media/image6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82.png"/><Relationship Id="rId5" Type="http://schemas.openxmlformats.org/officeDocument/2006/relationships/image" Target="../media/image79.png"/><Relationship Id="rId6" Type="http://schemas.openxmlformats.org/officeDocument/2006/relationships/image" Target="../media/image72.png"/><Relationship Id="rId7" Type="http://schemas.openxmlformats.org/officeDocument/2006/relationships/image" Target="../media/image8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1.png"/><Relationship Id="rId4" Type="http://schemas.openxmlformats.org/officeDocument/2006/relationships/image" Target="../media/image87.png"/><Relationship Id="rId5" Type="http://schemas.openxmlformats.org/officeDocument/2006/relationships/image" Target="../media/image93.png"/><Relationship Id="rId6" Type="http://schemas.openxmlformats.org/officeDocument/2006/relationships/image" Target="../media/image97.png"/><Relationship Id="rId7" Type="http://schemas.openxmlformats.org/officeDocument/2006/relationships/image" Target="../media/image89.png"/><Relationship Id="rId8" Type="http://schemas.openxmlformats.org/officeDocument/2006/relationships/image" Target="../media/image92.png"/><Relationship Id="rId9" Type="http://schemas.openxmlformats.org/officeDocument/2006/relationships/image" Target="../media/image98.png"/><Relationship Id="rId10" Type="http://schemas.openxmlformats.org/officeDocument/2006/relationships/image" Target="../media/image88.png"/><Relationship Id="rId11" Type="http://schemas.openxmlformats.org/officeDocument/2006/relationships/image" Target="../media/image94.png"/><Relationship Id="rId12" Type="http://schemas.openxmlformats.org/officeDocument/2006/relationships/image" Target="../media/image90.png"/><Relationship Id="rId13" Type="http://schemas.openxmlformats.org/officeDocument/2006/relationships/image" Target="../media/image95.png"/><Relationship Id="rId14" Type="http://schemas.openxmlformats.org/officeDocument/2006/relationships/image" Target="../media/image9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1.png"/><Relationship Id="rId4" Type="http://schemas.openxmlformats.org/officeDocument/2006/relationships/image" Target="../media/image87.png"/><Relationship Id="rId5" Type="http://schemas.openxmlformats.org/officeDocument/2006/relationships/image" Target="../media/image93.png"/><Relationship Id="rId6" Type="http://schemas.openxmlformats.org/officeDocument/2006/relationships/image" Target="../media/image97.png"/><Relationship Id="rId7" Type="http://schemas.openxmlformats.org/officeDocument/2006/relationships/image" Target="../media/image89.png"/><Relationship Id="rId8" Type="http://schemas.openxmlformats.org/officeDocument/2006/relationships/image" Target="../media/image92.png"/><Relationship Id="rId9" Type="http://schemas.openxmlformats.org/officeDocument/2006/relationships/image" Target="../media/image98.png"/><Relationship Id="rId10" Type="http://schemas.openxmlformats.org/officeDocument/2006/relationships/image" Target="../media/image88.png"/><Relationship Id="rId11" Type="http://schemas.openxmlformats.org/officeDocument/2006/relationships/image" Target="../media/image94.png"/><Relationship Id="rId12" Type="http://schemas.openxmlformats.org/officeDocument/2006/relationships/image" Target="../media/image90.png"/><Relationship Id="rId13" Type="http://schemas.openxmlformats.org/officeDocument/2006/relationships/image" Target="../media/image95.png"/><Relationship Id="rId14" Type="http://schemas.openxmlformats.org/officeDocument/2006/relationships/image" Target="../media/image9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09b11e3f6_7_0"/>
          <p:cNvSpPr txBox="1"/>
          <p:nvPr/>
        </p:nvSpPr>
        <p:spPr>
          <a:xfrm>
            <a:off x="4380450" y="746175"/>
            <a:ext cx="3431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SKN21 FINAL PROJECT 중간발표</a:t>
            </a:r>
            <a:endParaRPr sz="1700">
              <a:solidFill>
                <a:srgbClr val="47556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5" name="Google Shape;85;g3c09b11e3f6_7_0"/>
          <p:cNvSpPr txBox="1"/>
          <p:nvPr/>
        </p:nvSpPr>
        <p:spPr>
          <a:xfrm>
            <a:off x="1626600" y="1757325"/>
            <a:ext cx="8938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WorkFlow Agent: 사내 AI 어시스턴트</a:t>
            </a:r>
            <a:endParaRPr b="1" sz="4400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4055"/>
                </a:solidFill>
                <a:latin typeface="Roboto Medium"/>
                <a:ea typeface="Roboto Medium"/>
                <a:cs typeface="Roboto Medium"/>
                <a:sym typeface="Roboto Medium"/>
              </a:rPr>
              <a:t>규정 기반 의사결정 지원 및 회의록 자동화 시스템</a:t>
            </a:r>
            <a:endParaRPr sz="2400">
              <a:solidFill>
                <a:srgbClr val="33405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340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09b11e3f6_7_0"/>
          <p:cNvSpPr txBox="1"/>
          <p:nvPr/>
        </p:nvSpPr>
        <p:spPr>
          <a:xfrm>
            <a:off x="4305600" y="5295975"/>
            <a:ext cx="3580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Team 3   문지영 신지용 안혜빈 윤경은 진승언</a:t>
            </a:r>
            <a:endParaRPr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c09b11e3f6_7_0"/>
          <p:cNvSpPr txBox="1"/>
          <p:nvPr/>
        </p:nvSpPr>
        <p:spPr>
          <a:xfrm>
            <a:off x="5312100" y="5730975"/>
            <a:ext cx="15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2026. 02. 27. FRI</a:t>
            </a:r>
            <a:endParaRPr sz="12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09b11e3f6_8_0"/>
          <p:cNvSpPr txBox="1"/>
          <p:nvPr/>
        </p:nvSpPr>
        <p:spPr>
          <a:xfrm>
            <a:off x="1054950" y="1505575"/>
            <a:ext cx="58263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 배경 및 문제 정의 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2 프로젝트 목표</a:t>
            </a:r>
            <a:b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3 시스템 아키텍처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4 기능 소개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5 기술 소개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rPr>
              <a:t>6 진행 현황</a:t>
            </a:r>
            <a:endParaRPr b="1"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16213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g3c09b11e3f6_8_0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4" name="Google Shape;94;g3c09b11e3f6_8_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0c338455d_24_111"/>
          <p:cNvSpPr txBox="1"/>
          <p:nvPr/>
        </p:nvSpPr>
        <p:spPr>
          <a:xfrm>
            <a:off x="989256" y="1847632"/>
            <a:ext cx="4194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5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사내 업무 환경의 한계와 변화</a:t>
            </a:r>
            <a:endParaRPr sz="1233">
              <a:solidFill>
                <a:srgbClr val="5C71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g3c0c338455d_24_111"/>
          <p:cNvSpPr txBox="1"/>
          <p:nvPr/>
        </p:nvSpPr>
        <p:spPr>
          <a:xfrm>
            <a:off x="1199065" y="2284034"/>
            <a:ext cx="37848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LLM 및 AI Agent 도입 가속화: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기업 내 단순 반복 업무를 지능형 AI를 통해 자동화하여 실무자의 생산성을 극대화하려는 시장의 니즈가 급증하고 있습니다.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g3c0c338455d_24_111"/>
          <p:cNvSpPr txBox="1"/>
          <p:nvPr/>
        </p:nvSpPr>
        <p:spPr>
          <a:xfrm>
            <a:off x="1199075" y="3568079"/>
            <a:ext cx="37848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복잡해진 사내 규정과 정보의 파편화: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인사, 보안 등 사내 규정이 방대해져, 기존의 시스템으로는 정확한 규정</a:t>
            </a:r>
            <a:r>
              <a:rPr lang="en-US" sz="132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검색, 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판단 </a:t>
            </a:r>
            <a:r>
              <a:rPr lang="en-US" sz="132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그리고 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예외 상황 대응이 어렵습니다.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3c0c338455d_24_111"/>
          <p:cNvSpPr txBox="1"/>
          <p:nvPr/>
        </p:nvSpPr>
        <p:spPr>
          <a:xfrm>
            <a:off x="1199065" y="4852094"/>
            <a:ext cx="37848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수작업 중심의 행정 업무 병목:</a:t>
            </a:r>
            <a:r>
              <a:rPr i="0" lang="en-US" sz="1321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회의록 작성, 문서 초안 기획, 복수의 앱(메일, 캘린더 등)을 오가는 수동적인 일정 관리 등 비핵심 행정 업무에 과도한 리소스가 소모되고 있습니다.</a:t>
            </a:r>
            <a:endParaRPr sz="1233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3c0c338455d_24_111"/>
          <p:cNvSpPr txBox="1"/>
          <p:nvPr/>
        </p:nvSpPr>
        <p:spPr>
          <a:xfrm>
            <a:off x="989256" y="230081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04" name="Google Shape;104;g3c0c338455d_24_111"/>
          <p:cNvSpPr txBox="1"/>
          <p:nvPr/>
        </p:nvSpPr>
        <p:spPr>
          <a:xfrm>
            <a:off x="989256" y="358484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05" name="Google Shape;105;g3c0c338455d_24_111"/>
          <p:cNvSpPr txBox="1"/>
          <p:nvPr/>
        </p:nvSpPr>
        <p:spPr>
          <a:xfrm>
            <a:off x="989256" y="4868879"/>
            <a:ext cx="67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5" u="none" cap="none" strike="noStrike">
                <a:solidFill>
                  <a:srgbClr val="445566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sz="1233">
              <a:solidFill>
                <a:srgbClr val="445566"/>
              </a:solidFill>
            </a:endParaRPr>
          </a:p>
        </p:txBody>
      </p:sp>
      <p:sp>
        <p:nvSpPr>
          <p:cNvPr id="106" name="Google Shape;106;g3c0c338455d_24_111"/>
          <p:cNvSpPr txBox="1"/>
          <p:nvPr/>
        </p:nvSpPr>
        <p:spPr>
          <a:xfrm>
            <a:off x="775229" y="571500"/>
            <a:ext cx="444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프로젝트 배경 및 문제 정의 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image.png" id="107" name="Google Shape;107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2091813"/>
            <a:ext cx="5422025" cy="91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3202088"/>
            <a:ext cx="5422025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g3c0c338455d_24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525" y="4246988"/>
            <a:ext cx="5422025" cy="8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c0c338455d_24_111"/>
          <p:cNvSpPr txBox="1"/>
          <p:nvPr/>
        </p:nvSpPr>
        <p:spPr>
          <a:xfrm>
            <a:off x="6472175" y="5547138"/>
            <a:ext cx="514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* 출처: Microsoft Work Trend Index (2023) </a:t>
            </a:r>
            <a:endParaRPr/>
          </a:p>
        </p:txBody>
      </p:sp>
      <p:sp>
        <p:nvSpPr>
          <p:cNvPr id="111" name="Google Shape;111;g3c0c338455d_24_111"/>
          <p:cNvSpPr txBox="1"/>
          <p:nvPr/>
        </p:nvSpPr>
        <p:spPr>
          <a:xfrm>
            <a:off x="6230575" y="2240000"/>
            <a:ext cx="1155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68%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2" name="Google Shape;112;g3c0c338455d_24_111"/>
          <p:cNvSpPr txBox="1"/>
          <p:nvPr/>
        </p:nvSpPr>
        <p:spPr>
          <a:xfrm>
            <a:off x="7671925" y="2357113"/>
            <a:ext cx="31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충분한 집중 시간 부족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방해받지 않고 핵심 업무에 몰입할 수 있는 Focus Time이 없다고 응답</a:t>
            </a:r>
            <a:endParaRPr/>
          </a:p>
        </p:txBody>
      </p:sp>
      <p:sp>
        <p:nvSpPr>
          <p:cNvPr id="113" name="Google Shape;113;g3c0c338455d_24_111"/>
          <p:cNvSpPr txBox="1"/>
          <p:nvPr/>
        </p:nvSpPr>
        <p:spPr>
          <a:xfrm>
            <a:off x="6248725" y="3317588"/>
            <a:ext cx="1119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62%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4" name="Google Shape;114;g3c0c338455d_24_111"/>
          <p:cNvSpPr txBox="1"/>
          <p:nvPr/>
        </p:nvSpPr>
        <p:spPr>
          <a:xfrm>
            <a:off x="7671925" y="3398438"/>
            <a:ext cx="31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과도한 정보 탐색 소요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중 필요한 정보나 데이터를 찾는 데 너무 많은 시간이 낭비됨</a:t>
            </a:r>
            <a:endParaRPr/>
          </a:p>
        </p:txBody>
      </p:sp>
      <p:sp>
        <p:nvSpPr>
          <p:cNvPr id="115" name="Google Shape;115;g3c0c338455d_24_111"/>
          <p:cNvSpPr txBox="1"/>
          <p:nvPr/>
        </p:nvSpPr>
        <p:spPr>
          <a:xfrm>
            <a:off x="6230575" y="4395163"/>
            <a:ext cx="1155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57%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" name="Google Shape;116;g3c0c338455d_24_111"/>
          <p:cNvSpPr txBox="1"/>
          <p:nvPr/>
        </p:nvSpPr>
        <p:spPr>
          <a:xfrm>
            <a:off x="7671925" y="4439763"/>
            <a:ext cx="33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커뮤니케이션 소모 비중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업무 시간 중 회의, 이메일, 채팅에 쓰이는 시간 (실제 생산 활동은 43%)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0c338455d_24_93"/>
          <p:cNvSpPr txBox="1"/>
          <p:nvPr/>
        </p:nvSpPr>
        <p:spPr>
          <a:xfrm>
            <a:off x="3494700" y="2862733"/>
            <a:ext cx="520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회사 업무를 </a:t>
            </a:r>
            <a:r>
              <a:rPr lang="en-US" sz="3150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자연어</a:t>
            </a:r>
            <a:r>
              <a:rPr lang="en-US" sz="315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로 쉽게 처리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c0c338455d_24_93"/>
          <p:cNvSpPr txBox="1"/>
          <p:nvPr/>
        </p:nvSpPr>
        <p:spPr>
          <a:xfrm>
            <a:off x="4065900" y="3641568"/>
            <a:ext cx="406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듀듀</a:t>
            </a:r>
            <a:r>
              <a:rPr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— LangGraph 기반 멀티 Agent 업무 자동화 시스템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23" name="Google Shape;123;g3c0c338455d_24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233" y="524490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c0c338455d_24_93"/>
          <p:cNvSpPr txBox="1"/>
          <p:nvPr/>
        </p:nvSpPr>
        <p:spPr>
          <a:xfrm>
            <a:off x="3570663" y="5272992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25" name="Google Shape;125;g3c0c338455d_24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3950" y="524490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c0c338455d_24_93"/>
          <p:cNvSpPr txBox="1"/>
          <p:nvPr/>
        </p:nvSpPr>
        <p:spPr>
          <a:xfrm>
            <a:off x="5628275" y="5267051"/>
            <a:ext cx="200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문서 </a:t>
            </a:r>
            <a:r>
              <a:rPr lang="en-US" sz="1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생성/조회/요약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27" name="Google Shape;127;g3c0c338455d_24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2925" y="522325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c0c338455d_24_93"/>
          <p:cNvSpPr txBox="1"/>
          <p:nvPr/>
        </p:nvSpPr>
        <p:spPr>
          <a:xfrm>
            <a:off x="8411863" y="5254308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일정 관리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g3c0c338455d_24_93"/>
          <p:cNvSpPr txBox="1"/>
          <p:nvPr/>
        </p:nvSpPr>
        <p:spPr>
          <a:xfrm>
            <a:off x="775229" y="571500"/>
            <a:ext cx="444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프로젝트 </a:t>
            </a: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목표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0" name="Google Shape;130;g3c0c338455d_24_9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09b11e3f6_18_41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136" name="Google Shape;136;g3c09b11e3f6_18_413"/>
          <p:cNvSpPr/>
          <p:nvPr/>
        </p:nvSpPr>
        <p:spPr>
          <a:xfrm>
            <a:off x="106675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CFD7E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c09b11e3f6_18_413"/>
          <p:cNvSpPr txBox="1"/>
          <p:nvPr/>
        </p:nvSpPr>
        <p:spPr>
          <a:xfrm>
            <a:off x="1066755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사용자 입력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g3c09b11e3f6_18_413"/>
          <p:cNvSpPr txBox="1"/>
          <p:nvPr/>
        </p:nvSpPr>
        <p:spPr>
          <a:xfrm>
            <a:off x="1066755" y="2287378"/>
            <a:ext cx="21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저번 회의록 액션 아이템이 뭐였지</a:t>
            </a: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g3c09b11e3f6_18_413"/>
          <p:cNvSpPr txBox="1"/>
          <p:nvPr/>
        </p:nvSpPr>
        <p:spPr>
          <a:xfrm>
            <a:off x="3215652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40" name="Google Shape;140;g3c09b11e3f6_18_413"/>
          <p:cNvSpPr/>
          <p:nvPr/>
        </p:nvSpPr>
        <p:spPr>
          <a:xfrm>
            <a:off x="3718585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c09b11e3f6_18_413"/>
          <p:cNvSpPr txBox="1"/>
          <p:nvPr/>
        </p:nvSpPr>
        <p:spPr>
          <a:xfrm>
            <a:off x="3718585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 분류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c09b11e3f6_18_413"/>
          <p:cNvSpPr txBox="1"/>
          <p:nvPr/>
        </p:nvSpPr>
        <p:spPr>
          <a:xfrm>
            <a:off x="3718585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KoELECTRA  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c09b11e3f6_18_413"/>
          <p:cNvSpPr txBox="1"/>
          <p:nvPr/>
        </p:nvSpPr>
        <p:spPr>
          <a:xfrm>
            <a:off x="586748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44" name="Google Shape;144;g3c09b11e3f6_18_413"/>
          <p:cNvSpPr/>
          <p:nvPr/>
        </p:nvSpPr>
        <p:spPr>
          <a:xfrm>
            <a:off x="6370416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c09b11e3f6_18_413"/>
          <p:cNvSpPr txBox="1"/>
          <p:nvPr/>
        </p:nvSpPr>
        <p:spPr>
          <a:xfrm>
            <a:off x="6370416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Orchestrator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c09b11e3f6_18_413"/>
          <p:cNvSpPr txBox="1"/>
          <p:nvPr/>
        </p:nvSpPr>
        <p:spPr>
          <a:xfrm>
            <a:off x="6370416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LangGraph 라우팅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g3c09b11e3f6_18_413"/>
          <p:cNvSpPr txBox="1"/>
          <p:nvPr/>
        </p:nvSpPr>
        <p:spPr>
          <a:xfrm>
            <a:off x="8519313" y="1921618"/>
            <a:ext cx="3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7D3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</a:t>
            </a:r>
            <a:endParaRPr/>
          </a:p>
        </p:txBody>
      </p:sp>
      <p:sp>
        <p:nvSpPr>
          <p:cNvPr id="148" name="Google Shape;148;g3c09b11e3f6_18_413"/>
          <p:cNvSpPr/>
          <p:nvPr/>
        </p:nvSpPr>
        <p:spPr>
          <a:xfrm>
            <a:off x="9022247" y="1693018"/>
            <a:ext cx="2103000" cy="109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09b11e3f6_18_413"/>
          <p:cNvSpPr txBox="1"/>
          <p:nvPr/>
        </p:nvSpPr>
        <p:spPr>
          <a:xfrm>
            <a:off x="9022247" y="187589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 처리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c09b11e3f6_18_413"/>
          <p:cNvSpPr txBox="1"/>
          <p:nvPr/>
        </p:nvSpPr>
        <p:spPr>
          <a:xfrm>
            <a:off x="9022247" y="2287378"/>
            <a:ext cx="21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규정/문서/일정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g3c09b11e3f6_18_413"/>
          <p:cNvSpPr/>
          <p:nvPr/>
        </p:nvSpPr>
        <p:spPr>
          <a:xfrm>
            <a:off x="573287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09b11e3f6_18_413"/>
          <p:cNvSpPr txBox="1"/>
          <p:nvPr/>
        </p:nvSpPr>
        <p:spPr>
          <a:xfrm>
            <a:off x="1330773" y="3427225"/>
            <a:ext cx="20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Judgment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3c09b11e3f6_18_413"/>
          <p:cNvSpPr txBox="1"/>
          <p:nvPr/>
        </p:nvSpPr>
        <p:spPr>
          <a:xfrm>
            <a:off x="1137506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 + RAG + 근거 제시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c09b11e3f6_18_413"/>
          <p:cNvSpPr/>
          <p:nvPr/>
        </p:nvSpPr>
        <p:spPr>
          <a:xfrm>
            <a:off x="4297795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09b11e3f6_18_413"/>
          <p:cNvSpPr txBox="1"/>
          <p:nvPr/>
        </p:nvSpPr>
        <p:spPr>
          <a:xfrm>
            <a:off x="5000057" y="3427233"/>
            <a:ext cx="29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c09b11e3f6_18_413"/>
          <p:cNvSpPr txBox="1"/>
          <p:nvPr/>
        </p:nvSpPr>
        <p:spPr>
          <a:xfrm>
            <a:off x="5041470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생성 / 요약 /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c09b11e3f6_18_413"/>
          <p:cNvSpPr/>
          <p:nvPr/>
        </p:nvSpPr>
        <p:spPr>
          <a:xfrm>
            <a:off x="8006502" y="3290073"/>
            <a:ext cx="3474600" cy="100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c09b11e3f6_18_413"/>
          <p:cNvSpPr txBox="1"/>
          <p:nvPr/>
        </p:nvSpPr>
        <p:spPr>
          <a:xfrm>
            <a:off x="8819199" y="3427233"/>
            <a:ext cx="292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c09b11e3f6_18_413"/>
          <p:cNvSpPr txBox="1"/>
          <p:nvPr/>
        </p:nvSpPr>
        <p:spPr>
          <a:xfrm>
            <a:off x="8584525" y="3852517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등록·조회 + Google 연동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c09b11e3f6_18_413"/>
          <p:cNvSpPr/>
          <p:nvPr/>
        </p:nvSpPr>
        <p:spPr>
          <a:xfrm>
            <a:off x="1728099" y="4661675"/>
            <a:ext cx="15687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09b11e3f6_18_413"/>
          <p:cNvSpPr txBox="1"/>
          <p:nvPr/>
        </p:nvSpPr>
        <p:spPr>
          <a:xfrm>
            <a:off x="1728174" y="4718425"/>
            <a:ext cx="156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규정 판단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3c09b11e3f6_18_413"/>
          <p:cNvSpPr/>
          <p:nvPr/>
        </p:nvSpPr>
        <p:spPr>
          <a:xfrm>
            <a:off x="3385974" y="46616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c09b11e3f6_18_413"/>
          <p:cNvSpPr txBox="1"/>
          <p:nvPr/>
        </p:nvSpPr>
        <p:spPr>
          <a:xfrm>
            <a:off x="3385924" y="47184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생성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g3c09b11e3f6_18_413"/>
          <p:cNvSpPr/>
          <p:nvPr/>
        </p:nvSpPr>
        <p:spPr>
          <a:xfrm>
            <a:off x="4942874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c09b11e3f6_18_413"/>
          <p:cNvSpPr txBox="1"/>
          <p:nvPr/>
        </p:nvSpPr>
        <p:spPr>
          <a:xfrm>
            <a:off x="4942874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요약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c09b11e3f6_18_413"/>
          <p:cNvSpPr/>
          <p:nvPr/>
        </p:nvSpPr>
        <p:spPr>
          <a:xfrm>
            <a:off x="6499773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09b11e3f6_18_413"/>
          <p:cNvSpPr txBox="1"/>
          <p:nvPr/>
        </p:nvSpPr>
        <p:spPr>
          <a:xfrm>
            <a:off x="6499773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문서 검색 / QA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c09b11e3f6_18_413"/>
          <p:cNvSpPr/>
          <p:nvPr/>
        </p:nvSpPr>
        <p:spPr>
          <a:xfrm>
            <a:off x="8056676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c09b11e3f6_18_413"/>
          <p:cNvSpPr txBox="1"/>
          <p:nvPr/>
        </p:nvSpPr>
        <p:spPr>
          <a:xfrm>
            <a:off x="8056676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등록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c09b11e3f6_18_413"/>
          <p:cNvSpPr/>
          <p:nvPr/>
        </p:nvSpPr>
        <p:spPr>
          <a:xfrm>
            <a:off x="9613575" y="4659475"/>
            <a:ext cx="1467900" cy="411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c09b11e3f6_18_413"/>
          <p:cNvSpPr txBox="1"/>
          <p:nvPr/>
        </p:nvSpPr>
        <p:spPr>
          <a:xfrm>
            <a:off x="9613575" y="4716225"/>
            <a:ext cx="146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일정 조회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c09b11e3f6_18_413"/>
          <p:cNvSpPr/>
          <p:nvPr/>
        </p:nvSpPr>
        <p:spPr>
          <a:xfrm>
            <a:off x="3474362" y="5724738"/>
            <a:ext cx="5319300" cy="457200"/>
          </a:xfrm>
          <a:prstGeom prst="flowChartAlternateProcess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c09b11e3f6_18_413"/>
          <p:cNvSpPr txBox="1"/>
          <p:nvPr/>
        </p:nvSpPr>
        <p:spPr>
          <a:xfrm>
            <a:off x="2059221" y="5808303"/>
            <a:ext cx="815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 API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먼저 구현  &gt;  형태 확정  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&gt;  sLLM(vLLM+LoRA)</a:t>
            </a:r>
            <a:r>
              <a:rPr i="0" lang="en-US" sz="1500" u="none" cap="none" strike="noStrike">
                <a:solidFill>
                  <a:srgbClr val="132063"/>
                </a:solidFill>
                <a:latin typeface="Roboto Black"/>
                <a:ea typeface="Roboto Black"/>
                <a:cs typeface="Roboto Black"/>
                <a:sym typeface="Roboto Black"/>
              </a:rPr>
              <a:t> 교체</a:t>
            </a:r>
            <a:endParaRPr>
              <a:solidFill>
                <a:srgbClr val="132063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4" name="Google Shape;174;g3c09b11e3f6_18_413"/>
          <p:cNvSpPr txBox="1"/>
          <p:nvPr/>
        </p:nvSpPr>
        <p:spPr>
          <a:xfrm>
            <a:off x="762000" y="571500"/>
            <a:ext cx="616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Solution</a:t>
            </a: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: 자연어 한 마디로 업무 자동화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275" y="1242941"/>
            <a:ext cx="5095875" cy="5194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2941"/>
            <a:ext cx="5095875" cy="5194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075" y="2267945"/>
            <a:ext cx="4737775" cy="62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3249213"/>
            <a:ext cx="4314825" cy="101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"/>
          <p:cNvSpPr txBox="1"/>
          <p:nvPr/>
        </p:nvSpPr>
        <p:spPr>
          <a:xfrm>
            <a:off x="1215952" y="1601261"/>
            <a:ext cx="207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파이프라인 구조</a:t>
            </a:r>
            <a:endParaRPr i="0" sz="1400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7147779" y="5985467"/>
            <a:ext cx="34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모르면 되묻는 안전장치 (Clarify 라우팅)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5" name="Google Shape;18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1727" y="16134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"/>
          <p:cNvSpPr txBox="1"/>
          <p:nvPr/>
        </p:nvSpPr>
        <p:spPr>
          <a:xfrm>
            <a:off x="1614583" y="6040176"/>
            <a:ext cx="346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F6291"/>
                </a:solidFill>
                <a:latin typeface="Roboto"/>
                <a:ea typeface="Roboto"/>
                <a:cs typeface="Roboto"/>
                <a:sym typeface="Roboto"/>
              </a:rPr>
              <a:t>SSE </a:t>
            </a:r>
            <a:r>
              <a:rPr i="0" lang="en-US" sz="1350" u="none" cap="none" strike="noStrike">
                <a:solidFill>
                  <a:srgbClr val="4F629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스트리밍 응답 (실시간)</a:t>
            </a:r>
            <a:endParaRPr i="0" sz="1400" u="none" cap="none" strike="noStrike">
              <a:solidFill>
                <a:srgbClr val="4F629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descr="image.png" id="187" name="Google Shape;18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2787" y="2982513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"/>
          <p:cNvSpPr txBox="1"/>
          <p:nvPr/>
        </p:nvSpPr>
        <p:spPr>
          <a:xfrm>
            <a:off x="1352550" y="3449238"/>
            <a:ext cx="391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650" u="none" cap="none" strike="noStrike">
                <a:solidFill>
                  <a:srgbClr val="2563EB"/>
                </a:solidFill>
                <a:latin typeface="Roboto Black"/>
                <a:ea typeface="Roboto Black"/>
                <a:cs typeface="Roboto Black"/>
                <a:sym typeface="Roboto Black"/>
              </a:rPr>
              <a:t>Orchestrator</a:t>
            </a:r>
            <a:r>
              <a:rPr b="1" i="0" lang="en-US" sz="155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 (LangGraph)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1352550" y="3818778"/>
            <a:ext cx="39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Intent Classifier (KoELECTRA,</a:t>
            </a:r>
            <a:r>
              <a:rPr b="1" i="0" lang="en-US" sz="1200" u="none" cap="none" strike="noStrike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 7.9ms</a:t>
            </a: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90" name="Google Shape;19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3262" y="444193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5120" y="161340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"/>
          <p:cNvSpPr/>
          <p:nvPr/>
        </p:nvSpPr>
        <p:spPr>
          <a:xfrm>
            <a:off x="6724650" y="2073402"/>
            <a:ext cx="4314900" cy="1251600"/>
          </a:xfrm>
          <a:prstGeom prst="roundRect">
            <a:avLst>
              <a:gd fmla="val 60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6902684" y="2251435"/>
            <a:ext cx="106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6724650" y="3515397"/>
            <a:ext cx="4314900" cy="9771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6872300" y="3638985"/>
            <a:ext cx="1674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Backend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6724650" y="4683103"/>
            <a:ext cx="4314900" cy="977100"/>
          </a:xfrm>
          <a:prstGeom prst="roundRect">
            <a:avLst>
              <a:gd fmla="val 77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6902684" y="4861135"/>
            <a:ext cx="150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Frontend Layer</a:t>
            </a:r>
            <a:endParaRPr i="0" sz="1500" u="none" cap="none" strike="noStrike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198" name="Google Shape;198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17101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2447" y="252776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77415" y="60756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53250" y="2604867"/>
            <a:ext cx="971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72573" y="2604867"/>
            <a:ext cx="971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91897" y="2604867"/>
            <a:ext cx="685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53250" y="2604876"/>
            <a:ext cx="39147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953250" y="4046863"/>
            <a:ext cx="781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782073" y="4046863"/>
            <a:ext cx="10668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896647" y="4046863"/>
            <a:ext cx="4000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44471" y="4046863"/>
            <a:ext cx="12573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53250" y="5214568"/>
            <a:ext cx="590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"/>
          <p:cNvSpPr txBox="1"/>
          <p:nvPr/>
        </p:nvSpPr>
        <p:spPr>
          <a:xfrm>
            <a:off x="762000" y="5715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시스템 아키텍처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1" name="Google Shape;211;p2"/>
          <p:cNvSpPr txBox="1"/>
          <p:nvPr/>
        </p:nvSpPr>
        <p:spPr>
          <a:xfrm>
            <a:off x="6746537" y="1589101"/>
            <a:ext cx="24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3A426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3-Layer</a:t>
            </a:r>
            <a:r>
              <a:rPr lang="en-US" sz="1800">
                <a:solidFill>
                  <a:srgbClr val="3A426F"/>
                </a:solidFill>
                <a:latin typeface="Roboto Black"/>
                <a:ea typeface="Roboto Black"/>
                <a:cs typeface="Roboto Black"/>
                <a:sym typeface="Roboto Black"/>
              </a:rPr>
              <a:t> 기술 스택                                 </a:t>
            </a:r>
            <a:endParaRPr i="0" sz="1400" u="none" cap="none" strike="noStrike">
              <a:solidFill>
                <a:srgbClr val="3A426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1116038" y="4773438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 txBox="1"/>
          <p:nvPr/>
        </p:nvSpPr>
        <p:spPr>
          <a:xfrm>
            <a:off x="895968" y="5224101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Judgement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214" name="Google Shape;214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459021" y="491348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"/>
          <p:cNvSpPr/>
          <p:nvPr/>
        </p:nvSpPr>
        <p:spPr>
          <a:xfrm>
            <a:off x="2271342" y="4786062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 txBox="1"/>
          <p:nvPr/>
        </p:nvSpPr>
        <p:spPr>
          <a:xfrm>
            <a:off x="2051266" y="5235739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Document 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217" name="Google Shape;217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671471" y="492564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"/>
          <p:cNvSpPr/>
          <p:nvPr/>
        </p:nvSpPr>
        <p:spPr>
          <a:xfrm>
            <a:off x="3416259" y="4793500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807276" y="49256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"/>
          <p:cNvSpPr/>
          <p:nvPr/>
        </p:nvSpPr>
        <p:spPr>
          <a:xfrm>
            <a:off x="4571563" y="4806125"/>
            <a:ext cx="971700" cy="94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971077" y="493780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"/>
          <p:cNvSpPr txBox="1"/>
          <p:nvPr/>
        </p:nvSpPr>
        <p:spPr>
          <a:xfrm>
            <a:off x="3196180" y="5242595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Schedule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3" name="Google Shape;223;p2"/>
          <p:cNvSpPr txBox="1"/>
          <p:nvPr/>
        </p:nvSpPr>
        <p:spPr>
          <a:xfrm>
            <a:off x="4351479" y="5254233"/>
            <a:ext cx="1155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General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Agent</a:t>
            </a:r>
            <a:endParaRPr sz="1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4" name="Google Shape;224;p2"/>
          <p:cNvSpPr txBox="1"/>
          <p:nvPr/>
        </p:nvSpPr>
        <p:spPr>
          <a:xfrm>
            <a:off x="1015855" y="2507554"/>
            <a:ext cx="115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사용자입력</a:t>
            </a:r>
            <a:endParaRPr i="0" sz="13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2239608" y="2495942"/>
            <a:ext cx="1609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(react)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6" name="Google Shape;226;p2"/>
          <p:cNvSpPr txBox="1"/>
          <p:nvPr/>
        </p:nvSpPr>
        <p:spPr>
          <a:xfrm>
            <a:off x="3849118" y="2501009"/>
            <a:ext cx="174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 </a:t>
            </a:r>
            <a:r>
              <a:rPr lang="en-US" sz="1300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(FastAPI)</a:t>
            </a:r>
            <a:endParaRPr i="0" sz="1300" u="none" cap="none" strike="noStrike">
              <a:solidFill>
                <a:srgbClr val="2563E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7" name="Google Shape;227;p2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3"/>
          <p:cNvPicPr preferRelativeResize="0"/>
          <p:nvPr/>
        </p:nvPicPr>
        <p:blipFill rotWithShape="1">
          <a:blip r:embed="rId4">
            <a:alphaModFix/>
          </a:blip>
          <a:srcRect b="0" l="870" r="-870" t="0"/>
          <a:stretch/>
        </p:blipFill>
        <p:spPr>
          <a:xfrm>
            <a:off x="636197" y="537963"/>
            <a:ext cx="10801955" cy="607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3"/>
          <p:cNvPicPr preferRelativeResize="0"/>
          <p:nvPr/>
        </p:nvPicPr>
        <p:blipFill rotWithShape="1">
          <a:blip r:embed="rId5">
            <a:alphaModFix amt="40000"/>
          </a:blip>
          <a:srcRect b="0" l="0" r="0" t="0"/>
          <a:stretch/>
        </p:blipFill>
        <p:spPr>
          <a:xfrm>
            <a:off x="1142641" y="185511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3"/>
          <p:cNvPicPr preferRelativeResize="0"/>
          <p:nvPr/>
        </p:nvPicPr>
        <p:blipFill rotWithShape="1">
          <a:blip r:embed="rId6">
            <a:alphaModFix amt="40000"/>
          </a:blip>
          <a:srcRect b="0" l="0" r="0" t="0"/>
          <a:stretch/>
        </p:blipFill>
        <p:spPr>
          <a:xfrm>
            <a:off x="1142633" y="2658412"/>
            <a:ext cx="2194157" cy="1434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3"/>
          <p:cNvPicPr preferRelativeResize="0"/>
          <p:nvPr/>
        </p:nvPicPr>
        <p:blipFill rotWithShape="1">
          <a:blip r:embed="rId7">
            <a:alphaModFix amt="40000"/>
          </a:blip>
          <a:srcRect b="0" l="0" r="0" t="0"/>
          <a:stretch/>
        </p:blipFill>
        <p:spPr>
          <a:xfrm>
            <a:off x="1142641" y="4302431"/>
            <a:ext cx="2194147" cy="75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3"/>
          <p:cNvPicPr preferRelativeResize="0"/>
          <p:nvPr/>
        </p:nvPicPr>
        <p:blipFill rotWithShape="1">
          <a:blip r:embed="rId8">
            <a:alphaModFix amt="40000"/>
          </a:blip>
          <a:srcRect b="0" l="0" r="0" t="0"/>
          <a:stretch/>
        </p:blipFill>
        <p:spPr>
          <a:xfrm>
            <a:off x="1142641" y="5315114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3"/>
          <p:cNvPicPr preferRelativeResize="0"/>
          <p:nvPr/>
        </p:nvPicPr>
        <p:blipFill rotWithShape="1">
          <a:blip r:embed="rId9">
            <a:alphaModFix amt="70000"/>
          </a:blip>
          <a:srcRect b="0" l="0" r="0" t="0"/>
          <a:stretch/>
        </p:blipFill>
        <p:spPr>
          <a:xfrm>
            <a:off x="4855826" y="2812619"/>
            <a:ext cx="2362928" cy="1687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1770722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2614625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3458528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3"/>
          <p:cNvPicPr preferRelativeResize="0"/>
          <p:nvPr/>
        </p:nvPicPr>
        <p:blipFill rotWithShape="1">
          <a:blip r:embed="rId10">
            <a:alphaModFix amt="40000"/>
          </a:blip>
          <a:srcRect b="0" l="0" r="0" t="0"/>
          <a:stretch/>
        </p:blipFill>
        <p:spPr>
          <a:xfrm>
            <a:off x="8737823" y="4302431"/>
            <a:ext cx="2194147" cy="59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7823" y="5230724"/>
            <a:ext cx="2194147" cy="6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"/>
          <p:cNvSpPr txBox="1"/>
          <p:nvPr/>
        </p:nvSpPr>
        <p:spPr>
          <a:xfrm>
            <a:off x="1184054" y="1615148"/>
            <a:ext cx="1198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8 USER INTENTS</a:t>
            </a:r>
            <a:endParaRPr sz="1240"/>
          </a:p>
        </p:txBody>
      </p:sp>
      <p:sp>
        <p:nvSpPr>
          <p:cNvPr id="244" name="Google Shape;244;p3"/>
          <p:cNvSpPr txBox="1"/>
          <p:nvPr/>
        </p:nvSpPr>
        <p:spPr>
          <a:xfrm>
            <a:off x="5758769" y="2469262"/>
            <a:ext cx="5568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ROUTER</a:t>
            </a:r>
            <a:endParaRPr sz="1240"/>
          </a:p>
        </p:txBody>
      </p:sp>
      <p:sp>
        <p:nvSpPr>
          <p:cNvPr id="245" name="Google Shape;245;p3"/>
          <p:cNvSpPr txBox="1"/>
          <p:nvPr/>
        </p:nvSpPr>
        <p:spPr>
          <a:xfrm>
            <a:off x="8758529" y="1563290"/>
            <a:ext cx="11814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3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AGENTS</a:t>
            </a:r>
            <a:endParaRPr sz="1240"/>
          </a:p>
        </p:txBody>
      </p:sp>
      <p:sp>
        <p:nvSpPr>
          <p:cNvPr id="246" name="Google Shape;246;p3"/>
          <p:cNvSpPr txBox="1"/>
          <p:nvPr/>
        </p:nvSpPr>
        <p:spPr>
          <a:xfrm>
            <a:off x="5323999" y="3124525"/>
            <a:ext cx="14268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Orchestrator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47" name="Google Shape;24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08601" y="3453647"/>
            <a:ext cx="1257416" cy="24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"/>
          <p:cNvSpPr txBox="1"/>
          <p:nvPr/>
        </p:nvSpPr>
        <p:spPr>
          <a:xfrm>
            <a:off x="5480334" y="3900916"/>
            <a:ext cx="1113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Intent Classification</a:t>
            </a:r>
            <a:br>
              <a:rPr b="0" i="0" lang="en-US" sz="1594" u="none" cap="none" strike="noStrike">
                <a:solidFill>
                  <a:srgbClr val="3D51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30" u="none" cap="none" strike="noStrike">
                <a:solidFill>
                  <a:srgbClr val="3D5164"/>
                </a:solidFill>
                <a:latin typeface="Noto Sans KR"/>
                <a:ea typeface="Noto Sans KR"/>
                <a:cs typeface="Noto Sans KR"/>
                <a:sym typeface="Noto Sans KR"/>
              </a:rPr>
              <a:t> &amp; Routing Decision</a:t>
            </a:r>
            <a:endParaRPr sz="1240">
              <a:solidFill>
                <a:srgbClr val="3D5164"/>
              </a:solidFill>
            </a:endParaRPr>
          </a:p>
        </p:txBody>
      </p:sp>
      <p:pic>
        <p:nvPicPr>
          <p:cNvPr descr="image.png" id="249" name="Google Shape;249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1880429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50" name="Google Shape;250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40361" y="2724332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51" name="Google Shape;251;p3"/>
          <p:cNvPicPr preferRelativeResize="0"/>
          <p:nvPr/>
        </p:nvPicPr>
        <p:blipFill rotWithShape="1">
          <a:blip r:embed="rId13">
            <a:alphaModFix amt="54000"/>
          </a:blip>
          <a:srcRect b="0" l="0" r="0" t="0"/>
          <a:stretch/>
        </p:blipFill>
        <p:spPr>
          <a:xfrm>
            <a:off x="8953360" y="3568235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52" name="Google Shape;252;p3"/>
          <p:cNvPicPr preferRelativeResize="0"/>
          <p:nvPr/>
        </p:nvPicPr>
        <p:blipFill rotWithShape="1">
          <a:blip r:embed="rId14">
            <a:alphaModFix amt="54000"/>
          </a:blip>
          <a:srcRect b="0" l="0" r="0" t="0"/>
          <a:stretch/>
        </p:blipFill>
        <p:spPr>
          <a:xfrm>
            <a:off x="8953363" y="4399473"/>
            <a:ext cx="371320" cy="371317"/>
          </a:xfrm>
          <a:prstGeom prst="rect">
            <a:avLst/>
          </a:prstGeom>
          <a:noFill/>
          <a:ln>
            <a:noFill/>
          </a:ln>
          <a:effectLst>
            <a:outerShdw blurRad="67017" rotWithShape="0" algn="bl" dir="5400000" dist="22339">
              <a:srgbClr val="000000">
                <a:alpha val="44000"/>
              </a:srgbClr>
            </a:outerShdw>
          </a:effectLst>
        </p:spPr>
      </p:pic>
      <p:pic>
        <p:nvPicPr>
          <p:cNvPr descr="image.png" id="253" name="Google Shape;253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85379" y="5382626"/>
            <a:ext cx="371320" cy="37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97130" y="2023893"/>
            <a:ext cx="98078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97130" y="2766527"/>
            <a:ext cx="11225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97130" y="308721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97130" y="3407894"/>
            <a:ext cx="119347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397130" y="3728577"/>
            <a:ext cx="839030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97130" y="4395260"/>
            <a:ext cx="1264413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97130" y="4715943"/>
            <a:ext cx="1335222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397130" y="5483895"/>
            <a:ext cx="909839" cy="253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020532" y="1981698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"/>
          <p:cNvSpPr txBox="1"/>
          <p:nvPr/>
        </p:nvSpPr>
        <p:spPr>
          <a:xfrm>
            <a:off x="9446707" y="1876737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Judgment Agent</a:t>
            </a:r>
            <a:endParaRPr sz="1240"/>
          </a:p>
        </p:txBody>
      </p:sp>
      <p:sp>
        <p:nvSpPr>
          <p:cNvPr id="264" name="Google Shape;264;p3"/>
          <p:cNvSpPr txBox="1"/>
          <p:nvPr/>
        </p:nvSpPr>
        <p:spPr>
          <a:xfrm>
            <a:off x="9446707" y="2113029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규정 기반 판단 수행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65" name="Google Shape;265;p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062727" y="2825601"/>
            <a:ext cx="126585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"/>
          <p:cNvSpPr txBox="1"/>
          <p:nvPr/>
        </p:nvSpPr>
        <p:spPr>
          <a:xfrm>
            <a:off x="9446707" y="2720639"/>
            <a:ext cx="13203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Document Agent</a:t>
            </a:r>
            <a:endParaRPr sz="1240"/>
          </a:p>
        </p:txBody>
      </p:sp>
      <p:sp>
        <p:nvSpPr>
          <p:cNvPr id="267" name="Google Shape;267;p3"/>
          <p:cNvSpPr txBox="1"/>
          <p:nvPr/>
        </p:nvSpPr>
        <p:spPr>
          <a:xfrm>
            <a:off x="9446707" y="2956932"/>
            <a:ext cx="125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문서 검색, 생성, 요약, QA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68" name="Google Shape;268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063069" y="3669503"/>
            <a:ext cx="151904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"/>
          <p:cNvSpPr txBox="1"/>
          <p:nvPr/>
        </p:nvSpPr>
        <p:spPr>
          <a:xfrm>
            <a:off x="9488902" y="3564542"/>
            <a:ext cx="1231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Schedule Agent</a:t>
            </a:r>
            <a:endParaRPr sz="1240"/>
          </a:p>
        </p:txBody>
      </p:sp>
      <p:sp>
        <p:nvSpPr>
          <p:cNvPr id="270" name="Google Shape;270;p3"/>
          <p:cNvSpPr txBox="1"/>
          <p:nvPr/>
        </p:nvSpPr>
        <p:spPr>
          <a:xfrm>
            <a:off x="9488902" y="3800835"/>
            <a:ext cx="1173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조회 및 추가 관리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71" name="Google Shape;271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033534" y="4509053"/>
            <a:ext cx="210976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"/>
          <p:cNvSpPr txBox="1"/>
          <p:nvPr/>
        </p:nvSpPr>
        <p:spPr>
          <a:xfrm>
            <a:off x="9488891" y="4403484"/>
            <a:ext cx="1373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General Response</a:t>
            </a:r>
            <a:endParaRPr sz="1240"/>
          </a:p>
        </p:txBody>
      </p:sp>
      <p:sp>
        <p:nvSpPr>
          <p:cNvPr id="273" name="Google Shape;273;p3"/>
          <p:cNvSpPr txBox="1"/>
          <p:nvPr/>
        </p:nvSpPr>
        <p:spPr>
          <a:xfrm>
            <a:off x="9508937" y="4637728"/>
            <a:ext cx="1308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63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대화 및 기본 응답</a:t>
            </a:r>
            <a:endParaRPr sz="1240">
              <a:solidFill>
                <a:schemeClr val="dk1"/>
              </a:solidFill>
            </a:endParaRPr>
          </a:p>
        </p:txBody>
      </p:sp>
      <p:pic>
        <p:nvPicPr>
          <p:cNvPr descr="image.png" id="274" name="Google Shape;274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086648" y="5483895"/>
            <a:ext cx="168782" cy="16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"/>
          <p:cNvSpPr txBox="1"/>
          <p:nvPr/>
        </p:nvSpPr>
        <p:spPr>
          <a:xfrm>
            <a:off x="9619708" y="5307597"/>
            <a:ext cx="983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8637E"/>
                </a:solidFill>
                <a:latin typeface="Noto Sans KR"/>
                <a:ea typeface="Noto Sans KR"/>
                <a:cs typeface="Noto Sans KR"/>
                <a:sym typeface="Noto Sans KR"/>
              </a:rPr>
              <a:t>Clarify</a:t>
            </a:r>
            <a:endParaRPr sz="1240">
              <a:solidFill>
                <a:srgbClr val="58637E"/>
              </a:solidFill>
            </a:endParaRPr>
          </a:p>
        </p:txBody>
      </p:sp>
      <p:sp>
        <p:nvSpPr>
          <p:cNvPr id="276" name="Google Shape;276;p3"/>
          <p:cNvSpPr txBox="1"/>
          <p:nvPr/>
        </p:nvSpPr>
        <p:spPr>
          <a:xfrm>
            <a:off x="9611608" y="5525254"/>
            <a:ext cx="999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의도 재질문</a:t>
            </a:r>
            <a:endParaRPr sz="863">
              <a:solidFill>
                <a:srgbClr val="3340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3" u="none" cap="none" strike="noStrike">
                <a:solidFill>
                  <a:srgbClr val="334055"/>
                </a:solidFill>
                <a:latin typeface="Noto Sans KR"/>
                <a:ea typeface="Noto Sans KR"/>
                <a:cs typeface="Noto Sans KR"/>
                <a:sym typeface="Noto Sans KR"/>
              </a:rPr>
              <a:t>(상위 3개 후보 제시)</a:t>
            </a:r>
            <a:endParaRPr sz="1240">
              <a:solidFill>
                <a:srgbClr val="334055"/>
              </a:solidFill>
            </a:endParaRPr>
          </a:p>
        </p:txBody>
      </p:sp>
      <p:pic>
        <p:nvPicPr>
          <p:cNvPr descr="image.png" id="277" name="Google Shape;277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09984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2842479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163162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483845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3804528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471211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4791894"/>
            <a:ext cx="126585" cy="101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454887" y="5559846"/>
            <a:ext cx="126585" cy="101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5" name="Google Shape;285;p3"/>
          <p:cNvGrpSpPr/>
          <p:nvPr/>
        </p:nvGrpSpPr>
        <p:grpSpPr>
          <a:xfrm>
            <a:off x="762000" y="571500"/>
            <a:ext cx="4341263" cy="415500"/>
            <a:chOff x="762000" y="571500"/>
            <a:chExt cx="4341263" cy="415500"/>
          </a:xfrm>
        </p:grpSpPr>
        <p:sp>
          <p:nvSpPr>
            <p:cNvPr id="286" name="Google Shape;286;p3"/>
            <p:cNvSpPr txBox="1"/>
            <p:nvPr/>
          </p:nvSpPr>
          <p:spPr>
            <a:xfrm>
              <a:off x="2457863" y="624132"/>
              <a:ext cx="2645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Koelectra model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87" name="Google Shape;287;p3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Intent 분류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pic>
        <p:nvPicPr>
          <p:cNvPr descr="image.png" id="288" name="Google Shape;288;p3"/>
          <p:cNvPicPr preferRelativeResize="0"/>
          <p:nvPr/>
        </p:nvPicPr>
        <p:blipFill rotWithShape="1">
          <a:blip r:embed="rId30">
            <a:alphaModFix amt="76000"/>
          </a:blip>
          <a:srcRect b="0" l="0" r="0" t="0"/>
          <a:stretch/>
        </p:blipFill>
        <p:spPr>
          <a:xfrm>
            <a:off x="7505644" y="2632846"/>
            <a:ext cx="841265" cy="261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"/>
          <p:cNvPicPr preferRelativeResize="0"/>
          <p:nvPr/>
        </p:nvPicPr>
        <p:blipFill rotWithShape="1">
          <a:blip r:embed="rId31">
            <a:alphaModFix amt="76000"/>
          </a:blip>
          <a:srcRect b="0" l="0" r="0" t="0"/>
          <a:stretch/>
        </p:blipFill>
        <p:spPr>
          <a:xfrm>
            <a:off x="7504327" y="4637754"/>
            <a:ext cx="843903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291" name="Google Shape;291;p3"/>
          <p:cNvSpPr txBox="1"/>
          <p:nvPr/>
        </p:nvSpPr>
        <p:spPr>
          <a:xfrm>
            <a:off x="5662325" y="6099950"/>
            <a:ext cx="526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0.8대의 Adversarial F1 score를 보완하기 위해 clarify fallback 도입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"/>
          <p:cNvSpPr txBox="1"/>
          <p:nvPr/>
        </p:nvSpPr>
        <p:spPr>
          <a:xfrm>
            <a:off x="7558223" y="2681750"/>
            <a:ext cx="738900" cy="163800"/>
          </a:xfrm>
          <a:prstGeom prst="rect">
            <a:avLst/>
          </a:prstGeom>
          <a:solidFill>
            <a:srgbClr val="EBE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3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conf &lt; 0.85</a:t>
            </a:r>
            <a:endParaRPr b="1" sz="1240"/>
          </a:p>
        </p:txBody>
      </p:sp>
      <p:sp>
        <p:nvSpPr>
          <p:cNvPr id="293" name="Google Shape;293;p3"/>
          <p:cNvSpPr txBox="1"/>
          <p:nvPr/>
        </p:nvSpPr>
        <p:spPr>
          <a:xfrm>
            <a:off x="7560323" y="4693774"/>
            <a:ext cx="738900" cy="163800"/>
          </a:xfrm>
          <a:prstGeom prst="rect">
            <a:avLst/>
          </a:prstGeom>
          <a:solidFill>
            <a:srgbClr val="EBEA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3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conf &gt; 0.85</a:t>
            </a:r>
            <a:endParaRPr b="1" sz="12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0c338455d_3_341"/>
          <p:cNvSpPr/>
          <p:nvPr/>
        </p:nvSpPr>
        <p:spPr>
          <a:xfrm>
            <a:off x="540874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c0c338455d_3_341"/>
          <p:cNvSpPr/>
          <p:nvPr/>
        </p:nvSpPr>
        <p:spPr>
          <a:xfrm>
            <a:off x="650604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0c338455d_3_341"/>
          <p:cNvSpPr txBox="1"/>
          <p:nvPr/>
        </p:nvSpPr>
        <p:spPr>
          <a:xfrm>
            <a:off x="702379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데이터 생성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5" name="Google Shape;305;g3c0c338455d_3_341"/>
          <p:cNvSpPr txBox="1"/>
          <p:nvPr/>
        </p:nvSpPr>
        <p:spPr>
          <a:xfrm>
            <a:off x="702379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GPT-4o + Claude Sonnet 4 혼합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2,299 + 경계쌍 600건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 intent × ~288개, 균형 1.28x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g3c0c338455d_3_341"/>
          <p:cNvSpPr/>
          <p:nvPr/>
        </p:nvSpPr>
        <p:spPr>
          <a:xfrm>
            <a:off x="3375589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c0c338455d_3_341"/>
          <p:cNvSpPr/>
          <p:nvPr/>
        </p:nvSpPr>
        <p:spPr>
          <a:xfrm>
            <a:off x="3485320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c0c338455d_3_341"/>
          <p:cNvSpPr txBox="1"/>
          <p:nvPr/>
        </p:nvSpPr>
        <p:spPr>
          <a:xfrm>
            <a:off x="3537095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Baseline 3모델 비교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9" name="Google Shape;309;g3c0c338455d_3_341"/>
          <p:cNvSpPr txBox="1"/>
          <p:nvPr/>
        </p:nvSpPr>
        <p:spPr>
          <a:xfrm>
            <a:off x="3537095" y="2261267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 Val F1 0.9825</a:t>
            </a:r>
            <a:r>
              <a:rPr b="0" i="0" lang="en-US" sz="10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</a:t>
            </a:r>
            <a:endParaRPr b="0" i="0" sz="14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BERT-base  Val F1 0.9780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DistilKoBERT  Val F1 0.9498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g3c0c338455d_3_341"/>
          <p:cNvSpPr/>
          <p:nvPr/>
        </p:nvSpPr>
        <p:spPr>
          <a:xfrm>
            <a:off x="6210305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c0c338455d_3_341"/>
          <p:cNvSpPr/>
          <p:nvPr/>
        </p:nvSpPr>
        <p:spPr>
          <a:xfrm>
            <a:off x="6320036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c0c338455d_3_341"/>
          <p:cNvSpPr txBox="1"/>
          <p:nvPr/>
        </p:nvSpPr>
        <p:spPr>
          <a:xfrm>
            <a:off x="6371811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Grid Search 최적화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3" name="Google Shape;313;g3c0c338455d_3_341"/>
          <p:cNvSpPr txBox="1"/>
          <p:nvPr/>
        </p:nvSpPr>
        <p:spPr>
          <a:xfrm>
            <a:off x="6371811" y="2261267"/>
            <a:ext cx="2386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32-point grid search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Best: ep10/lr3e-5/bs16 → 0.9897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3-seed 안정성: 0.9874 ± 0.0033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g3c0c338455d_3_341"/>
          <p:cNvSpPr/>
          <p:nvPr/>
        </p:nvSpPr>
        <p:spPr>
          <a:xfrm>
            <a:off x="9045020" y="1345127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c0c338455d_3_341"/>
          <p:cNvSpPr/>
          <p:nvPr/>
        </p:nvSpPr>
        <p:spPr>
          <a:xfrm>
            <a:off x="9154751" y="1454855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c0c338455d_3_341"/>
          <p:cNvSpPr txBox="1"/>
          <p:nvPr/>
        </p:nvSpPr>
        <p:spPr>
          <a:xfrm>
            <a:off x="9206526" y="1895507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평가 (Adversarial)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7" name="Google Shape;317;g3c0c338455d_3_341"/>
          <p:cNvSpPr txBox="1"/>
          <p:nvPr/>
        </p:nvSpPr>
        <p:spPr>
          <a:xfrm>
            <a:off x="9206526" y="2261267"/>
            <a:ext cx="238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난해한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450건 스트레스 테스트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 Adv F1 0.8604 </a:t>
            </a:r>
            <a:r>
              <a:rPr b="0" i="0" lang="en-US" sz="10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3c0c338455d_3_341"/>
          <p:cNvSpPr/>
          <p:nvPr/>
        </p:nvSpPr>
        <p:spPr>
          <a:xfrm>
            <a:off x="1821068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c0c338455d_3_341"/>
          <p:cNvSpPr/>
          <p:nvPr/>
        </p:nvSpPr>
        <p:spPr>
          <a:xfrm>
            <a:off x="1930799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c0c338455d_3_341"/>
          <p:cNvSpPr txBox="1"/>
          <p:nvPr/>
        </p:nvSpPr>
        <p:spPr>
          <a:xfrm>
            <a:off x="1982574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오분류 분석 + 보강</a:t>
            </a:r>
            <a:endParaRPr b="0" i="0" sz="14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1" name="Google Shape;321;g3c0c338455d_3_341"/>
          <p:cNvSpPr txBox="1"/>
          <p:nvPr/>
        </p:nvSpPr>
        <p:spPr>
          <a:xfrm>
            <a:off x="1982574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98건 타겟 보강 재학습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+1.80%p (0.8604→0.8784)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doc_qa +7.9%p 최대 개선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→ 틀리는 패턴 분석 → 타겟 보강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g3c0c338455d_3_341"/>
          <p:cNvSpPr/>
          <p:nvPr/>
        </p:nvSpPr>
        <p:spPr>
          <a:xfrm>
            <a:off x="4655783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c0c338455d_3_341"/>
          <p:cNvSpPr/>
          <p:nvPr/>
        </p:nvSpPr>
        <p:spPr>
          <a:xfrm>
            <a:off x="4765514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c0c338455d_3_341"/>
          <p:cNvSpPr txBox="1"/>
          <p:nvPr/>
        </p:nvSpPr>
        <p:spPr>
          <a:xfrm>
            <a:off x="4765514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Label Smoothing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5" name="Google Shape;325;g3c0c338455d_3_341"/>
          <p:cNvSpPr txBox="1"/>
          <p:nvPr/>
        </p:nvSpPr>
        <p:spPr>
          <a:xfrm>
            <a:off x="4765514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LS 0.1 → 과신뢰 66.7%→23.2%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오답 confidence 분리 가능 (thr 0.85)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Adv F1 0.8758 (최종 채택 모델)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→ 확신 있게 틀리는 것이 가장 위험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g3c0c338455d_3_341"/>
          <p:cNvSpPr/>
          <p:nvPr/>
        </p:nvSpPr>
        <p:spPr>
          <a:xfrm>
            <a:off x="7490499" y="3814006"/>
            <a:ext cx="2606100" cy="21489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c0c338455d_3_341"/>
          <p:cNvSpPr/>
          <p:nvPr/>
        </p:nvSpPr>
        <p:spPr>
          <a:xfrm>
            <a:off x="7600230" y="3923734"/>
            <a:ext cx="777300" cy="274200"/>
          </a:xfrm>
          <a:prstGeom prst="roundRect">
            <a:avLst>
              <a:gd fmla="val 30000" name="adj"/>
            </a:avLst>
          </a:prstGeom>
          <a:solidFill>
            <a:srgbClr val="CFE2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c0c338455d_3_341"/>
          <p:cNvSpPr txBox="1"/>
          <p:nvPr/>
        </p:nvSpPr>
        <p:spPr>
          <a:xfrm>
            <a:off x="7600230" y="4364386"/>
            <a:ext cx="238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라벨 리뷰 + 검증</a:t>
            </a:r>
            <a:endParaRPr b="0" i="0" sz="1400" u="none" cap="none" strike="noStrike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9" name="Google Shape;329;g3c0c338455d_3_341"/>
          <p:cNvSpPr txBox="1"/>
          <p:nvPr/>
        </p:nvSpPr>
        <p:spPr>
          <a:xfrm>
            <a:off x="7600230" y="4730146"/>
            <a:ext cx="2386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 오류 36%가 라벨 문제 확인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25건 소량 보강 → 효과 없음 (한계)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100문장 확장 → 85%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        → 모델 탓 전에 라벨을 의심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D2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g3c0c338455d_3_341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7-Stage 실험 파이프라인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31" name="Google Shape;331;g3c0c338455d_3_341"/>
          <p:cNvSpPr txBox="1"/>
          <p:nvPr/>
        </p:nvSpPr>
        <p:spPr>
          <a:xfrm>
            <a:off x="3320125" y="6295633"/>
            <a:ext cx="599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"데이터 품질 &gt; 하이퍼파라미터 &gt; 모델 아키텍처"</a:t>
            </a:r>
            <a:endParaRPr b="1" i="0" sz="15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g3c0c338455d_3_34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09b11e3f6_18_182"/>
          <p:cNvSpPr/>
          <p:nvPr/>
        </p:nvSpPr>
        <p:spPr>
          <a:xfrm>
            <a:off x="580913" y="1183871"/>
            <a:ext cx="5303400" cy="25602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09b11e3f6_18_182"/>
          <p:cNvSpPr txBox="1"/>
          <p:nvPr/>
        </p:nvSpPr>
        <p:spPr>
          <a:xfrm>
            <a:off x="763798" y="1412471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모델 성능 (Stage 6)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9" name="Google Shape;339;g3c09b11e3f6_18_182"/>
          <p:cNvSpPr/>
          <p:nvPr/>
        </p:nvSpPr>
        <p:spPr>
          <a:xfrm>
            <a:off x="763798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c09b11e3f6_18_182"/>
          <p:cNvSpPr txBox="1"/>
          <p:nvPr/>
        </p:nvSpPr>
        <p:spPr>
          <a:xfrm>
            <a:off x="763798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Val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1" name="Google Shape;341;g3c09b11e3f6_18_182"/>
          <p:cNvSpPr txBox="1"/>
          <p:nvPr/>
        </p:nvSpPr>
        <p:spPr>
          <a:xfrm>
            <a:off x="763798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0.9894</a:t>
            </a:r>
            <a:endParaRPr/>
          </a:p>
        </p:txBody>
      </p:sp>
      <p:sp>
        <p:nvSpPr>
          <p:cNvPr id="342" name="Google Shape;342;g3c09b11e3f6_18_182"/>
          <p:cNvSpPr txBox="1"/>
          <p:nvPr/>
        </p:nvSpPr>
        <p:spPr>
          <a:xfrm>
            <a:off x="763798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학습 데이터 검증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3" name="Google Shape;343;g3c09b11e3f6_18_182"/>
          <p:cNvSpPr/>
          <p:nvPr/>
        </p:nvSpPr>
        <p:spPr>
          <a:xfrm>
            <a:off x="2455483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09b11e3f6_18_182"/>
          <p:cNvSpPr txBox="1"/>
          <p:nvPr/>
        </p:nvSpPr>
        <p:spPr>
          <a:xfrm>
            <a:off x="2455483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Test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5" name="Google Shape;345;g3c09b11e3f6_18_182"/>
          <p:cNvSpPr txBox="1"/>
          <p:nvPr/>
        </p:nvSpPr>
        <p:spPr>
          <a:xfrm>
            <a:off x="2455483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C7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0.9788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346" name="Google Shape;346;g3c09b11e3f6_18_182"/>
          <p:cNvSpPr txBox="1"/>
          <p:nvPr/>
        </p:nvSpPr>
        <p:spPr>
          <a:xfrm>
            <a:off x="2455483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미지 데이터 일반화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7" name="Google Shape;347;g3c09b11e3f6_18_182"/>
          <p:cNvSpPr/>
          <p:nvPr/>
        </p:nvSpPr>
        <p:spPr>
          <a:xfrm>
            <a:off x="4147169" y="1869671"/>
            <a:ext cx="1554600" cy="8229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c09b11e3f6_18_182"/>
          <p:cNvSpPr txBox="1"/>
          <p:nvPr/>
        </p:nvSpPr>
        <p:spPr>
          <a:xfrm>
            <a:off x="4147169" y="194282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Adv F1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9" name="Google Shape;349;g3c09b11e3f6_18_182"/>
          <p:cNvSpPr txBox="1"/>
          <p:nvPr/>
        </p:nvSpPr>
        <p:spPr>
          <a:xfrm>
            <a:off x="4147169" y="211189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74EA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0.8758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350" name="Google Shape;350;g3c09b11e3f6_18_182"/>
          <p:cNvSpPr txBox="1"/>
          <p:nvPr/>
        </p:nvSpPr>
        <p:spPr>
          <a:xfrm>
            <a:off x="4147169" y="2464031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475569"/>
                </a:solidFill>
                <a:latin typeface="Roboto Black"/>
                <a:ea typeface="Roboto Black"/>
                <a:cs typeface="Roboto Black"/>
                <a:sym typeface="Roboto Black"/>
              </a:rPr>
              <a:t>적대적 스트레스</a:t>
            </a:r>
            <a:endParaRPr>
              <a:solidFill>
                <a:srgbClr val="475569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51" name="Google Shape;351;g3c09b11e3f6_18_182"/>
          <p:cNvSpPr txBox="1"/>
          <p:nvPr/>
        </p:nvSpPr>
        <p:spPr>
          <a:xfrm>
            <a:off x="763798" y="2875511"/>
            <a:ext cx="49377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KoELECTRA-base-v3  |  112.9M params  |  431MB  |  추론 7.9ms  | </a:t>
            </a:r>
            <a:b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Config: ep10/lr3e-5/bs16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 Smoothing 0.1 적용  |  Threshold 0.85 (clarify)  |  Fallback 0.4 (general)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2" name="Google Shape;352;g3c09b11e3f6_18_182"/>
          <p:cNvSpPr/>
          <p:nvPr/>
        </p:nvSpPr>
        <p:spPr>
          <a:xfrm>
            <a:off x="568526" y="3889966"/>
            <a:ext cx="5303400" cy="25602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c09b11e3f6_18_182"/>
          <p:cNvSpPr txBox="1"/>
          <p:nvPr/>
        </p:nvSpPr>
        <p:spPr>
          <a:xfrm>
            <a:off x="763798" y="4052138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테스트 (100문장)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g3c09b11e3f6_18_182"/>
          <p:cNvSpPr txBox="1"/>
          <p:nvPr/>
        </p:nvSpPr>
        <p:spPr>
          <a:xfrm>
            <a:off x="763798" y="4491050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 (표준)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g3c09b11e3f6_18_182"/>
          <p:cNvSpPr/>
          <p:nvPr/>
        </p:nvSpPr>
        <p:spPr>
          <a:xfrm>
            <a:off x="1860620" y="4496979"/>
            <a:ext cx="34746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09b11e3f6_18_182"/>
          <p:cNvSpPr txBox="1"/>
          <p:nvPr/>
        </p:nvSpPr>
        <p:spPr>
          <a:xfrm>
            <a:off x="5350653" y="4509338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57" name="Google Shape;357;g3c09b11e3f6_18_182"/>
          <p:cNvSpPr txBox="1"/>
          <p:nvPr/>
        </p:nvSpPr>
        <p:spPr>
          <a:xfrm>
            <a:off x="763798" y="487509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 (초단문)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g3c09b11e3f6_18_182"/>
          <p:cNvSpPr/>
          <p:nvPr/>
        </p:nvSpPr>
        <p:spPr>
          <a:xfrm>
            <a:off x="1860625" y="4893386"/>
            <a:ext cx="32418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09b11e3f6_18_182"/>
          <p:cNvSpPr txBox="1"/>
          <p:nvPr/>
        </p:nvSpPr>
        <p:spPr>
          <a:xfrm>
            <a:off x="5131720" y="4893386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93.3%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0" name="Google Shape;360;g3c09b11e3f6_18_182"/>
          <p:cNvSpPr txBox="1"/>
          <p:nvPr/>
        </p:nvSpPr>
        <p:spPr>
          <a:xfrm>
            <a:off x="763798" y="525914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boundary (경계)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g3c09b11e3f6_18_182"/>
          <p:cNvSpPr/>
          <p:nvPr/>
        </p:nvSpPr>
        <p:spPr>
          <a:xfrm>
            <a:off x="1860625" y="5277434"/>
            <a:ext cx="27381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09b11e3f6_18_182"/>
          <p:cNvSpPr txBox="1"/>
          <p:nvPr/>
        </p:nvSpPr>
        <p:spPr>
          <a:xfrm>
            <a:off x="4651605" y="5303178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Malgun Gothic"/>
                <a:ea typeface="Malgun Gothic"/>
                <a:cs typeface="Malgun Gothic"/>
                <a:sym typeface="Malgun Gothic"/>
              </a:rPr>
              <a:t>78.8%</a:t>
            </a:r>
            <a:endParaRPr/>
          </a:p>
        </p:txBody>
      </p:sp>
      <p:sp>
        <p:nvSpPr>
          <p:cNvPr id="363" name="Google Shape;363;g3c09b11e3f6_18_182"/>
          <p:cNvSpPr txBox="1"/>
          <p:nvPr/>
        </p:nvSpPr>
        <p:spPr>
          <a:xfrm>
            <a:off x="763798" y="5643194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informal (비속어)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4" name="Google Shape;364;g3c09b11e3f6_18_182"/>
          <p:cNvSpPr/>
          <p:nvPr/>
        </p:nvSpPr>
        <p:spPr>
          <a:xfrm>
            <a:off x="1860625" y="5661482"/>
            <a:ext cx="2640900" cy="255900"/>
          </a:xfrm>
          <a:prstGeom prst="roundRect">
            <a:avLst>
              <a:gd fmla="val 30000" name="adj"/>
            </a:avLst>
          </a:prstGeom>
          <a:solidFill>
            <a:srgbClr val="E066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c09b11e3f6_18_182"/>
          <p:cNvSpPr txBox="1"/>
          <p:nvPr/>
        </p:nvSpPr>
        <p:spPr>
          <a:xfrm>
            <a:off x="4554310" y="5687226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76.0%</a:t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366" name="Google Shape;366;g3c09b11e3f6_18_182"/>
          <p:cNvSpPr txBox="1"/>
          <p:nvPr/>
        </p:nvSpPr>
        <p:spPr>
          <a:xfrm>
            <a:off x="763798" y="6018098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Accuracy 85.0%  |  Macro F1 0.8497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367" name="Google Shape;367;g3c09b11e3f6_18_182"/>
          <p:cNvSpPr/>
          <p:nvPr/>
        </p:nvSpPr>
        <p:spPr>
          <a:xfrm>
            <a:off x="6341787" y="1183871"/>
            <a:ext cx="5303400" cy="51207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2700">
            <a:solidFill>
              <a:srgbClr val="3340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c09b11e3f6_18_182"/>
          <p:cNvSpPr txBox="1"/>
          <p:nvPr/>
        </p:nvSpPr>
        <p:spPr>
          <a:xfrm>
            <a:off x="6576438" y="1412471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인사이트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g3c09b11e3f6_18_182"/>
          <p:cNvSpPr txBox="1"/>
          <p:nvPr/>
        </p:nvSpPr>
        <p:spPr>
          <a:xfrm>
            <a:off x="6576438" y="1823951"/>
            <a:ext cx="4937700" cy="4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과신뢰 해소 (Stage 6 최대 성과)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오분류 중 과신뢰: 66.7% → 23.2% (-69%)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Threshold 0.85로 정답/오답 분리 가능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→ clarify 라우팅으로 안전하게 처리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데이터 품질 &gt; HP &gt; 모델 아키텍처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Grid Search +0.72%p vs 보강 98건 +1.80%p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소량(25건) 보강은 효과 없음 → 임계량 ~100건+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doc_qa 라벨 리뷰 결과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오류 27건 중 63%가 모델 문제 아님 (라벨 애매/오류)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Adjusted F1 ~85% (raw 76.6% → 실질 85%)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doc 4종 모두 Document Agent 라우팅 → 실영향 미미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모델 선택: KoELECTRA 근거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ELECTRA RTD → 짧은 한국어 구분에 유리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Adv F1 최고 + 추론 24% 빠름 (vs BERT)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Seed 안정성: 0.9874 ± 0.0033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g3c09b11e3f6_18_182"/>
          <p:cNvSpPr txBox="1"/>
          <p:nvPr/>
        </p:nvSpPr>
        <p:spPr>
          <a:xfrm>
            <a:off x="762000" y="571500"/>
            <a:ext cx="52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최종 결과 &amp; 인사이트</a:t>
            </a:r>
            <a:endParaRPr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71" name="Google Shape;371;g3c09b11e3f6_18_182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0c338455d_21_151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</a:t>
            </a:r>
            <a:endParaRPr/>
          </a:p>
        </p:txBody>
      </p:sp>
      <p:sp>
        <p:nvSpPr>
          <p:cNvPr id="377" name="Google Shape;377;g3c0c338455d_21_151"/>
          <p:cNvSpPr txBox="1"/>
          <p:nvPr/>
        </p:nvSpPr>
        <p:spPr>
          <a:xfrm>
            <a:off x="438150" y="1038004"/>
            <a:ext cx="45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파싱 파이프라인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78" name="Google Shape;378;g3c0c338455d_21_151"/>
          <p:cNvSpPr txBox="1"/>
          <p:nvPr/>
        </p:nvSpPr>
        <p:spPr>
          <a:xfrm>
            <a:off x="438150" y="1348731"/>
            <a:ext cx="45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"사내 규정 PDF 업로드 → 자동 분석"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79" name="Google Shape;379;g3c0c338455d_21_151"/>
          <p:cNvSpPr/>
          <p:nvPr/>
        </p:nvSpPr>
        <p:spPr>
          <a:xfrm>
            <a:off x="493500" y="1742273"/>
            <a:ext cx="4221000" cy="10221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55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0" name="Google Shape;380;g3c0c338455d_21_151"/>
          <p:cNvSpPr/>
          <p:nvPr/>
        </p:nvSpPr>
        <p:spPr>
          <a:xfrm>
            <a:off x="604576" y="1831134"/>
            <a:ext cx="310800" cy="31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1" name="Google Shape;381;g3c0c338455d_21_151"/>
          <p:cNvSpPr txBox="1"/>
          <p:nvPr/>
        </p:nvSpPr>
        <p:spPr>
          <a:xfrm>
            <a:off x="993342" y="1808918"/>
            <a:ext cx="3554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99" u="none" cap="none" strike="noStrike">
                <a:solidFill>
                  <a:srgbClr val="4285F4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PDF / DOCX / TXT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2" name="Google Shape;382;g3c0c338455d_21_151"/>
          <p:cNvSpPr txBox="1"/>
          <p:nvPr/>
        </p:nvSpPr>
        <p:spPr>
          <a:xfrm>
            <a:off x="993342" y="2018211"/>
            <a:ext cx="355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3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업로드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3" name="Google Shape;383;g3c0c338455d_21_151"/>
          <p:cNvSpPr txBox="1"/>
          <p:nvPr/>
        </p:nvSpPr>
        <p:spPr>
          <a:xfrm>
            <a:off x="993342" y="2295901"/>
            <a:ext cx="35544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사용자 문서 파일 업로드</a:t>
            </a:r>
            <a:b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지원: UTF-8, CP949 자동 감지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4" name="Google Shape;384;g3c0c338455d_21_151"/>
          <p:cNvSpPr txBox="1"/>
          <p:nvPr/>
        </p:nvSpPr>
        <p:spPr>
          <a:xfrm>
            <a:off x="782400" y="2768935"/>
            <a:ext cx="3643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25" lIns="87650" spcFirstLastPara="1" rIns="87650" wrap="square" tIns="43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42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4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5" name="Google Shape;385;g3c0c338455d_21_151"/>
          <p:cNvSpPr/>
          <p:nvPr/>
        </p:nvSpPr>
        <p:spPr>
          <a:xfrm>
            <a:off x="493500" y="3001372"/>
            <a:ext cx="4221000" cy="10221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55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6" name="Google Shape;386;g3c0c338455d_21_151"/>
          <p:cNvSpPr/>
          <p:nvPr/>
        </p:nvSpPr>
        <p:spPr>
          <a:xfrm>
            <a:off x="604576" y="3090233"/>
            <a:ext cx="310800" cy="310800"/>
          </a:xfrm>
          <a:prstGeom prst="ellipse">
            <a:avLst/>
          </a:prstGeom>
          <a:solidFill>
            <a:srgbClr val="00796B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7" name="Google Shape;387;g3c0c338455d_21_151"/>
          <p:cNvSpPr txBox="1"/>
          <p:nvPr/>
        </p:nvSpPr>
        <p:spPr>
          <a:xfrm>
            <a:off x="993342" y="3068018"/>
            <a:ext cx="3554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99" u="none" cap="none" strike="noStrike">
                <a:solidFill>
                  <a:srgbClr val="0F9D5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Docling + PyMuPDF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8" name="Google Shape;388;g3c0c338455d_21_151"/>
          <p:cNvSpPr txBox="1"/>
          <p:nvPr/>
        </p:nvSpPr>
        <p:spPr>
          <a:xfrm>
            <a:off x="993342" y="3277311"/>
            <a:ext cx="355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3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구조 파싱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89" name="Google Shape;389;g3c0c338455d_21_151"/>
          <p:cNvSpPr txBox="1"/>
          <p:nvPr/>
        </p:nvSpPr>
        <p:spPr>
          <a:xfrm>
            <a:off x="993342" y="3555001"/>
            <a:ext cx="35544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OCR · 테이블 · 헤더 구조 인식</a:t>
            </a:r>
            <a:b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Markdown 변환 후 구조화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0" name="Google Shape;390;g3c0c338455d_21_151"/>
          <p:cNvSpPr txBox="1"/>
          <p:nvPr/>
        </p:nvSpPr>
        <p:spPr>
          <a:xfrm>
            <a:off x="782400" y="4037243"/>
            <a:ext cx="3643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25" lIns="87650" spcFirstLastPara="1" rIns="87650" wrap="square" tIns="43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42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4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1" name="Google Shape;391;g3c0c338455d_21_151"/>
          <p:cNvSpPr/>
          <p:nvPr/>
        </p:nvSpPr>
        <p:spPr>
          <a:xfrm>
            <a:off x="493500" y="4306654"/>
            <a:ext cx="4221000" cy="10221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55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2" name="Google Shape;392;g3c0c338455d_21_151"/>
          <p:cNvSpPr/>
          <p:nvPr/>
        </p:nvSpPr>
        <p:spPr>
          <a:xfrm>
            <a:off x="604576" y="4395515"/>
            <a:ext cx="310800" cy="310800"/>
          </a:xfrm>
          <a:prstGeom prst="ellipse">
            <a:avLst/>
          </a:prstGeom>
          <a:solidFill>
            <a:srgbClr val="DD7E6B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3" name="Google Shape;393;g3c0c338455d_21_151"/>
          <p:cNvSpPr txBox="1"/>
          <p:nvPr/>
        </p:nvSpPr>
        <p:spPr>
          <a:xfrm>
            <a:off x="993342" y="4373300"/>
            <a:ext cx="3554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99" u="none" cap="none" strike="noStrike">
                <a:solidFill>
                  <a:srgbClr val="00796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장/조 분할기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4" name="Google Shape;394;g3c0c338455d_21_151"/>
          <p:cNvSpPr txBox="1"/>
          <p:nvPr/>
        </p:nvSpPr>
        <p:spPr>
          <a:xfrm>
            <a:off x="993342" y="4582593"/>
            <a:ext cx="355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3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 분할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5" name="Google Shape;395;g3c0c338455d_21_151"/>
          <p:cNvSpPr txBox="1"/>
          <p:nvPr/>
        </p:nvSpPr>
        <p:spPr>
          <a:xfrm>
            <a:off x="993342" y="4860283"/>
            <a:ext cx="35544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제N장 · 제N조 패턴 감지</a:t>
            </a:r>
            <a:b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400자 초과 시 불릿 단위 분할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6" name="Google Shape;396;g3c0c338455d_21_151"/>
          <p:cNvSpPr txBox="1"/>
          <p:nvPr/>
        </p:nvSpPr>
        <p:spPr>
          <a:xfrm>
            <a:off x="782400" y="5346026"/>
            <a:ext cx="3643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3825" lIns="87650" spcFirstLastPara="1" rIns="87650" wrap="square" tIns="438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42" u="none" cap="none" strike="noStrike">
                <a:solidFill>
                  <a:srgbClr val="99999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▼</a:t>
            </a:r>
            <a:endParaRPr sz="134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7" name="Google Shape;397;g3c0c338455d_21_151"/>
          <p:cNvSpPr/>
          <p:nvPr/>
        </p:nvSpPr>
        <p:spPr>
          <a:xfrm>
            <a:off x="493500" y="5635027"/>
            <a:ext cx="4221000" cy="10221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55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8" name="Google Shape;398;g3c0c338455d_21_151"/>
          <p:cNvSpPr/>
          <p:nvPr/>
        </p:nvSpPr>
        <p:spPr>
          <a:xfrm>
            <a:off x="604576" y="5723887"/>
            <a:ext cx="310800" cy="310800"/>
          </a:xfrm>
          <a:prstGeom prst="ellipse">
            <a:avLst/>
          </a:prstGeom>
          <a:solidFill>
            <a:srgbClr val="A64D79"/>
          </a:solidFill>
          <a:ln>
            <a:noFill/>
          </a:ln>
          <a:effectLst>
            <a:outerShdw blurRad="44430" rotWithShape="0" dir="5400000" dist="25547">
              <a:srgbClr val="000000">
                <a:alpha val="34900"/>
              </a:srgbClr>
            </a:outerShdw>
          </a:effectLst>
        </p:spPr>
        <p:txBody>
          <a:bodyPr anchorCtr="0" anchor="ctr" bIns="50750" lIns="101550" spcFirstLastPara="1" rIns="101550" wrap="square" tIns="50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9" name="Google Shape;399;g3c0c338455d_21_151"/>
          <p:cNvSpPr txBox="1"/>
          <p:nvPr/>
        </p:nvSpPr>
        <p:spPr>
          <a:xfrm>
            <a:off x="993342" y="5701672"/>
            <a:ext cx="3554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99" u="none" cap="none" strike="noStrike">
                <a:solidFill>
                  <a:srgbClr val="DB4437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Qdrant + BM25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0" name="Google Shape;400;g3c0c338455d_21_151"/>
          <p:cNvSpPr txBox="1"/>
          <p:nvPr/>
        </p:nvSpPr>
        <p:spPr>
          <a:xfrm>
            <a:off x="993342" y="5910965"/>
            <a:ext cx="355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32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 색인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1" name="Google Shape;401;g3c0c338455d_21_151"/>
          <p:cNvSpPr txBox="1"/>
          <p:nvPr/>
        </p:nvSpPr>
        <p:spPr>
          <a:xfrm>
            <a:off x="993342" y="6188655"/>
            <a:ext cx="35544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101550" spcFirstLastPara="1" rIns="101550" wrap="square" tIns="507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ko-sbert-nli 768d 임베딩</a:t>
            </a:r>
            <a:b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88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BM25 역색인 동시 구축</a:t>
            </a:r>
            <a:endParaRPr sz="1555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2" name="Google Shape;402;g3c0c338455d_21_151"/>
          <p:cNvSpPr txBox="1"/>
          <p:nvPr/>
        </p:nvSpPr>
        <p:spPr>
          <a:xfrm>
            <a:off x="4841509" y="1547372"/>
            <a:ext cx="32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Document Agent 4 Intent 처리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3" name="Google Shape;403;g3c0c338455d_21_151"/>
          <p:cNvSpPr/>
          <p:nvPr/>
        </p:nvSpPr>
        <p:spPr>
          <a:xfrm>
            <a:off x="4884975" y="2096300"/>
            <a:ext cx="3441600" cy="18444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6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4" name="Google Shape;404;g3c0c338455d_21_151"/>
          <p:cNvSpPr/>
          <p:nvPr/>
        </p:nvSpPr>
        <p:spPr>
          <a:xfrm>
            <a:off x="4989269" y="2200591"/>
            <a:ext cx="1460100" cy="291900"/>
          </a:xfrm>
          <a:prstGeom prst="roundRect">
            <a:avLst>
              <a:gd fmla="val 5000" name="adj"/>
            </a:avLst>
          </a:prstGeom>
          <a:solidFill>
            <a:srgbClr val="6FA8DC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7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doc_search</a:t>
            </a:r>
            <a:endParaRPr sz="146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5" name="Google Shape;405;g3c0c338455d_21_151"/>
          <p:cNvSpPr txBox="1"/>
          <p:nvPr/>
        </p:nvSpPr>
        <p:spPr>
          <a:xfrm>
            <a:off x="6553681" y="2211020"/>
            <a:ext cx="166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검색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6" name="Google Shape;406;g3c0c338455d_21_151"/>
          <p:cNvSpPr txBox="1"/>
          <p:nvPr/>
        </p:nvSpPr>
        <p:spPr>
          <a:xfrm>
            <a:off x="4924867" y="2599572"/>
            <a:ext cx="3441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Query → Hybrid Search → RRF 랭킹 → LLM 답변</a:t>
            </a:r>
            <a:endParaRPr sz="16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7" name="Google Shape;407;g3c0c338455d_21_151"/>
          <p:cNvSpPr txBox="1"/>
          <p:nvPr/>
        </p:nvSpPr>
        <p:spPr>
          <a:xfrm>
            <a:off x="4989269" y="2933998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8" name="Google Shape;408;g3c0c338455d_21_151"/>
          <p:cNvSpPr txBox="1"/>
          <p:nvPr/>
        </p:nvSpPr>
        <p:spPr>
          <a:xfrm>
            <a:off x="5176999" y="2933998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kiwipiepy 형태소 분석 + 동의어 확장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09" name="Google Shape;409;g3c0c338455d_21_151"/>
          <p:cNvSpPr txBox="1"/>
          <p:nvPr/>
        </p:nvSpPr>
        <p:spPr>
          <a:xfrm>
            <a:off x="4989269" y="3237567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0" name="Google Shape;410;g3c0c338455d_21_151"/>
          <p:cNvSpPr txBox="1"/>
          <p:nvPr/>
        </p:nvSpPr>
        <p:spPr>
          <a:xfrm>
            <a:off x="5177000" y="3226013"/>
            <a:ext cx="3233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BM25(Top15) + Qdrant(Top15) → RRF(k=60)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1" name="Google Shape;411;g3c0c338455d_21_151"/>
          <p:cNvSpPr txBox="1"/>
          <p:nvPr/>
        </p:nvSpPr>
        <p:spPr>
          <a:xfrm>
            <a:off x="4989269" y="3541136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2" name="Google Shape;412;g3c0c338455d_21_151"/>
          <p:cNvSpPr txBox="1"/>
          <p:nvPr/>
        </p:nvSpPr>
        <p:spPr>
          <a:xfrm>
            <a:off x="5176999" y="3518045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source diversity 필터 → 출처 포함 답변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3" name="Google Shape;413;g3c0c338455d_21_151"/>
          <p:cNvSpPr/>
          <p:nvPr/>
        </p:nvSpPr>
        <p:spPr>
          <a:xfrm>
            <a:off x="8535275" y="2096300"/>
            <a:ext cx="3441600" cy="18444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6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4" name="Google Shape;414;g3c0c338455d_21_151"/>
          <p:cNvSpPr/>
          <p:nvPr/>
        </p:nvSpPr>
        <p:spPr>
          <a:xfrm>
            <a:off x="8639563" y="2200591"/>
            <a:ext cx="1460100" cy="291900"/>
          </a:xfrm>
          <a:prstGeom prst="roundRect">
            <a:avLst>
              <a:gd fmla="val 5000" name="adj"/>
            </a:avLst>
          </a:prstGeom>
          <a:solidFill>
            <a:srgbClr val="00796B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7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doc_generate</a:t>
            </a:r>
            <a:endParaRPr sz="146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5" name="Google Shape;415;g3c0c338455d_21_151"/>
          <p:cNvSpPr txBox="1"/>
          <p:nvPr/>
        </p:nvSpPr>
        <p:spPr>
          <a:xfrm>
            <a:off x="10203975" y="2211020"/>
            <a:ext cx="166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생성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6" name="Google Shape;416;g3c0c338455d_21_151"/>
          <p:cNvSpPr txBox="1"/>
          <p:nvPr/>
        </p:nvSpPr>
        <p:spPr>
          <a:xfrm>
            <a:off x="8639563" y="2565620"/>
            <a:ext cx="32331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템플릿 판별 → LLM JSON → DOCX 렌더링</a:t>
            </a:r>
            <a:endParaRPr sz="16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7" name="Google Shape;417;g3c0c338455d_21_151"/>
          <p:cNvSpPr txBox="1"/>
          <p:nvPr/>
        </p:nvSpPr>
        <p:spPr>
          <a:xfrm>
            <a:off x="8639563" y="2933998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8" name="Google Shape;418;g3c0c338455d_21_151"/>
          <p:cNvSpPr txBox="1"/>
          <p:nvPr/>
        </p:nvSpPr>
        <p:spPr>
          <a:xfrm>
            <a:off x="8827293" y="2933998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회의록 / 보고서 / 제안서 3종 템플릿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19" name="Google Shape;419;g3c0c338455d_21_151"/>
          <p:cNvSpPr txBox="1"/>
          <p:nvPr/>
        </p:nvSpPr>
        <p:spPr>
          <a:xfrm>
            <a:off x="8639563" y="3237567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0" name="Google Shape;420;g3c0c338455d_21_151"/>
          <p:cNvSpPr txBox="1"/>
          <p:nvPr/>
        </p:nvSpPr>
        <p:spPr>
          <a:xfrm>
            <a:off x="8827293" y="3226021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Solar json_mode → 필드 자동 정규화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1" name="Google Shape;421;g3c0c338455d_21_151"/>
          <p:cNvSpPr txBox="1"/>
          <p:nvPr/>
        </p:nvSpPr>
        <p:spPr>
          <a:xfrm>
            <a:off x="8639563" y="3541136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2" name="Google Shape;422;g3c0c338455d_21_151"/>
          <p:cNvSpPr txBox="1"/>
          <p:nvPr/>
        </p:nvSpPr>
        <p:spPr>
          <a:xfrm>
            <a:off x="8827293" y="3518045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python-docx 렌더링 → UUID 다운로드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3" name="Google Shape;423;g3c0c338455d_21_151"/>
          <p:cNvSpPr/>
          <p:nvPr/>
        </p:nvSpPr>
        <p:spPr>
          <a:xfrm>
            <a:off x="4884975" y="4114833"/>
            <a:ext cx="3441600" cy="18444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6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4" name="Google Shape;424;g3c0c338455d_21_151"/>
          <p:cNvSpPr/>
          <p:nvPr/>
        </p:nvSpPr>
        <p:spPr>
          <a:xfrm>
            <a:off x="4989269" y="4219125"/>
            <a:ext cx="1460100" cy="291900"/>
          </a:xfrm>
          <a:prstGeom prst="roundRect">
            <a:avLst>
              <a:gd fmla="val 5000" name="adj"/>
            </a:avLst>
          </a:prstGeom>
          <a:solidFill>
            <a:srgbClr val="DD7E6B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51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doc_summary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5" name="Google Shape;425;g3c0c338455d_21_151"/>
          <p:cNvSpPr txBox="1"/>
          <p:nvPr/>
        </p:nvSpPr>
        <p:spPr>
          <a:xfrm>
            <a:off x="6553681" y="4229555"/>
            <a:ext cx="166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요약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6" name="Google Shape;426;g3c0c338455d_21_151"/>
          <p:cNvSpPr txBox="1"/>
          <p:nvPr/>
        </p:nvSpPr>
        <p:spPr>
          <a:xfrm>
            <a:off x="4989269" y="4584155"/>
            <a:ext cx="32331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doc_pick 선택 → 8K 분할 → LLM 요약 → SSE</a:t>
            </a:r>
            <a:endParaRPr sz="16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7" name="Google Shape;427;g3c0c338455d_21_151"/>
          <p:cNvSpPr txBox="1"/>
          <p:nvPr/>
        </p:nvSpPr>
        <p:spPr>
          <a:xfrm>
            <a:off x="4989269" y="4952532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8" name="Google Shape;428;g3c0c338455d_21_151"/>
          <p:cNvSpPr txBox="1"/>
          <p:nvPr/>
        </p:nvSpPr>
        <p:spPr>
          <a:xfrm>
            <a:off x="5176999" y="4952532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Qdrant 필터링 → 사용자 문서 목록 조회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9" name="Google Shape;429;g3c0c338455d_21_151"/>
          <p:cNvSpPr txBox="1"/>
          <p:nvPr/>
        </p:nvSpPr>
        <p:spPr>
          <a:xfrm>
            <a:off x="4989269" y="5267647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0" name="Google Shape;430;g3c0c338455d_21_151"/>
          <p:cNvSpPr txBox="1"/>
          <p:nvPr/>
        </p:nvSpPr>
        <p:spPr>
          <a:xfrm>
            <a:off x="5176999" y="5244556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8,000자 분할 → 핵심문장 + 키워드 추출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1" name="Google Shape;431;g3c0c338455d_21_151"/>
          <p:cNvSpPr txBox="1"/>
          <p:nvPr/>
        </p:nvSpPr>
        <p:spPr>
          <a:xfrm>
            <a:off x="4989269" y="5559670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2" name="Google Shape;432;g3c0c338455d_21_151"/>
          <p:cNvSpPr txBox="1"/>
          <p:nvPr/>
        </p:nvSpPr>
        <p:spPr>
          <a:xfrm>
            <a:off x="5176999" y="5536579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SSE stream_pending 실시간 토큰 전송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3" name="Google Shape;433;g3c0c338455d_21_151"/>
          <p:cNvSpPr/>
          <p:nvPr/>
        </p:nvSpPr>
        <p:spPr>
          <a:xfrm>
            <a:off x="8535275" y="4114833"/>
            <a:ext cx="3441600" cy="1844400"/>
          </a:xfrm>
          <a:prstGeom prst="roundRect">
            <a:avLst>
              <a:gd fmla="val 2000" name="adj"/>
            </a:avLst>
          </a:prstGeom>
          <a:solidFill>
            <a:srgbClr val="F8F9FA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6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4" name="Google Shape;434;g3c0c338455d_21_151"/>
          <p:cNvSpPr/>
          <p:nvPr/>
        </p:nvSpPr>
        <p:spPr>
          <a:xfrm>
            <a:off x="8639563" y="4219125"/>
            <a:ext cx="1460100" cy="291900"/>
          </a:xfrm>
          <a:prstGeom prst="roundRect">
            <a:avLst>
              <a:gd fmla="val 5000" name="adj"/>
            </a:avLst>
          </a:prstGeom>
          <a:solidFill>
            <a:srgbClr val="A64D79"/>
          </a:solidFill>
          <a:ln>
            <a:noFill/>
          </a:ln>
          <a:effectLst>
            <a:outerShdw blurRad="41718" rotWithShape="0" dir="5400000" dist="23988">
              <a:srgbClr val="000000">
                <a:alpha val="34900"/>
              </a:srgbClr>
            </a:outerShdw>
          </a:effectLst>
        </p:spPr>
        <p:txBody>
          <a:bodyPr anchorCtr="0" anchor="ctr" bIns="47650" lIns="95350" spcFirstLastPara="1" rIns="95350" wrap="square" tIns="47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51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doc_qa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5" name="Google Shape;435;g3c0c338455d_21_151"/>
          <p:cNvSpPr txBox="1"/>
          <p:nvPr/>
        </p:nvSpPr>
        <p:spPr>
          <a:xfrm>
            <a:off x="10203975" y="4229555"/>
            <a:ext cx="166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5" u="none" cap="none" strike="noStrike">
                <a:solidFill>
                  <a:srgbClr val="1F2A4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Q&amp;A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6" name="Google Shape;436;g3c0c338455d_21_151"/>
          <p:cNvSpPr txBox="1"/>
          <p:nvPr/>
        </p:nvSpPr>
        <p:spPr>
          <a:xfrm>
            <a:off x="8639563" y="4584155"/>
            <a:ext cx="32331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Hybrid RAG → LLM JSON → citations 첨부</a:t>
            </a:r>
            <a:endParaRPr sz="16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7" name="Google Shape;437;g3c0c338455d_21_151"/>
          <p:cNvSpPr txBox="1"/>
          <p:nvPr/>
        </p:nvSpPr>
        <p:spPr>
          <a:xfrm>
            <a:off x="8639563" y="4952532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8" name="Google Shape;438;g3c0c338455d_21_151"/>
          <p:cNvSpPr txBox="1"/>
          <p:nvPr/>
        </p:nvSpPr>
        <p:spPr>
          <a:xfrm>
            <a:off x="8827293" y="4952532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문서 scope 필터링 → Top-5 컨텍스트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9" name="Google Shape;439;g3c0c338455d_21_151"/>
          <p:cNvSpPr txBox="1"/>
          <p:nvPr/>
        </p:nvSpPr>
        <p:spPr>
          <a:xfrm>
            <a:off x="8639563" y="5267647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0" name="Google Shape;440;g3c0c338455d_21_151"/>
          <p:cNvSpPr txBox="1"/>
          <p:nvPr/>
        </p:nvSpPr>
        <p:spPr>
          <a:xfrm>
            <a:off x="8827293" y="5244556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answer + citations + confidence 점수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1" name="Google Shape;441;g3c0c338455d_21_151"/>
          <p:cNvSpPr txBox="1"/>
          <p:nvPr/>
        </p:nvSpPr>
        <p:spPr>
          <a:xfrm>
            <a:off x="8639563" y="5559670"/>
            <a:ext cx="208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42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•</a:t>
            </a:r>
            <a:endParaRPr sz="15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2" name="Google Shape;442;g3c0c338455d_21_151"/>
          <p:cNvSpPr txBox="1"/>
          <p:nvPr/>
        </p:nvSpPr>
        <p:spPr>
          <a:xfrm>
            <a:off x="8827293" y="5536579"/>
            <a:ext cx="30453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50" lIns="95350" spcFirstLastPara="1" rIns="95350" wrap="square" tIns="47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3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근거 인용문 + 관련도 태깅 (높음/중간/낮음)</a:t>
            </a:r>
            <a:endParaRPr sz="1764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3" name="Google Shape;443;g3c0c338455d_21_151"/>
          <p:cNvSpPr txBox="1"/>
          <p:nvPr/>
        </p:nvSpPr>
        <p:spPr>
          <a:xfrm>
            <a:off x="2276467" y="463640"/>
            <a:ext cx="422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Document</a:t>
            </a:r>
            <a:endParaRPr b="0" i="0" sz="7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4" name="Google Shape;444;g3c0c338455d_21_151"/>
          <p:cNvSpPr txBox="1"/>
          <p:nvPr/>
        </p:nvSpPr>
        <p:spPr>
          <a:xfrm>
            <a:off x="824350" y="4098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문서 관리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445" name="Google Shape;445;g3c0c338455d_21_151"/>
          <p:cNvSpPr txBox="1"/>
          <p:nvPr/>
        </p:nvSpPr>
        <p:spPr>
          <a:xfrm flipH="1">
            <a:off x="329475" y="1881760"/>
            <a:ext cx="8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6" name="Google Shape;446;g3c0c338455d_21_151"/>
          <p:cNvSpPr txBox="1"/>
          <p:nvPr/>
        </p:nvSpPr>
        <p:spPr>
          <a:xfrm flipH="1">
            <a:off x="329475" y="3123114"/>
            <a:ext cx="8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7" name="Google Shape;447;g3c0c338455d_21_151"/>
          <p:cNvSpPr txBox="1"/>
          <p:nvPr/>
        </p:nvSpPr>
        <p:spPr>
          <a:xfrm flipH="1">
            <a:off x="329475" y="4428405"/>
            <a:ext cx="8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8" name="Google Shape;448;g3c0c338455d_21_151"/>
          <p:cNvSpPr txBox="1"/>
          <p:nvPr/>
        </p:nvSpPr>
        <p:spPr>
          <a:xfrm flipH="1">
            <a:off x="329475" y="5755470"/>
            <a:ext cx="861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g3c0c338455d_3_219" title="답변-removebg-preview (5).png"/>
          <p:cNvPicPr preferRelativeResize="0"/>
          <p:nvPr/>
        </p:nvPicPr>
        <p:blipFill rotWithShape="1">
          <a:blip r:embed="rId3">
            <a:alphaModFix/>
          </a:blip>
          <a:srcRect b="41469" l="0" r="0" t="0"/>
          <a:stretch/>
        </p:blipFill>
        <p:spPr>
          <a:xfrm>
            <a:off x="404454" y="2942458"/>
            <a:ext cx="2271744" cy="601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c0c338455d_3_219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c0c338455d_3_219"/>
          <p:cNvSpPr/>
          <p:nvPr/>
        </p:nvSpPr>
        <p:spPr>
          <a:xfrm>
            <a:off x="468500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c0c338455d_3_219"/>
          <p:cNvSpPr/>
          <p:nvPr/>
        </p:nvSpPr>
        <p:spPr>
          <a:xfrm>
            <a:off x="667462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572"/>
          </a:p>
        </p:txBody>
      </p:sp>
      <p:sp>
        <p:nvSpPr>
          <p:cNvPr id="457" name="Google Shape;457;g3c0c338455d_3_219"/>
          <p:cNvSpPr txBox="1"/>
          <p:nvPr/>
        </p:nvSpPr>
        <p:spPr>
          <a:xfrm>
            <a:off x="550650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4285F4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Schedule Agent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58" name="Google Shape;458;g3c0c338455d_3_219"/>
          <p:cNvSpPr txBox="1"/>
          <p:nvPr/>
        </p:nvSpPr>
        <p:spPr>
          <a:xfrm>
            <a:off x="550650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자연어 파싱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g3c0c338455d_3_219"/>
          <p:cNvSpPr txBox="1"/>
          <p:nvPr/>
        </p:nvSpPr>
        <p:spPr>
          <a:xfrm>
            <a:off x="527559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날짜/시간/참석자 추출</a:t>
            </a:r>
            <a:endParaRPr i="0" sz="1098" u="none" cap="none" strike="noStrike">
              <a:solidFill>
                <a:srgbClr val="445566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8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Spacy 라이브러리 활용</a:t>
            </a:r>
            <a:endParaRPr sz="1098">
              <a:solidFill>
                <a:srgbClr val="445566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0" name="Google Shape;460;g3c0c338455d_3_219"/>
          <p:cNvSpPr txBox="1"/>
          <p:nvPr/>
        </p:nvSpPr>
        <p:spPr>
          <a:xfrm>
            <a:off x="2493042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461" name="Google Shape;461;g3c0c338455d_3_219"/>
          <p:cNvSpPr/>
          <p:nvPr/>
        </p:nvSpPr>
        <p:spPr>
          <a:xfrm>
            <a:off x="283062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c0c338455d_3_219"/>
          <p:cNvSpPr/>
          <p:nvPr/>
        </p:nvSpPr>
        <p:spPr>
          <a:xfrm>
            <a:off x="3029585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572"/>
          </a:p>
        </p:txBody>
      </p:sp>
      <p:sp>
        <p:nvSpPr>
          <p:cNvPr id="463" name="Google Shape;463;g3c0c338455d_3_219"/>
          <p:cNvSpPr txBox="1"/>
          <p:nvPr/>
        </p:nvSpPr>
        <p:spPr>
          <a:xfrm>
            <a:off x="2912774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741B47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Calendar</a:t>
            </a:r>
            <a:endParaRPr sz="1772">
              <a:solidFill>
                <a:srgbClr val="741B47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4" name="Google Shape;464;g3c0c338455d_3_219"/>
          <p:cNvSpPr txBox="1"/>
          <p:nvPr/>
        </p:nvSpPr>
        <p:spPr>
          <a:xfrm>
            <a:off x="2901229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Calendar 등록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g3c0c338455d_3_219"/>
          <p:cNvSpPr txBox="1"/>
          <p:nvPr/>
        </p:nvSpPr>
        <p:spPr>
          <a:xfrm>
            <a:off x="2889683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일정 자동 생성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recurrence 지원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6" name="Google Shape;466;g3c0c338455d_3_219"/>
          <p:cNvSpPr txBox="1"/>
          <p:nvPr/>
        </p:nvSpPr>
        <p:spPr>
          <a:xfrm>
            <a:off x="4855166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467" name="Google Shape;467;g3c0c338455d_3_219"/>
          <p:cNvSpPr/>
          <p:nvPr/>
        </p:nvSpPr>
        <p:spPr>
          <a:xfrm>
            <a:off x="519272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c0c338455d_3_219"/>
          <p:cNvSpPr/>
          <p:nvPr/>
        </p:nvSpPr>
        <p:spPr>
          <a:xfrm>
            <a:off x="5391708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00796B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572"/>
          </a:p>
        </p:txBody>
      </p:sp>
      <p:sp>
        <p:nvSpPr>
          <p:cNvPr id="469" name="Google Shape;469;g3c0c338455d_3_219"/>
          <p:cNvSpPr txBox="1"/>
          <p:nvPr/>
        </p:nvSpPr>
        <p:spPr>
          <a:xfrm>
            <a:off x="5274897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00796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Meet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0" name="Google Shape;470;g3c0c338455d_3_219"/>
          <p:cNvSpPr txBox="1"/>
          <p:nvPr/>
        </p:nvSpPr>
        <p:spPr>
          <a:xfrm>
            <a:off x="5263351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Meet 링크 생성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g3c0c338455d_3_219"/>
          <p:cNvSpPr txBox="1"/>
          <p:nvPr/>
        </p:nvSpPr>
        <p:spPr>
          <a:xfrm>
            <a:off x="5251806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화상회의 URL </a:t>
            </a: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자동</a:t>
            </a: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생성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Calendar 이벤트에 첨부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2" name="Google Shape;472;g3c0c338455d_3_219"/>
          <p:cNvSpPr txBox="1"/>
          <p:nvPr/>
        </p:nvSpPr>
        <p:spPr>
          <a:xfrm>
            <a:off x="7217289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473" name="Google Shape;473;g3c0c338455d_3_219"/>
          <p:cNvSpPr/>
          <p:nvPr/>
        </p:nvSpPr>
        <p:spPr>
          <a:xfrm>
            <a:off x="7554850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c0c338455d_3_219"/>
          <p:cNvSpPr/>
          <p:nvPr/>
        </p:nvSpPr>
        <p:spPr>
          <a:xfrm>
            <a:off x="7753832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DB4437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572"/>
          </a:p>
        </p:txBody>
      </p:sp>
      <p:sp>
        <p:nvSpPr>
          <p:cNvPr id="475" name="Google Shape;475;g3c0c338455d_3_219"/>
          <p:cNvSpPr txBox="1"/>
          <p:nvPr/>
        </p:nvSpPr>
        <p:spPr>
          <a:xfrm>
            <a:off x="7637020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DB4437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Gmail API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6" name="Google Shape;476;g3c0c338455d_3_219"/>
          <p:cNvSpPr txBox="1"/>
          <p:nvPr/>
        </p:nvSpPr>
        <p:spPr>
          <a:xfrm>
            <a:off x="7625475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초대 메일 발송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g3c0c338455d_3_219"/>
          <p:cNvSpPr txBox="1"/>
          <p:nvPr/>
        </p:nvSpPr>
        <p:spPr>
          <a:xfrm>
            <a:off x="7613935" y="4087500"/>
            <a:ext cx="2054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참석자에게 자동 발송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 정보 + Meet 링크 포함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78" name="Google Shape;478;g3c0c338455d_3_219"/>
          <p:cNvSpPr txBox="1"/>
          <p:nvPr/>
        </p:nvSpPr>
        <p:spPr>
          <a:xfrm>
            <a:off x="9579414" y="3635682"/>
            <a:ext cx="256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sz="1572"/>
          </a:p>
        </p:txBody>
      </p:sp>
      <p:sp>
        <p:nvSpPr>
          <p:cNvPr id="479" name="Google Shape;479;g3c0c338455d_3_219"/>
          <p:cNvSpPr/>
          <p:nvPr/>
        </p:nvSpPr>
        <p:spPr>
          <a:xfrm>
            <a:off x="9916975" y="2879725"/>
            <a:ext cx="2054100" cy="1930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14275">
            <a:solidFill>
              <a:srgbClr val="7188AA"/>
            </a:solidFill>
            <a:prstDash val="solid"/>
            <a:round/>
            <a:headEnd len="sm" w="sm" type="none"/>
            <a:tailEnd len="sm" w="sm" type="none"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c0c338455d_3_219"/>
          <p:cNvSpPr/>
          <p:nvPr/>
        </p:nvSpPr>
        <p:spPr>
          <a:xfrm>
            <a:off x="10091509" y="2996522"/>
            <a:ext cx="359400" cy="256800"/>
          </a:xfrm>
          <a:prstGeom prst="roundRect">
            <a:avLst>
              <a:gd fmla="val 16667" name="adj"/>
            </a:avLst>
          </a:prstGeom>
          <a:solidFill>
            <a:srgbClr val="7188AA"/>
          </a:solidFill>
          <a:ln>
            <a:noFill/>
          </a:ln>
          <a:effectLst>
            <a:outerShdw blurRad="44926" rotWithShape="0" dir="5400000" dist="25832">
              <a:srgbClr val="000000">
                <a:alpha val="34900"/>
              </a:srgbClr>
            </a:outerShdw>
          </a:effectLst>
        </p:spPr>
        <p:txBody>
          <a:bodyPr anchorCtr="0" anchor="ctr" bIns="51325" lIns="102675" spcFirstLastPara="1" rIns="102675" wrap="square" tIns="51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572"/>
          </a:p>
        </p:txBody>
      </p:sp>
      <p:sp>
        <p:nvSpPr>
          <p:cNvPr id="481" name="Google Shape;481;g3c0c338455d_3_219"/>
          <p:cNvSpPr txBox="1"/>
          <p:nvPr/>
        </p:nvSpPr>
        <p:spPr>
          <a:xfrm>
            <a:off x="9999145" y="3304624"/>
            <a:ext cx="18897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10" u="none" cap="none" strike="noStrike">
                <a:solidFill>
                  <a:srgbClr val="7188A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Tasks</a:t>
            </a:r>
            <a:endParaRPr sz="1772">
              <a:solidFill>
                <a:srgbClr val="7188A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2" name="Google Shape;482;g3c0c338455d_3_219"/>
          <p:cNvSpPr txBox="1"/>
          <p:nvPr/>
        </p:nvSpPr>
        <p:spPr>
          <a:xfrm>
            <a:off x="9999145" y="3625480"/>
            <a:ext cx="1889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7" u="none" cap="none" strike="noStrike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할 일 등록</a:t>
            </a:r>
            <a:endParaRPr b="1" sz="1772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g3c0c338455d_3_219"/>
          <p:cNvSpPr txBox="1"/>
          <p:nvPr/>
        </p:nvSpPr>
        <p:spPr>
          <a:xfrm>
            <a:off x="9976054" y="4087499"/>
            <a:ext cx="18897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325" lIns="102675" spcFirstLastPara="1" rIns="102675" wrap="square" tIns="513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회의 관련 액션 아이템</a:t>
            </a:r>
            <a:b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98" u="none" cap="none" strike="noStrike">
                <a:solidFill>
                  <a:srgbClr val="4455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Tasks에 자동 등록</a:t>
            </a:r>
            <a:endParaRPr sz="1772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84" name="Google Shape;484;g3c0c338455d_3_219"/>
          <p:cNvSpPr txBox="1"/>
          <p:nvPr/>
        </p:nvSpPr>
        <p:spPr>
          <a:xfrm>
            <a:off x="1099065" y="5570739"/>
            <a:ext cx="10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한 마디 입력 -&gt; 5개 </a:t>
            </a:r>
            <a:r>
              <a:rPr b="1" i="0" lang="en-US" u="none" cap="none" strike="noStrike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Google 서비스</a:t>
            </a:r>
            <a:r>
              <a:rPr b="1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자동 연쇄 처리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g3c0c338455d_3_219"/>
          <p:cNvSpPr txBox="1"/>
          <p:nvPr/>
        </p:nvSpPr>
        <p:spPr>
          <a:xfrm>
            <a:off x="834475" y="409800"/>
            <a:ext cx="625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A40"/>
                </a:solidFill>
                <a:latin typeface="Roboto"/>
                <a:ea typeface="Roboto"/>
                <a:cs typeface="Roboto"/>
                <a:sym typeface="Roboto"/>
              </a:rPr>
              <a:t>Schedule Agent</a:t>
            </a:r>
            <a:r>
              <a:rPr b="1" lang="en-US" sz="2700">
                <a:solidFill>
                  <a:srgbClr val="1F2A40"/>
                </a:solidFill>
                <a:latin typeface="Roboto Black"/>
                <a:ea typeface="Roboto Black"/>
                <a:cs typeface="Roboto Black"/>
                <a:sym typeface="Roboto Black"/>
              </a:rPr>
              <a:t> 연쇄 동작 </a:t>
            </a:r>
            <a:r>
              <a:rPr b="1" lang="en-US" sz="27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플로우</a:t>
            </a:r>
            <a:endParaRPr i="0" sz="2700" u="none" cap="none" strike="noStrike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image.png" id="486" name="Google Shape;486;g3c0c338455d_3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625" y="1530589"/>
            <a:ext cx="4314825" cy="643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g3c0c338455d_3_2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0980" y="3656861"/>
            <a:ext cx="215704" cy="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c0c338455d_3_219"/>
          <p:cNvSpPr txBox="1"/>
          <p:nvPr/>
        </p:nvSpPr>
        <p:spPr>
          <a:xfrm>
            <a:off x="1538550" y="1756345"/>
            <a:ext cx="267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"내일 오후 3시 팀 회의 잡아줘"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489" name="Google Shape;489;g3c0c338455d_3_2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3507" y="3671123"/>
            <a:ext cx="256800" cy="228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g3c0c338455d_3_2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4393" y="3656859"/>
            <a:ext cx="256800" cy="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c0c338455d_3_219"/>
          <p:cNvSpPr/>
          <p:nvPr/>
        </p:nvSpPr>
        <p:spPr>
          <a:xfrm>
            <a:off x="4042938" y="5930328"/>
            <a:ext cx="4353600" cy="41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960000" dist="19050">
              <a:srgbClr val="000000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edium"/>
                <a:ea typeface="Roboto Medium"/>
                <a:cs typeface="Roboto Medium"/>
                <a:sym typeface="Roboto Medium"/>
              </a:rPr>
              <a:t>Google 서비스 API 통합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g3c0c338455d_9_27"/>
          <p:cNvGrpSpPr/>
          <p:nvPr/>
        </p:nvGrpSpPr>
        <p:grpSpPr>
          <a:xfrm>
            <a:off x="834475" y="409800"/>
            <a:ext cx="5662992" cy="415500"/>
            <a:chOff x="762000" y="571500"/>
            <a:chExt cx="5662992" cy="415500"/>
          </a:xfrm>
        </p:grpSpPr>
        <p:sp>
          <p:nvSpPr>
            <p:cNvPr id="497" name="Google Shape;497;g3c0c338455d_9_27"/>
            <p:cNvSpPr txBox="1"/>
            <p:nvPr/>
          </p:nvSpPr>
          <p:spPr>
            <a:xfrm>
              <a:off x="2203992" y="625340"/>
              <a:ext cx="4221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Schedule</a:t>
              </a:r>
              <a:endParaRPr i="0" sz="7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498" name="Google Shape;498;g3c0c338455d_9_27"/>
            <p:cNvSpPr txBox="1"/>
            <p:nvPr/>
          </p:nvSpPr>
          <p:spPr>
            <a:xfrm>
              <a:off x="762000" y="5715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일정 관리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499" name="Google Shape;499;g3c0c338455d_9_27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pic>
        <p:nvPicPr>
          <p:cNvPr id="500" name="Google Shape;500;g3c0c338455d_9_27" title="일정추가+메일확인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400" y="942875"/>
            <a:ext cx="8993201" cy="57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c09b11e3f6_2_5" title="답변-removebg-preview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9750" y="993475"/>
            <a:ext cx="3314024" cy="10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c09b11e3f6_2_5" title="답변-removebg-preview (5).png"/>
          <p:cNvPicPr preferRelativeResize="0"/>
          <p:nvPr/>
        </p:nvPicPr>
        <p:blipFill rotWithShape="1">
          <a:blip r:embed="rId4">
            <a:alphaModFix/>
          </a:blip>
          <a:srcRect b="41469" l="0" r="0" t="0"/>
          <a:stretch/>
        </p:blipFill>
        <p:spPr>
          <a:xfrm>
            <a:off x="491626" y="1473174"/>
            <a:ext cx="2022650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c09b11e3f6_2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882" y="5978825"/>
            <a:ext cx="8295892" cy="5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c09b11e3f6_2_5" title="image-removebg-preview (2).png"/>
          <p:cNvPicPr preferRelativeResize="0"/>
          <p:nvPr/>
        </p:nvPicPr>
        <p:blipFill rotWithShape="1">
          <a:blip r:embed="rId6">
            <a:alphaModFix/>
          </a:blip>
          <a:srcRect b="24854" l="43803" r="3140" t="11790"/>
          <a:stretch/>
        </p:blipFill>
        <p:spPr>
          <a:xfrm>
            <a:off x="10467280" y="5317825"/>
            <a:ext cx="1246495" cy="6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c09b11e3f6_2_5"/>
          <p:cNvPicPr preferRelativeResize="0"/>
          <p:nvPr/>
        </p:nvPicPr>
        <p:blipFill rotWithShape="1">
          <a:blip r:embed="rId7">
            <a:alphaModFix/>
          </a:blip>
          <a:srcRect b="0" l="0" r="1874" t="0"/>
          <a:stretch/>
        </p:blipFill>
        <p:spPr>
          <a:xfrm>
            <a:off x="912275" y="2008375"/>
            <a:ext cx="9780326" cy="3309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g3c09b11e3f6_2_5"/>
          <p:cNvGrpSpPr/>
          <p:nvPr/>
        </p:nvGrpSpPr>
        <p:grpSpPr>
          <a:xfrm>
            <a:off x="914400" y="723900"/>
            <a:ext cx="3486394" cy="415500"/>
            <a:chOff x="914400" y="723900"/>
            <a:chExt cx="3486394" cy="415500"/>
          </a:xfrm>
        </p:grpSpPr>
        <p:sp>
          <p:nvSpPr>
            <p:cNvPr id="511" name="Google Shape;511;g3c09b11e3f6_2_5"/>
            <p:cNvSpPr txBox="1"/>
            <p:nvPr/>
          </p:nvSpPr>
          <p:spPr>
            <a:xfrm>
              <a:off x="2317594" y="777743"/>
              <a:ext cx="2083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Judgement</a:t>
              </a:r>
              <a:endParaRPr i="0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12" name="Google Shape;512;g3c09b11e3f6_2_5"/>
            <p:cNvSpPr txBox="1"/>
            <p:nvPr/>
          </p:nvSpPr>
          <p:spPr>
            <a:xfrm>
              <a:off x="914400" y="723900"/>
              <a:ext cx="2500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>
                  <a:solidFill>
                    <a:srgbClr val="1E293B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규정 판단</a:t>
              </a:r>
              <a:endParaRPr i="0" sz="1400" u="none" cap="none" strike="noStrike">
                <a:solidFill>
                  <a:srgbClr val="000000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</p:grpSp>
      <p:sp>
        <p:nvSpPr>
          <p:cNvPr id="513" name="Google Shape;513;g3c09b11e3f6_2_5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"/>
          <p:cNvSpPr/>
          <p:nvPr/>
        </p:nvSpPr>
        <p:spPr>
          <a:xfrm>
            <a:off x="1304825" y="2800281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"/>
          <p:cNvSpPr txBox="1"/>
          <p:nvPr/>
        </p:nvSpPr>
        <p:spPr>
          <a:xfrm>
            <a:off x="1904925" y="298417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1: 키워드 </a:t>
            </a:r>
            <a:r>
              <a:rPr lang="en-US" sz="135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Cross-Check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LLM이 "제8조" 등을 인용했을 때, RAG 검색 결과 텍스트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내에  해당 단어가 존재하는지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20" name="Google Shape;520;p6"/>
          <p:cNvSpPr/>
          <p:nvPr/>
        </p:nvSpPr>
        <p:spPr>
          <a:xfrm>
            <a:off x="1304825" y="3558359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"/>
          <p:cNvSpPr txBox="1"/>
          <p:nvPr/>
        </p:nvSpPr>
        <p:spPr>
          <a:xfrm>
            <a:off x="1876313" y="3770767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2: 조항 존재 검증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RAG 검색으로 가져온 문서 내에서 LLM이 인용한 조항이 실제 존재하는지 텍스트 대조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22" name="Google Shape;522;p6"/>
          <p:cNvSpPr/>
          <p:nvPr/>
        </p:nvSpPr>
        <p:spPr>
          <a:xfrm>
            <a:off x="1304825" y="4316434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"/>
          <p:cNvSpPr txBox="1"/>
          <p:nvPr/>
        </p:nvSpPr>
        <p:spPr>
          <a:xfrm>
            <a:off x="1876326" y="4550476"/>
            <a:ext cx="915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3: 카테고리 제한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결과가 미리 정의된 4가지 (yes / no / conditional / no_regulation) 범주를 벗어나면 자동 Reject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24" name="Google Shape;524;p6"/>
          <p:cNvSpPr/>
          <p:nvPr/>
        </p:nvSpPr>
        <p:spPr>
          <a:xfrm>
            <a:off x="1333500" y="5074508"/>
            <a:ext cx="9525000" cy="632700"/>
          </a:xfrm>
          <a:prstGeom prst="roundRect">
            <a:avLst>
              <a:gd fmla="val 7561" name="adj"/>
            </a:avLst>
          </a:prstGeom>
          <a:solidFill>
            <a:srgbClr val="F8FAF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"/>
          <p:cNvSpPr txBox="1"/>
          <p:nvPr/>
        </p:nvSpPr>
        <p:spPr>
          <a:xfrm>
            <a:off x="1886554" y="5323048"/>
            <a:ext cx="87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Layer 4: Confidence 보정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350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</a:t>
            </a:r>
            <a:r>
              <a:rPr i="0" lang="en-US" sz="1350" u="none" cap="none" strike="noStrike">
                <a:solidFill>
                  <a:srgbClr val="2563E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LLM(60%) + RAG 검색점수(25%) + 커버리지(15%)</a:t>
            </a:r>
            <a:r>
              <a:rPr i="0" lang="en-US" sz="135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가중 합산 및 환각 감점 처리</a:t>
            </a:r>
            <a:endParaRPr i="0" sz="14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526" name="Google Shape;5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802" y="2983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9372" y="3748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3659" y="4540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7063" y="5301139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531" name="Google Shape;531;p6"/>
          <p:cNvSpPr txBox="1"/>
          <p:nvPr/>
        </p:nvSpPr>
        <p:spPr>
          <a:xfrm>
            <a:off x="1072903" y="1263580"/>
            <a:ext cx="984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200">
                <a:solidFill>
                  <a:schemeClr val="dk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Hybrid Search (BM25 + Qdrant Vector) RRF 랭킹 합산 Top K 추출</a:t>
            </a:r>
            <a:endParaRPr sz="2200">
              <a:solidFill>
                <a:schemeClr val="dk2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32" name="Google Shape;532;p6"/>
          <p:cNvSpPr txBox="1"/>
          <p:nvPr/>
        </p:nvSpPr>
        <p:spPr>
          <a:xfrm>
            <a:off x="1095310" y="2176006"/>
            <a:ext cx="100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환각 방지 시스템</a:t>
            </a:r>
            <a:endParaRPr b="1" i="0" sz="18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0c338455d_2_48"/>
          <p:cNvSpPr/>
          <p:nvPr/>
        </p:nvSpPr>
        <p:spPr>
          <a:xfrm>
            <a:off x="6491433" y="5152472"/>
            <a:ext cx="85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c0c338455d_2_48"/>
          <p:cNvSpPr/>
          <p:nvPr/>
        </p:nvSpPr>
        <p:spPr>
          <a:xfrm>
            <a:off x="4344825" y="6120780"/>
            <a:ext cx="4932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c0c338455d_2_48"/>
          <p:cNvSpPr/>
          <p:nvPr/>
        </p:nvSpPr>
        <p:spPr>
          <a:xfrm>
            <a:off x="6499225" y="4682676"/>
            <a:ext cx="8961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c0c338455d_2_48"/>
          <p:cNvSpPr/>
          <p:nvPr/>
        </p:nvSpPr>
        <p:spPr>
          <a:xfrm>
            <a:off x="411025" y="4142037"/>
            <a:ext cx="7132200" cy="4389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g3c0c338455d_2_48"/>
          <p:cNvSpPr/>
          <p:nvPr/>
        </p:nvSpPr>
        <p:spPr>
          <a:xfrm>
            <a:off x="4342884" y="4230780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c0c338455d_2_48"/>
          <p:cNvSpPr txBox="1"/>
          <p:nvPr/>
        </p:nvSpPr>
        <p:spPr>
          <a:xfrm>
            <a:off x="548640" y="1059047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10개 시나리오 x </a:t>
            </a:r>
            <a:r>
              <a:rPr b="1" lang="en-US" sz="16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개 가중치 조합 = </a:t>
            </a:r>
            <a:r>
              <a:rPr b="1" lang="en-US" sz="16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0개 실험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g3c0c338455d_2_48"/>
          <p:cNvSpPr txBox="1"/>
          <p:nvPr/>
        </p:nvSpPr>
        <p:spPr>
          <a:xfrm>
            <a:off x="502465" y="3355653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가중치 조합별 종합 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g3c0c338455d_2_48"/>
          <p:cNvSpPr txBox="1"/>
          <p:nvPr/>
        </p:nvSpPr>
        <p:spPr>
          <a:xfrm>
            <a:off x="502465" y="3812853"/>
            <a:ext cx="54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순위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g3c0c338455d_2_48"/>
          <p:cNvSpPr txBox="1"/>
          <p:nvPr/>
        </p:nvSpPr>
        <p:spPr>
          <a:xfrm>
            <a:off x="1142545" y="3812853"/>
            <a:ext cx="310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가중치 조합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g3c0c338455d_2_48"/>
          <p:cNvSpPr txBox="1"/>
          <p:nvPr/>
        </p:nvSpPr>
        <p:spPr>
          <a:xfrm>
            <a:off x="4342945" y="3812853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방향 정확도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g3c0c338455d_2_48"/>
          <p:cNvSpPr txBox="1"/>
          <p:nvPr/>
        </p:nvSpPr>
        <p:spPr>
          <a:xfrm>
            <a:off x="5440225" y="3812853"/>
            <a:ext cx="10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범위 적합도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g3c0c338455d_2_48"/>
          <p:cNvSpPr txBox="1"/>
          <p:nvPr/>
        </p:nvSpPr>
        <p:spPr>
          <a:xfrm>
            <a:off x="6537505" y="3812853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종합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g3c0c338455d_2_48"/>
          <p:cNvSpPr/>
          <p:nvPr/>
        </p:nvSpPr>
        <p:spPr>
          <a:xfrm>
            <a:off x="502465" y="4105461"/>
            <a:ext cx="6949500" cy="255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3c0c338455d_2_48"/>
          <p:cNvSpPr txBox="1"/>
          <p:nvPr/>
        </p:nvSpPr>
        <p:spPr>
          <a:xfrm>
            <a:off x="502465" y="4196901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g3c0c338455d_2_48"/>
          <p:cNvSpPr txBox="1"/>
          <p:nvPr/>
        </p:nvSpPr>
        <p:spPr>
          <a:xfrm>
            <a:off x="1129316" y="4210130"/>
            <a:ext cx="310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60% + RAG 25% + Cov 15% </a:t>
            </a:r>
            <a:r>
              <a:rPr b="1" i="0" lang="en-US" sz="1300" u="none" cap="none" strike="noStrike">
                <a:solidFill>
                  <a:srgbClr val="4C1130"/>
                </a:solidFill>
                <a:latin typeface="Roboto"/>
                <a:ea typeface="Roboto"/>
                <a:cs typeface="Roboto"/>
                <a:sym typeface="Roboto"/>
              </a:rPr>
              <a:t>★</a:t>
            </a:r>
            <a:endParaRPr b="1">
              <a:solidFill>
                <a:srgbClr val="4C11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g3c0c338455d_2_48"/>
          <p:cNvSpPr txBox="1"/>
          <p:nvPr/>
        </p:nvSpPr>
        <p:spPr>
          <a:xfrm>
            <a:off x="5440225" y="4196901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g3c0c338455d_2_48"/>
          <p:cNvSpPr txBox="1"/>
          <p:nvPr/>
        </p:nvSpPr>
        <p:spPr>
          <a:xfrm>
            <a:off x="6537505" y="4196901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g3c0c338455d_2_48"/>
          <p:cNvSpPr txBox="1"/>
          <p:nvPr/>
        </p:nvSpPr>
        <p:spPr>
          <a:xfrm>
            <a:off x="502465" y="4684094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g3c0c338455d_2_48"/>
          <p:cNvSpPr txBox="1"/>
          <p:nvPr/>
        </p:nvSpPr>
        <p:spPr>
          <a:xfrm>
            <a:off x="1142545" y="4697323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40% + RAG 40% + Cov 20%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g3c0c338455d_2_48"/>
          <p:cNvSpPr txBox="1"/>
          <p:nvPr/>
        </p:nvSpPr>
        <p:spPr>
          <a:xfrm>
            <a:off x="502465" y="5159582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g3c0c338455d_2_48"/>
          <p:cNvSpPr txBox="1"/>
          <p:nvPr/>
        </p:nvSpPr>
        <p:spPr>
          <a:xfrm>
            <a:off x="1142545" y="5172811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80% + RAG 15% + Cov 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g3c0c338455d_2_48"/>
          <p:cNvSpPr txBox="1"/>
          <p:nvPr/>
        </p:nvSpPr>
        <p:spPr>
          <a:xfrm>
            <a:off x="502465" y="563507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g3c0c338455d_2_48"/>
          <p:cNvSpPr txBox="1"/>
          <p:nvPr/>
        </p:nvSpPr>
        <p:spPr>
          <a:xfrm>
            <a:off x="1142545" y="5648299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33% + RAG 33% + Cov 34%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g3c0c338455d_2_48"/>
          <p:cNvSpPr txBox="1"/>
          <p:nvPr/>
        </p:nvSpPr>
        <p:spPr>
          <a:xfrm>
            <a:off x="502465" y="6110558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g3c0c338455d_2_48"/>
          <p:cNvSpPr txBox="1"/>
          <p:nvPr/>
        </p:nvSpPr>
        <p:spPr>
          <a:xfrm>
            <a:off x="1142545" y="6123787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(보정 없음)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g3c0c338455d_2_48"/>
          <p:cNvSpPr txBox="1"/>
          <p:nvPr/>
        </p:nvSpPr>
        <p:spPr>
          <a:xfrm>
            <a:off x="7982903" y="1252537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핵심 인사이트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g3c0c338455d_2_48"/>
          <p:cNvSpPr/>
          <p:nvPr/>
        </p:nvSpPr>
        <p:spPr>
          <a:xfrm>
            <a:off x="7982903" y="1709737"/>
            <a:ext cx="3840600" cy="1463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g3c0c338455d_2_48"/>
          <p:cNvSpPr txBox="1"/>
          <p:nvPr/>
        </p:nvSpPr>
        <p:spPr>
          <a:xfrm>
            <a:off x="8257223" y="180117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 유일한 만점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g3c0c338455d_2_48"/>
          <p:cNvSpPr txBox="1"/>
          <p:nvPr/>
        </p:nvSpPr>
        <p:spPr>
          <a:xfrm>
            <a:off x="8257223" y="2018421"/>
            <a:ext cx="329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g3c0c338455d_2_48"/>
          <p:cNvSpPr txBox="1"/>
          <p:nvPr/>
        </p:nvSpPr>
        <p:spPr>
          <a:xfrm>
            <a:off x="8257223" y="2656837"/>
            <a:ext cx="3291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방향 정확도 100% + 범위 적합도 100%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10개 시나리오 모두 기대 범위 내 보정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g3c0c338455d_2_48"/>
          <p:cNvSpPr/>
          <p:nvPr/>
        </p:nvSpPr>
        <p:spPr>
          <a:xfrm>
            <a:off x="7982903" y="3355657"/>
            <a:ext cx="3840600" cy="128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g3c0c338455d_2_48"/>
          <p:cNvSpPr txBox="1"/>
          <p:nvPr/>
        </p:nvSpPr>
        <p:spPr>
          <a:xfrm>
            <a:off x="8257223" y="344709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LLM 100% 신뢰 시 위험성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g3c0c338455d_2_48"/>
          <p:cNvSpPr txBox="1"/>
          <p:nvPr/>
        </p:nvSpPr>
        <p:spPr>
          <a:xfrm>
            <a:off x="8257223" y="3726409"/>
            <a:ext cx="10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g3c0c338455d_2_48"/>
          <p:cNvSpPr txBox="1"/>
          <p:nvPr/>
        </p:nvSpPr>
        <p:spPr>
          <a:xfrm>
            <a:off x="8257223" y="4275050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LLM 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g3c0c338455d_2_48"/>
          <p:cNvSpPr txBox="1"/>
          <p:nvPr/>
        </p:nvSpPr>
        <p:spPr>
          <a:xfrm>
            <a:off x="9445943" y="3909290"/>
            <a:ext cx="5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g3c0c338455d_2_48"/>
          <p:cNvSpPr txBox="1"/>
          <p:nvPr/>
        </p:nvSpPr>
        <p:spPr>
          <a:xfrm>
            <a:off x="10086009" y="3726420"/>
            <a:ext cx="146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g3c0c338455d_2_48"/>
          <p:cNvSpPr txBox="1"/>
          <p:nvPr/>
        </p:nvSpPr>
        <p:spPr>
          <a:xfrm>
            <a:off x="10086023" y="4275050"/>
            <a:ext cx="109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g3c0c338455d_2_48"/>
          <p:cNvSpPr/>
          <p:nvPr/>
        </p:nvSpPr>
        <p:spPr>
          <a:xfrm>
            <a:off x="7982903" y="4818697"/>
            <a:ext cx="3840600" cy="137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g3c0c338455d_2_48"/>
          <p:cNvSpPr txBox="1"/>
          <p:nvPr/>
        </p:nvSpPr>
        <p:spPr>
          <a:xfrm>
            <a:off x="8257223" y="4910137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균등 배분(33/33/34)의 문제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g3c0c338455d_2_48"/>
          <p:cNvSpPr txBox="1"/>
          <p:nvPr/>
        </p:nvSpPr>
        <p:spPr>
          <a:xfrm>
            <a:off x="8191077" y="5249439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방향 </a:t>
            </a:r>
            <a:r>
              <a:rPr b="1" i="0" lang="en-US" sz="20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90%</a:t>
            </a:r>
            <a:endParaRPr b="1">
              <a:solidFill>
                <a:srgbClr val="2D58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g3c0c338455d_2_48"/>
          <p:cNvSpPr txBox="1"/>
          <p:nvPr/>
        </p:nvSpPr>
        <p:spPr>
          <a:xfrm>
            <a:off x="9654117" y="5249439"/>
            <a:ext cx="13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2D58B8"/>
                </a:solidFill>
                <a:latin typeface="Roboto Black"/>
                <a:ea typeface="Roboto Black"/>
                <a:cs typeface="Roboto Black"/>
                <a:sym typeface="Roboto Black"/>
              </a:rPr>
              <a:t>범위 </a:t>
            </a:r>
            <a:r>
              <a:rPr b="1" i="0" lang="en-US" sz="20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80%</a:t>
            </a:r>
            <a:endParaRPr b="1">
              <a:solidFill>
                <a:srgbClr val="2D58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g3c0c338455d_2_48"/>
          <p:cNvSpPr txBox="1"/>
          <p:nvPr/>
        </p:nvSpPr>
        <p:spPr>
          <a:xfrm>
            <a:off x="8257223" y="5689042"/>
            <a:ext cx="3291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비중이 낮으면 '중간 조건'에서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과도한 상향 보정 발생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g3c0c338455d_2_4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580" name="Google Shape;580;g3c0c338455d_2_48"/>
          <p:cNvSpPr/>
          <p:nvPr/>
        </p:nvSpPr>
        <p:spPr>
          <a:xfrm>
            <a:off x="5426967" y="4232239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c0c338455d_2_48"/>
          <p:cNvSpPr/>
          <p:nvPr/>
        </p:nvSpPr>
        <p:spPr>
          <a:xfrm>
            <a:off x="6491759" y="4232239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c0c338455d_2_48"/>
          <p:cNvSpPr txBox="1"/>
          <p:nvPr/>
        </p:nvSpPr>
        <p:spPr>
          <a:xfrm>
            <a:off x="4205400" y="4173318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g3c0c338455d_2_48"/>
          <p:cNvSpPr txBox="1"/>
          <p:nvPr/>
        </p:nvSpPr>
        <p:spPr>
          <a:xfrm>
            <a:off x="6341600" y="4173305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g3c0c338455d_2_48"/>
          <p:cNvSpPr txBox="1"/>
          <p:nvPr/>
        </p:nvSpPr>
        <p:spPr>
          <a:xfrm>
            <a:off x="5398029" y="4219518"/>
            <a:ext cx="109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g3c0c338455d_2_48"/>
          <p:cNvSpPr txBox="1"/>
          <p:nvPr/>
        </p:nvSpPr>
        <p:spPr>
          <a:xfrm>
            <a:off x="548640" y="543295"/>
            <a:ext cx="73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Confidence 가중치 </a:t>
            </a:r>
            <a:r>
              <a:rPr b="1" i="0" lang="en-US" sz="2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Ablation Study</a:t>
            </a:r>
            <a:endParaRPr b="1"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g3c0c338455d_2_48"/>
          <p:cNvSpPr/>
          <p:nvPr/>
        </p:nvSpPr>
        <p:spPr>
          <a:xfrm>
            <a:off x="4342967" y="4676093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c0c338455d_2_48"/>
          <p:cNvSpPr txBox="1"/>
          <p:nvPr/>
        </p:nvSpPr>
        <p:spPr>
          <a:xfrm>
            <a:off x="4205400" y="4611018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g3c0c338455d_2_48"/>
          <p:cNvSpPr/>
          <p:nvPr/>
        </p:nvSpPr>
        <p:spPr>
          <a:xfrm>
            <a:off x="4336101" y="5148505"/>
            <a:ext cx="1005900" cy="255900"/>
          </a:xfrm>
          <a:prstGeom prst="roundRect">
            <a:avLst>
              <a:gd fmla="val 30000" name="adj"/>
            </a:avLst>
          </a:prstGeom>
          <a:solidFill>
            <a:srgbClr val="6AA84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c0c338455d_2_48"/>
          <p:cNvSpPr txBox="1"/>
          <p:nvPr/>
        </p:nvSpPr>
        <p:spPr>
          <a:xfrm>
            <a:off x="4198533" y="5083430"/>
            <a:ext cx="12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100.0%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g3c0c338455d_2_48"/>
          <p:cNvSpPr/>
          <p:nvPr/>
        </p:nvSpPr>
        <p:spPr>
          <a:xfrm>
            <a:off x="5440400" y="4689389"/>
            <a:ext cx="8871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c0c338455d_2_48"/>
          <p:cNvSpPr txBox="1"/>
          <p:nvPr/>
        </p:nvSpPr>
        <p:spPr>
          <a:xfrm>
            <a:off x="6616875" y="4670876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g3c0c338455d_2_48"/>
          <p:cNvSpPr txBox="1"/>
          <p:nvPr/>
        </p:nvSpPr>
        <p:spPr>
          <a:xfrm>
            <a:off x="4237112" y="5648299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g3c0c338455d_2_48"/>
          <p:cNvSpPr/>
          <p:nvPr/>
        </p:nvSpPr>
        <p:spPr>
          <a:xfrm>
            <a:off x="4341875" y="5651380"/>
            <a:ext cx="914400" cy="255900"/>
          </a:xfrm>
          <a:prstGeom prst="roundRect">
            <a:avLst>
              <a:gd fmla="val 30000" name="adj"/>
            </a:avLst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c0c338455d_2_48"/>
          <p:cNvSpPr txBox="1"/>
          <p:nvPr/>
        </p:nvSpPr>
        <p:spPr>
          <a:xfrm>
            <a:off x="4328471" y="5632857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g3c0c338455d_2_48"/>
          <p:cNvSpPr/>
          <p:nvPr/>
        </p:nvSpPr>
        <p:spPr>
          <a:xfrm>
            <a:off x="5453067" y="5149001"/>
            <a:ext cx="7716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c0c338455d_2_48"/>
          <p:cNvSpPr txBox="1"/>
          <p:nvPr/>
        </p:nvSpPr>
        <p:spPr>
          <a:xfrm>
            <a:off x="5413767" y="5133124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g3c0c338455d_2_48"/>
          <p:cNvSpPr/>
          <p:nvPr/>
        </p:nvSpPr>
        <p:spPr>
          <a:xfrm>
            <a:off x="5443350" y="6110576"/>
            <a:ext cx="6852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c0c338455d_2_48"/>
          <p:cNvSpPr txBox="1"/>
          <p:nvPr/>
        </p:nvSpPr>
        <p:spPr>
          <a:xfrm>
            <a:off x="5387308" y="6097329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g3c0c338455d_2_48"/>
          <p:cNvSpPr txBox="1"/>
          <p:nvPr/>
        </p:nvSpPr>
        <p:spPr>
          <a:xfrm>
            <a:off x="6577193" y="6097329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g3c0c338455d_2_48"/>
          <p:cNvSpPr txBox="1"/>
          <p:nvPr/>
        </p:nvSpPr>
        <p:spPr>
          <a:xfrm>
            <a:off x="4296120" y="6103112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g3c0c338455d_2_48"/>
          <p:cNvSpPr/>
          <p:nvPr/>
        </p:nvSpPr>
        <p:spPr>
          <a:xfrm>
            <a:off x="6518837" y="6123301"/>
            <a:ext cx="548700" cy="255900"/>
          </a:xfrm>
          <a:prstGeom prst="roundRect">
            <a:avLst>
              <a:gd fmla="val 30000" name="adj"/>
            </a:avLst>
          </a:prstGeom>
          <a:solidFill>
            <a:srgbClr val="CC412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c0c338455d_2_48"/>
          <p:cNvSpPr txBox="1"/>
          <p:nvPr/>
        </p:nvSpPr>
        <p:spPr>
          <a:xfrm>
            <a:off x="6518837" y="6110587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g3c0c338455d_2_48"/>
          <p:cNvSpPr/>
          <p:nvPr/>
        </p:nvSpPr>
        <p:spPr>
          <a:xfrm>
            <a:off x="5443342" y="5641176"/>
            <a:ext cx="82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c0c338455d_2_48"/>
          <p:cNvSpPr txBox="1"/>
          <p:nvPr/>
        </p:nvSpPr>
        <p:spPr>
          <a:xfrm>
            <a:off x="6524276" y="5635070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g3c0c338455d_2_48"/>
          <p:cNvSpPr txBox="1"/>
          <p:nvPr/>
        </p:nvSpPr>
        <p:spPr>
          <a:xfrm>
            <a:off x="6526822" y="5132928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g3c0c338455d_2_48"/>
          <p:cNvSpPr txBox="1"/>
          <p:nvPr/>
        </p:nvSpPr>
        <p:spPr>
          <a:xfrm>
            <a:off x="5427812" y="5632016"/>
            <a:ext cx="100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80.0%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g3c0c338455d_2_48"/>
          <p:cNvSpPr/>
          <p:nvPr/>
        </p:nvSpPr>
        <p:spPr>
          <a:xfrm>
            <a:off x="6492996" y="5654055"/>
            <a:ext cx="822900" cy="255900"/>
          </a:xfrm>
          <a:prstGeom prst="roundRect">
            <a:avLst>
              <a:gd fmla="val 30000" name="adj"/>
            </a:avLst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c0c338455d_2_48"/>
          <p:cNvSpPr txBox="1"/>
          <p:nvPr/>
        </p:nvSpPr>
        <p:spPr>
          <a:xfrm>
            <a:off x="6527159" y="5641586"/>
            <a:ext cx="9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85.0%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g3c0c338455d_2_48"/>
          <p:cNvSpPr txBox="1"/>
          <p:nvPr/>
        </p:nvSpPr>
        <p:spPr>
          <a:xfrm>
            <a:off x="5546233" y="4679847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.0%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0" name="Google Shape;610;g3c0c338455d_2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88" y="1535239"/>
            <a:ext cx="7516375" cy="1751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0c338455d_2_128"/>
          <p:cNvSpPr txBox="1"/>
          <p:nvPr/>
        </p:nvSpPr>
        <p:spPr>
          <a:xfrm>
            <a:off x="548640" y="27432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60</a:t>
            </a:r>
            <a:r>
              <a:rPr i="0" lang="en-US" sz="30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/</a:t>
            </a:r>
            <a:r>
              <a:rPr i="0" lang="en-US" sz="3000" u="none" cap="none" strike="noStrike">
                <a:solidFill>
                  <a:schemeClr val="dk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25/15</a:t>
            </a:r>
            <a:r>
              <a:rPr i="0" lang="en-US" sz="2700" u="none" cap="none" strike="noStrike">
                <a:solidFill>
                  <a:srgbClr val="2D58B8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가중치 설계 근거</a:t>
            </a:r>
            <a:endParaRPr b="1"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g3c0c338455d_2_128"/>
          <p:cNvSpPr txBox="1"/>
          <p:nvPr/>
        </p:nvSpPr>
        <p:spPr>
          <a:xfrm>
            <a:off x="548640" y="81271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각 가중치는 벤치마크 데이터, </a:t>
            </a:r>
            <a:r>
              <a:rPr i="0" lang="en-US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E2E</a:t>
            </a:r>
            <a:r>
              <a:rPr b="1" i="0" lang="en-US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실험, </a:t>
            </a:r>
            <a:r>
              <a:rPr i="0" lang="en-US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Ablation Study</a:t>
            </a:r>
            <a:r>
              <a:rPr b="1" i="0" lang="en-US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에 기반합니다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g3c0c338455d_2_128"/>
          <p:cNvSpPr/>
          <p:nvPr/>
        </p:nvSpPr>
        <p:spPr>
          <a:xfrm>
            <a:off x="548640" y="1235529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g3c0c338455d_2_128"/>
          <p:cNvSpPr txBox="1"/>
          <p:nvPr/>
        </p:nvSpPr>
        <p:spPr>
          <a:xfrm>
            <a:off x="703035" y="1260908"/>
            <a:ext cx="212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g3c0c338455d_2_128"/>
          <p:cNvSpPr txBox="1"/>
          <p:nvPr/>
        </p:nvSpPr>
        <p:spPr>
          <a:xfrm>
            <a:off x="727759" y="1933699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LLM 판단값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g3c0c338455d_2_128"/>
          <p:cNvSpPr/>
          <p:nvPr/>
        </p:nvSpPr>
        <p:spPr>
          <a:xfrm>
            <a:off x="685800" y="2332809"/>
            <a:ext cx="3291900" cy="1417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g3c0c338455d_2_128"/>
          <p:cNvSpPr txBox="1"/>
          <p:nvPr/>
        </p:nvSpPr>
        <p:spPr>
          <a:xfrm>
            <a:off x="744518" y="241214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근거: 벤치마크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g3c0c338455d_2_128"/>
          <p:cNvSpPr txBox="1"/>
          <p:nvPr/>
        </p:nvSpPr>
        <p:spPr>
          <a:xfrm>
            <a:off x="733312" y="260004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66.7%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g3c0c338455d_2_128"/>
          <p:cNvSpPr txBox="1"/>
          <p:nvPr/>
        </p:nvSpPr>
        <p:spPr>
          <a:xfrm>
            <a:off x="766930" y="3109152"/>
            <a:ext cx="3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베이스 모델 판단 정확도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87개 테스트셋 기준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3번 중 1번은 오답 → 100% 신뢰 불가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24" name="Google Shape;624;g3c0c338455d_2_128"/>
          <p:cNvSpPr txBox="1"/>
          <p:nvPr/>
        </p:nvSpPr>
        <p:spPr>
          <a:xfrm>
            <a:off x="777240" y="3928158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Ablation: LLM 100%의 문제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g3c0c338455d_2_128"/>
          <p:cNvSpPr txBox="1"/>
          <p:nvPr/>
        </p:nvSpPr>
        <p:spPr>
          <a:xfrm>
            <a:off x="822959" y="4202479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과신 (raw 0.95)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3c0c338455d_2_128"/>
          <p:cNvSpPr txBox="1"/>
          <p:nvPr/>
        </p:nvSpPr>
        <p:spPr>
          <a:xfrm>
            <a:off x="2286000" y="4202479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0.95 그대로 (보정 실패)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g3c0c338455d_2_128"/>
          <p:cNvSpPr txBox="1"/>
          <p:nvPr/>
        </p:nvSpPr>
        <p:spPr>
          <a:xfrm>
            <a:off x="822959" y="4495087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보수적 LLM (raw 0.50)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g3c0c338455d_2_128"/>
          <p:cNvSpPr txBox="1"/>
          <p:nvPr/>
        </p:nvSpPr>
        <p:spPr>
          <a:xfrm>
            <a:off x="2286000" y="449508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0.50 그대로 (보완 실패)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g3c0c338455d_2_128"/>
          <p:cNvSpPr txBox="1"/>
          <p:nvPr/>
        </p:nvSpPr>
        <p:spPr>
          <a:xfrm>
            <a:off x="822959" y="4787695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종합 점수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3c0c338455d_2_128"/>
          <p:cNvSpPr txBox="1"/>
          <p:nvPr/>
        </p:nvSpPr>
        <p:spPr>
          <a:xfrm>
            <a:off x="2286000" y="4787695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55.0% (최하위)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g3c0c338455d_2_128"/>
          <p:cNvSpPr/>
          <p:nvPr/>
        </p:nvSpPr>
        <p:spPr>
          <a:xfrm>
            <a:off x="685800" y="5213169"/>
            <a:ext cx="3291900" cy="7773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g3c0c338455d_2_128"/>
          <p:cNvSpPr txBox="1"/>
          <p:nvPr/>
        </p:nvSpPr>
        <p:spPr>
          <a:xfrm>
            <a:off x="822959" y="5392288"/>
            <a:ext cx="3017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과반(60%)은 배분하되, 지배적이지 않게</a:t>
            </a:r>
            <a:b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LLM이 아무리 과신해도 최대 기여 = 0.6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33" name="Google Shape;633;g3c0c338455d_2_128"/>
          <p:cNvSpPr/>
          <p:nvPr/>
        </p:nvSpPr>
        <p:spPr>
          <a:xfrm>
            <a:off x="4389120" y="1235529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g3c0c338455d_2_128"/>
          <p:cNvSpPr txBox="1"/>
          <p:nvPr/>
        </p:nvSpPr>
        <p:spPr>
          <a:xfrm>
            <a:off x="4568247" y="1260908"/>
            <a:ext cx="2020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g3c0c338455d_2_128"/>
          <p:cNvSpPr txBox="1"/>
          <p:nvPr/>
        </p:nvSpPr>
        <p:spPr>
          <a:xfrm>
            <a:off x="4568239" y="1933699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RAG 검색 품질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g3c0c338455d_2_128"/>
          <p:cNvSpPr/>
          <p:nvPr/>
        </p:nvSpPr>
        <p:spPr>
          <a:xfrm>
            <a:off x="4526275" y="2332800"/>
            <a:ext cx="3291900" cy="1257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g3c0c338455d_2_128"/>
          <p:cNvSpPr txBox="1"/>
          <p:nvPr/>
        </p:nvSpPr>
        <p:spPr>
          <a:xfrm>
            <a:off x="4584999" y="241214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근거: E2E 실험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g3c0c338455d_2_128"/>
          <p:cNvSpPr txBox="1"/>
          <p:nvPr/>
        </p:nvSpPr>
        <p:spPr>
          <a:xfrm>
            <a:off x="4573793" y="260004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50%→100%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g3c0c338455d_2_128"/>
          <p:cNvSpPr txBox="1"/>
          <p:nvPr/>
        </p:nvSpPr>
        <p:spPr>
          <a:xfrm>
            <a:off x="4607411" y="3109152"/>
            <a:ext cx="3017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RAG 청크 품질 개선만으로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판단 정답률이 2배 상승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0" name="Google Shape;640;g3c0c338455d_2_128"/>
          <p:cNvSpPr txBox="1"/>
          <p:nvPr/>
        </p:nvSpPr>
        <p:spPr>
          <a:xfrm>
            <a:off x="4617720" y="3680756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RAG 품질 = 판단 품질 (실증)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g3c0c338455d_2_128"/>
          <p:cNvSpPr txBox="1"/>
          <p:nvPr/>
        </p:nvSpPr>
        <p:spPr>
          <a:xfrm>
            <a:off x="4663440" y="3955077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(12청크)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g3c0c338455d_2_128"/>
          <p:cNvSpPr txBox="1"/>
          <p:nvPr/>
        </p:nvSpPr>
        <p:spPr>
          <a:xfrm>
            <a:off x="6126479" y="395507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0.46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g3c0c338455d_2_128"/>
          <p:cNvSpPr txBox="1"/>
          <p:nvPr/>
        </p:nvSpPr>
        <p:spPr>
          <a:xfrm>
            <a:off x="4663440" y="4247685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연차 (44청크)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g3c0c338455d_2_128"/>
          <p:cNvSpPr txBox="1"/>
          <p:nvPr/>
        </p:nvSpPr>
        <p:spPr>
          <a:xfrm>
            <a:off x="6126479" y="4247685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conditional 0.70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g3c0c338455d_2_128"/>
          <p:cNvSpPr txBox="1"/>
          <p:nvPr/>
        </p:nvSpPr>
        <p:spPr>
          <a:xfrm>
            <a:off x="4663440" y="4540293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(12청크)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g3c0c338455d_2_128"/>
          <p:cNvSpPr txBox="1"/>
          <p:nvPr/>
        </p:nvSpPr>
        <p:spPr>
          <a:xfrm>
            <a:off x="6126479" y="454029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no_regulation 0.40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g3c0c338455d_2_128"/>
          <p:cNvSpPr txBox="1"/>
          <p:nvPr/>
        </p:nvSpPr>
        <p:spPr>
          <a:xfrm>
            <a:off x="4663440" y="4832901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클라우드 (44청크)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g3c0c338455d_2_128"/>
          <p:cNvSpPr txBox="1"/>
          <p:nvPr/>
        </p:nvSpPr>
        <p:spPr>
          <a:xfrm>
            <a:off x="6126479" y="4832901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no 0.70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g3c0c338455d_2_128"/>
          <p:cNvSpPr/>
          <p:nvPr/>
        </p:nvSpPr>
        <p:spPr>
          <a:xfrm>
            <a:off x="4526275" y="5159476"/>
            <a:ext cx="3291900" cy="8310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g3c0c338455d_2_128"/>
          <p:cNvSpPr txBox="1"/>
          <p:nvPr/>
        </p:nvSpPr>
        <p:spPr>
          <a:xfrm>
            <a:off x="4663440" y="5256217"/>
            <a:ext cx="3017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Garbage In = Garbage Out</a:t>
            </a:r>
            <a:b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근거 품질이 판단 정확도를 직접 결정</a:t>
            </a:r>
            <a:b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나머지 40% 중 가장 큰 비중(25%) 배분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1" name="Google Shape;651;g3c0c338455d_2_128"/>
          <p:cNvSpPr/>
          <p:nvPr/>
        </p:nvSpPr>
        <p:spPr>
          <a:xfrm>
            <a:off x="8229600" y="1235529"/>
            <a:ext cx="3566100" cy="4846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g3c0c338455d_2_128"/>
          <p:cNvSpPr txBox="1"/>
          <p:nvPr/>
        </p:nvSpPr>
        <p:spPr>
          <a:xfrm>
            <a:off x="8359239" y="1260908"/>
            <a:ext cx="195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15%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g3c0c338455d_2_128"/>
          <p:cNvSpPr txBox="1"/>
          <p:nvPr/>
        </p:nvSpPr>
        <p:spPr>
          <a:xfrm>
            <a:off x="8408719" y="1933699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규정 커버리지</a:t>
            </a:r>
            <a:endParaRPr b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g3c0c338455d_2_128"/>
          <p:cNvSpPr/>
          <p:nvPr/>
        </p:nvSpPr>
        <p:spPr>
          <a:xfrm>
            <a:off x="8366760" y="2332809"/>
            <a:ext cx="3291900" cy="14172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g3c0c338455d_2_128"/>
          <p:cNvSpPr txBox="1"/>
          <p:nvPr/>
        </p:nvSpPr>
        <p:spPr>
          <a:xfrm>
            <a:off x="8425479" y="241214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근거: 교차 검증 효과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g3c0c338455d_2_128"/>
          <p:cNvSpPr txBox="1"/>
          <p:nvPr/>
        </p:nvSpPr>
        <p:spPr>
          <a:xfrm>
            <a:off x="8414273" y="2600046"/>
            <a:ext cx="301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+0.075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g3c0c338455d_2_128"/>
          <p:cNvSpPr txBox="1"/>
          <p:nvPr/>
        </p:nvSpPr>
        <p:spPr>
          <a:xfrm>
            <a:off x="8447891" y="3109152"/>
            <a:ext cx="30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복수 규정 교차 확인 시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최대 추가 보정 점수</a:t>
            </a:r>
            <a:b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000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보조 신호 — 보너스 수준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8" name="Google Shape;658;g3c0c338455d_2_128"/>
          <p:cNvSpPr txBox="1"/>
          <p:nvPr/>
        </p:nvSpPr>
        <p:spPr>
          <a:xfrm>
            <a:off x="8458200" y="3952899"/>
            <a:ext cx="301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왜 15%인가?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g3c0c338455d_2_128"/>
          <p:cNvSpPr txBox="1"/>
          <p:nvPr/>
        </p:nvSpPr>
        <p:spPr>
          <a:xfrm>
            <a:off x="8503920" y="4227220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커버리지 단독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g3c0c338455d_2_128"/>
          <p:cNvSpPr txBox="1"/>
          <p:nvPr/>
        </p:nvSpPr>
        <p:spPr>
          <a:xfrm>
            <a:off x="9966960" y="4227220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판단 불가 → 보조 역할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g3c0c338455d_2_128"/>
          <p:cNvSpPr txBox="1"/>
          <p:nvPr/>
        </p:nvSpPr>
        <p:spPr>
          <a:xfrm>
            <a:off x="8503920" y="4519828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있으면 좋고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g3c0c338455d_2_128"/>
          <p:cNvSpPr txBox="1"/>
          <p:nvPr/>
        </p:nvSpPr>
        <p:spPr>
          <a:xfrm>
            <a:off x="9966960" y="4519828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Roboto"/>
                <a:ea typeface="Roboto"/>
                <a:cs typeface="Roboto"/>
                <a:sym typeface="Roboto"/>
              </a:rPr>
              <a:t>없어도 치명적이지 않음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g3c0c338455d_2_128"/>
          <p:cNvSpPr txBox="1"/>
          <p:nvPr/>
        </p:nvSpPr>
        <p:spPr>
          <a:xfrm>
            <a:off x="8503920" y="4812436"/>
            <a:ext cx="146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20%로 올리면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g3c0c338455d_2_128"/>
          <p:cNvSpPr txBox="1"/>
          <p:nvPr/>
        </p:nvSpPr>
        <p:spPr>
          <a:xfrm>
            <a:off x="9966960" y="4812436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범위 적합도 90%로 하락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g3c0c338455d_2_128"/>
          <p:cNvSpPr/>
          <p:nvPr/>
        </p:nvSpPr>
        <p:spPr>
          <a:xfrm>
            <a:off x="8366760" y="5213169"/>
            <a:ext cx="3291900" cy="7773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g3c0c338455d_2_128"/>
          <p:cNvSpPr txBox="1"/>
          <p:nvPr/>
        </p:nvSpPr>
        <p:spPr>
          <a:xfrm>
            <a:off x="8503920" y="5392288"/>
            <a:ext cx="3017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60 + 25 + 15 = 100%</a:t>
            </a:r>
            <a:b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i="0" lang="en-US" sz="11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감점 없이 최적 조건 → confidence = 1.0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67" name="Google Shape;667;g3c0c338455d_2_128"/>
          <p:cNvSpPr/>
          <p:nvPr/>
        </p:nvSpPr>
        <p:spPr>
          <a:xfrm>
            <a:off x="548640" y="6309360"/>
            <a:ext cx="11155800" cy="411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g3c0c338455d_2_128"/>
          <p:cNvSpPr txBox="1"/>
          <p:nvPr/>
        </p:nvSpPr>
        <p:spPr>
          <a:xfrm>
            <a:off x="731520" y="6336792"/>
            <a:ext cx="107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최종 Confidence  =  LLM판단 x 0.6  +  RAG품질 x 0.25  +  커버리지 x 0.15  -  감점(충돌/환각/미존재)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g3c0c338455d_2_128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0c338455d_2_124"/>
          <p:cNvSpPr/>
          <p:nvPr/>
        </p:nvSpPr>
        <p:spPr>
          <a:xfrm>
            <a:off x="7326094" y="4237650"/>
            <a:ext cx="4626000" cy="1968600"/>
          </a:xfrm>
          <a:prstGeom prst="roundRect">
            <a:avLst>
              <a:gd fmla="val 757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c0c338455d_2_124"/>
          <p:cNvSpPr/>
          <p:nvPr/>
        </p:nvSpPr>
        <p:spPr>
          <a:xfrm>
            <a:off x="7326094" y="639151"/>
            <a:ext cx="4626000" cy="3517200"/>
          </a:xfrm>
          <a:prstGeom prst="roundRect">
            <a:avLst>
              <a:gd fmla="val 757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c0c338455d_2_124"/>
          <p:cNvSpPr txBox="1"/>
          <p:nvPr/>
        </p:nvSpPr>
        <p:spPr>
          <a:xfrm>
            <a:off x="522182" y="300778"/>
            <a:ext cx="8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핵심 시나리오 </a:t>
            </a:r>
            <a:r>
              <a:rPr b="1" i="0" lang="en-US" sz="2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보정 효과</a:t>
            </a:r>
            <a:r>
              <a:rPr b="1" i="0" lang="en-US" sz="27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검증</a:t>
            </a:r>
            <a:endParaRPr b="1" sz="2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g3c0c338455d_2_124"/>
          <p:cNvSpPr txBox="1"/>
          <p:nvPr/>
        </p:nvSpPr>
        <p:spPr>
          <a:xfrm>
            <a:off x="535411" y="803698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60/25/15 가중치가 실제로 어떤 상황에서 왜 작동하는지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g3c0c338455d_2_124"/>
          <p:cNvSpPr/>
          <p:nvPr/>
        </p:nvSpPr>
        <p:spPr>
          <a:xfrm>
            <a:off x="252113" y="13716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3c0c338455d_2_124"/>
          <p:cNvSpPr txBox="1"/>
          <p:nvPr/>
        </p:nvSpPr>
        <p:spPr>
          <a:xfrm>
            <a:off x="367683" y="1476269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LLM </a:t>
            </a:r>
            <a:r>
              <a:rPr i="0" lang="en-US" sz="1800" u="none" cap="none" strike="noStrike">
                <a:solidFill>
                  <a:srgbClr val="DC2626"/>
                </a:solidFill>
                <a:latin typeface="Roboto Black"/>
                <a:ea typeface="Roboto Black"/>
                <a:cs typeface="Roboto Black"/>
                <a:sym typeface="Roboto Black"/>
              </a:rPr>
              <a:t>과신 방지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80" name="Google Shape;680;g3c0c338455d_2_124"/>
          <p:cNvSpPr txBox="1"/>
          <p:nvPr/>
        </p:nvSpPr>
        <p:spPr>
          <a:xfrm>
            <a:off x="367672" y="1828796"/>
            <a:ext cx="4114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LLM이 0.95 확신 → 하지만 RAG 점수 0.25로 매우 낮음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근거가 약한데 높은 확신 = 사용자에게 잘못된 신뢰를 줌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g3c0c338455d_2_124"/>
          <p:cNvSpPr/>
          <p:nvPr/>
        </p:nvSpPr>
        <p:spPr>
          <a:xfrm>
            <a:off x="367683" y="2408957"/>
            <a:ext cx="2011800" cy="274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g3c0c338455d_2_124"/>
          <p:cNvSpPr txBox="1"/>
          <p:nvPr/>
        </p:nvSpPr>
        <p:spPr>
          <a:xfrm>
            <a:off x="413403" y="2418101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DC262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과신 위험 (Overconfidence)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83" name="Google Shape;683;g3c0c338455d_2_124"/>
          <p:cNvSpPr/>
          <p:nvPr/>
        </p:nvSpPr>
        <p:spPr>
          <a:xfrm>
            <a:off x="4573923" y="1613429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g3c0c338455d_2_124"/>
          <p:cNvSpPr txBox="1"/>
          <p:nvPr/>
        </p:nvSpPr>
        <p:spPr>
          <a:xfrm>
            <a:off x="4573923" y="16408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DC2626"/>
                </a:solidFill>
                <a:latin typeface="Roboto Black"/>
                <a:ea typeface="Roboto Black"/>
                <a:cs typeface="Roboto Black"/>
                <a:sym typeface="Roboto Black"/>
              </a:rPr>
              <a:t>0.95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85" name="Google Shape;685;g3c0c338455d_2_124"/>
          <p:cNvSpPr txBox="1"/>
          <p:nvPr/>
        </p:nvSpPr>
        <p:spPr>
          <a:xfrm>
            <a:off x="4573923" y="19791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LLM raw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g3c0c338455d_2_124"/>
          <p:cNvSpPr txBox="1"/>
          <p:nvPr/>
        </p:nvSpPr>
        <p:spPr>
          <a:xfrm>
            <a:off x="5579763" y="1659149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g3c0c338455d_2_124"/>
          <p:cNvSpPr/>
          <p:nvPr/>
        </p:nvSpPr>
        <p:spPr>
          <a:xfrm>
            <a:off x="6036963" y="1613429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g3c0c338455d_2_124"/>
          <p:cNvSpPr txBox="1"/>
          <p:nvPr/>
        </p:nvSpPr>
        <p:spPr>
          <a:xfrm>
            <a:off x="6036963" y="16408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DC2626"/>
                </a:solidFill>
                <a:latin typeface="Roboto Black"/>
                <a:ea typeface="Roboto Black"/>
                <a:cs typeface="Roboto Black"/>
                <a:sym typeface="Roboto Black"/>
              </a:rPr>
              <a:t>0.72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89" name="Google Shape;689;g3c0c338455d_2_124"/>
          <p:cNvSpPr txBox="1"/>
          <p:nvPr/>
        </p:nvSpPr>
        <p:spPr>
          <a:xfrm>
            <a:off x="6036963" y="19791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보정 후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g3c0c338455d_2_124"/>
          <p:cNvSpPr txBox="1"/>
          <p:nvPr/>
        </p:nvSpPr>
        <p:spPr>
          <a:xfrm>
            <a:off x="4573923" y="2344949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-0.227 하향 보정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g3c0c338455d_2_124"/>
          <p:cNvSpPr/>
          <p:nvPr/>
        </p:nvSpPr>
        <p:spPr>
          <a:xfrm>
            <a:off x="252113" y="29718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g3c0c338455d_2_124"/>
          <p:cNvSpPr txBox="1"/>
          <p:nvPr/>
        </p:nvSpPr>
        <p:spPr>
          <a:xfrm>
            <a:off x="367683" y="3076469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D97706"/>
                </a:solidFill>
                <a:latin typeface="Roboto Black"/>
                <a:ea typeface="Roboto Black"/>
                <a:cs typeface="Roboto Black"/>
                <a:sym typeface="Roboto Black"/>
              </a:rPr>
              <a:t>환각 완전 차단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93" name="Google Shape;693;g3c0c338455d_2_124"/>
          <p:cNvSpPr txBox="1"/>
          <p:nvPr/>
        </p:nvSpPr>
        <p:spPr>
          <a:xfrm>
            <a:off x="367672" y="3428996"/>
            <a:ext cx="4114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규정 문서가 아예 없는데 LLM이 0.80 확신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근거 없는 판단은 절대 신뢰하지 않는다 → 강제 0.3 캡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g3c0c338455d_2_124"/>
          <p:cNvSpPr/>
          <p:nvPr/>
        </p:nvSpPr>
        <p:spPr>
          <a:xfrm>
            <a:off x="367683" y="4009157"/>
            <a:ext cx="2011800" cy="27420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3c0c338455d_2_124"/>
          <p:cNvSpPr txBox="1"/>
          <p:nvPr/>
        </p:nvSpPr>
        <p:spPr>
          <a:xfrm>
            <a:off x="413403" y="4018301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D9770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환각 위험 (Hallucination)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96" name="Google Shape;696;g3c0c338455d_2_124"/>
          <p:cNvSpPr/>
          <p:nvPr/>
        </p:nvSpPr>
        <p:spPr>
          <a:xfrm>
            <a:off x="4573923" y="3213629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g3c0c338455d_2_124"/>
          <p:cNvSpPr txBox="1"/>
          <p:nvPr/>
        </p:nvSpPr>
        <p:spPr>
          <a:xfrm>
            <a:off x="4573923" y="32410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DC2626"/>
                </a:solidFill>
                <a:latin typeface="Roboto Black"/>
                <a:ea typeface="Roboto Black"/>
                <a:cs typeface="Roboto Black"/>
                <a:sym typeface="Roboto Black"/>
              </a:rPr>
              <a:t>0.80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98" name="Google Shape;698;g3c0c338455d_2_124"/>
          <p:cNvSpPr txBox="1"/>
          <p:nvPr/>
        </p:nvSpPr>
        <p:spPr>
          <a:xfrm>
            <a:off x="4573923" y="35793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LLM raw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g3c0c338455d_2_124"/>
          <p:cNvSpPr txBox="1"/>
          <p:nvPr/>
        </p:nvSpPr>
        <p:spPr>
          <a:xfrm>
            <a:off x="5579763" y="3259349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g3c0c338455d_2_124"/>
          <p:cNvSpPr/>
          <p:nvPr/>
        </p:nvSpPr>
        <p:spPr>
          <a:xfrm>
            <a:off x="6036963" y="3213629"/>
            <a:ext cx="914400" cy="6402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g3c0c338455d_2_124"/>
          <p:cNvSpPr txBox="1"/>
          <p:nvPr/>
        </p:nvSpPr>
        <p:spPr>
          <a:xfrm>
            <a:off x="6036963" y="32410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DC2626"/>
                </a:solidFill>
                <a:latin typeface="Roboto Black"/>
                <a:ea typeface="Roboto Black"/>
                <a:cs typeface="Roboto Black"/>
                <a:sym typeface="Roboto Black"/>
              </a:rPr>
              <a:t>0.30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2" name="Google Shape;702;g3c0c338455d_2_124"/>
          <p:cNvSpPr txBox="1"/>
          <p:nvPr/>
        </p:nvSpPr>
        <p:spPr>
          <a:xfrm>
            <a:off x="6036963" y="35793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보정 후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g3c0c338455d_2_124"/>
          <p:cNvSpPr txBox="1"/>
          <p:nvPr/>
        </p:nvSpPr>
        <p:spPr>
          <a:xfrm>
            <a:off x="4573923" y="3945149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-0.500 대폭 하향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g3c0c338455d_2_124"/>
          <p:cNvSpPr/>
          <p:nvPr/>
        </p:nvSpPr>
        <p:spPr>
          <a:xfrm>
            <a:off x="252113" y="4572000"/>
            <a:ext cx="68580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g3c0c338455d_2_124"/>
          <p:cNvSpPr txBox="1"/>
          <p:nvPr/>
        </p:nvSpPr>
        <p:spPr>
          <a:xfrm>
            <a:off x="367683" y="4676669"/>
            <a:ext cx="3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6A34A"/>
                </a:solidFill>
                <a:latin typeface="Roboto Black"/>
                <a:ea typeface="Roboto Black"/>
                <a:cs typeface="Roboto Black"/>
                <a:sym typeface="Roboto Black"/>
              </a:rPr>
              <a:t>보수적</a:t>
            </a:r>
            <a:r>
              <a:rPr b="1" i="0" lang="en-US" sz="18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 LLM</a:t>
            </a:r>
            <a:r>
              <a:rPr i="0" lang="en-US" sz="1800" u="none" cap="none" strike="noStrike">
                <a:solidFill>
                  <a:srgbClr val="16A34A"/>
                </a:solidFill>
                <a:latin typeface="Roboto Black"/>
                <a:ea typeface="Roboto Black"/>
                <a:cs typeface="Roboto Black"/>
                <a:sym typeface="Roboto Black"/>
              </a:rPr>
              <a:t> 보완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6" name="Google Shape;706;g3c0c338455d_2_124"/>
          <p:cNvSpPr txBox="1"/>
          <p:nvPr/>
        </p:nvSpPr>
        <p:spPr>
          <a:xfrm>
            <a:off x="367672" y="5029196"/>
            <a:ext cx="4114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LLM이 0.50으로 불확실 → 하지만 RAG 점수 0.92로 매우 높음</a:t>
            </a:r>
            <a:b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좋은 근거가 있으면 신뢰도를 올려준다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g3c0c338455d_2_124"/>
          <p:cNvSpPr/>
          <p:nvPr/>
        </p:nvSpPr>
        <p:spPr>
          <a:xfrm>
            <a:off x="367683" y="5609357"/>
            <a:ext cx="2011800" cy="2742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g3c0c338455d_2_124"/>
          <p:cNvSpPr txBox="1"/>
          <p:nvPr/>
        </p:nvSpPr>
        <p:spPr>
          <a:xfrm>
            <a:off x="413403" y="5618501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00" u="none" cap="none" strike="noStrike">
                <a:solidFill>
                  <a:srgbClr val="16A34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보완 효과 (Complementary)</a:t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09" name="Google Shape;709;g3c0c338455d_2_124"/>
          <p:cNvSpPr/>
          <p:nvPr/>
        </p:nvSpPr>
        <p:spPr>
          <a:xfrm>
            <a:off x="4573923" y="4813829"/>
            <a:ext cx="914400" cy="640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g3c0c338455d_2_124"/>
          <p:cNvSpPr txBox="1"/>
          <p:nvPr/>
        </p:nvSpPr>
        <p:spPr>
          <a:xfrm>
            <a:off x="4573923" y="48412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2563EB"/>
                </a:solidFill>
                <a:latin typeface="Roboto Black"/>
                <a:ea typeface="Roboto Black"/>
                <a:cs typeface="Roboto Black"/>
                <a:sym typeface="Roboto Black"/>
              </a:rPr>
              <a:t>0.50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1" name="Google Shape;711;g3c0c338455d_2_124"/>
          <p:cNvSpPr txBox="1"/>
          <p:nvPr/>
        </p:nvSpPr>
        <p:spPr>
          <a:xfrm>
            <a:off x="4573923" y="51795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LLM raw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g3c0c338455d_2_124"/>
          <p:cNvSpPr txBox="1"/>
          <p:nvPr/>
        </p:nvSpPr>
        <p:spPr>
          <a:xfrm>
            <a:off x="5579763" y="4859549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g3c0c338455d_2_124"/>
          <p:cNvSpPr/>
          <p:nvPr/>
        </p:nvSpPr>
        <p:spPr>
          <a:xfrm>
            <a:off x="6036963" y="4813829"/>
            <a:ext cx="914400" cy="64020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3c0c338455d_2_124"/>
          <p:cNvSpPr txBox="1"/>
          <p:nvPr/>
        </p:nvSpPr>
        <p:spPr>
          <a:xfrm>
            <a:off x="6036963" y="4841261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16A34A"/>
                </a:solidFill>
                <a:latin typeface="Roboto Black"/>
                <a:ea typeface="Roboto Black"/>
                <a:cs typeface="Roboto Black"/>
                <a:sym typeface="Roboto Black"/>
              </a:rPr>
              <a:t>0.70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5" name="Google Shape;715;g3c0c338455d_2_124"/>
          <p:cNvSpPr txBox="1"/>
          <p:nvPr/>
        </p:nvSpPr>
        <p:spPr>
          <a:xfrm>
            <a:off x="6036963" y="5179589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055"/>
                </a:solidFill>
                <a:latin typeface="Roboto"/>
                <a:ea typeface="Roboto"/>
                <a:cs typeface="Roboto"/>
                <a:sym typeface="Roboto"/>
              </a:rPr>
              <a:t>보정 후</a:t>
            </a:r>
            <a:endParaRPr b="1">
              <a:solidFill>
                <a:srgbClr val="3340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g3c0c338455d_2_124"/>
          <p:cNvSpPr txBox="1"/>
          <p:nvPr/>
        </p:nvSpPr>
        <p:spPr>
          <a:xfrm>
            <a:off x="4573923" y="5545349"/>
            <a:ext cx="237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+0.200 상향 보정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g3c0c338455d_2_124"/>
          <p:cNvSpPr txBox="1"/>
          <p:nvPr/>
        </p:nvSpPr>
        <p:spPr>
          <a:xfrm>
            <a:off x="7542019" y="710142"/>
            <a:ext cx="411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가중치별 보정값 히트맵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8" name="Google Shape;718;g3c0c338455d_2_124"/>
          <p:cNvSpPr txBox="1"/>
          <p:nvPr/>
        </p:nvSpPr>
        <p:spPr>
          <a:xfrm>
            <a:off x="7581706" y="1075902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c0c338455d_2_124"/>
          <p:cNvSpPr txBox="1"/>
          <p:nvPr/>
        </p:nvSpPr>
        <p:spPr>
          <a:xfrm>
            <a:off x="8730731" y="1075900"/>
            <a:ext cx="545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이상적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c0c338455d_2_124"/>
          <p:cNvSpPr txBox="1"/>
          <p:nvPr/>
        </p:nvSpPr>
        <p:spPr>
          <a:xfrm>
            <a:off x="9312662" y="1075900"/>
            <a:ext cx="545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과신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g3c0c338455d_2_124"/>
          <p:cNvSpPr txBox="1"/>
          <p:nvPr/>
        </p:nvSpPr>
        <p:spPr>
          <a:xfrm>
            <a:off x="9917698" y="956833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근</a:t>
            </a: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거</a:t>
            </a:r>
            <a:endParaRPr b="1" i="0" sz="9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없음                    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g3c0c338455d_2_124"/>
          <p:cNvSpPr txBox="1"/>
          <p:nvPr/>
        </p:nvSpPr>
        <p:spPr>
          <a:xfrm>
            <a:off x="10423608" y="1075900"/>
            <a:ext cx="545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충돌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3c0c338455d_2_124"/>
          <p:cNvSpPr txBox="1"/>
          <p:nvPr/>
        </p:nvSpPr>
        <p:spPr>
          <a:xfrm>
            <a:off x="11005539" y="1075900"/>
            <a:ext cx="545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보수적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g3c0c338455d_2_124"/>
          <p:cNvSpPr txBox="1"/>
          <p:nvPr/>
        </p:nvSpPr>
        <p:spPr>
          <a:xfrm>
            <a:off x="7581706" y="1350222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기대범위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g3c0c338455d_2_124"/>
          <p:cNvSpPr txBox="1"/>
          <p:nvPr/>
        </p:nvSpPr>
        <p:spPr>
          <a:xfrm>
            <a:off x="8733075" y="1350225"/>
            <a:ext cx="64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.85~1.0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g3c0c338455d_2_124"/>
          <p:cNvSpPr txBox="1"/>
          <p:nvPr/>
        </p:nvSpPr>
        <p:spPr>
          <a:xfrm>
            <a:off x="9281803" y="1350225"/>
            <a:ext cx="64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.50~.80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g3c0c338455d_2_124"/>
          <p:cNvSpPr txBox="1"/>
          <p:nvPr/>
        </p:nvSpPr>
        <p:spPr>
          <a:xfrm>
            <a:off x="9830424" y="1350225"/>
            <a:ext cx="64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.00~.35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3c0c338455d_2_124"/>
          <p:cNvSpPr txBox="1"/>
          <p:nvPr/>
        </p:nvSpPr>
        <p:spPr>
          <a:xfrm>
            <a:off x="10379077" y="1350225"/>
            <a:ext cx="64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.40~.75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g3c0c338455d_2_124"/>
          <p:cNvSpPr txBox="1"/>
          <p:nvPr/>
        </p:nvSpPr>
        <p:spPr>
          <a:xfrm>
            <a:off x="10927730" y="1350225"/>
            <a:ext cx="64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.60~.85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g3c0c338455d_2_124"/>
          <p:cNvSpPr txBox="1"/>
          <p:nvPr/>
        </p:nvSpPr>
        <p:spPr>
          <a:xfrm>
            <a:off x="7581706" y="1697694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100%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g3c0c338455d_2_124"/>
          <p:cNvSpPr txBox="1"/>
          <p:nvPr/>
        </p:nvSpPr>
        <p:spPr>
          <a:xfrm>
            <a:off x="8770426" y="169769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g3c0c338455d_2_124"/>
          <p:cNvSpPr txBox="1"/>
          <p:nvPr/>
        </p:nvSpPr>
        <p:spPr>
          <a:xfrm>
            <a:off x="9319066" y="169769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g3c0c338455d_2_124"/>
          <p:cNvSpPr txBox="1"/>
          <p:nvPr/>
        </p:nvSpPr>
        <p:spPr>
          <a:xfrm>
            <a:off x="9867706" y="169769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3c0c338455d_2_124"/>
          <p:cNvSpPr txBox="1"/>
          <p:nvPr/>
        </p:nvSpPr>
        <p:spPr>
          <a:xfrm>
            <a:off x="10416346" y="169769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g3c0c338455d_2_124"/>
          <p:cNvSpPr txBox="1"/>
          <p:nvPr/>
        </p:nvSpPr>
        <p:spPr>
          <a:xfrm>
            <a:off x="10964986" y="169769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.500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g3c0c338455d_2_124"/>
          <p:cNvSpPr txBox="1"/>
          <p:nvPr/>
        </p:nvSpPr>
        <p:spPr>
          <a:xfrm>
            <a:off x="7581706" y="2045166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80/15/5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g3c0c338455d_2_124"/>
          <p:cNvSpPr txBox="1"/>
          <p:nvPr/>
        </p:nvSpPr>
        <p:spPr>
          <a:xfrm>
            <a:off x="8770426" y="204516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.920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g3c0c338455d_2_124"/>
          <p:cNvSpPr txBox="1"/>
          <p:nvPr/>
        </p:nvSpPr>
        <p:spPr>
          <a:xfrm>
            <a:off x="9319066" y="204516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.832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g3c0c338455d_2_124"/>
          <p:cNvSpPr txBox="1"/>
          <p:nvPr/>
        </p:nvSpPr>
        <p:spPr>
          <a:xfrm>
            <a:off x="9867706" y="204516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g3c0c338455d_2_124"/>
          <p:cNvSpPr txBox="1"/>
          <p:nvPr/>
        </p:nvSpPr>
        <p:spPr>
          <a:xfrm>
            <a:off x="10416346" y="204516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.675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g3c0c338455d_2_124"/>
          <p:cNvSpPr txBox="1"/>
          <p:nvPr/>
        </p:nvSpPr>
        <p:spPr>
          <a:xfrm>
            <a:off x="10964986" y="204516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g3c0c338455d_2_124"/>
          <p:cNvSpPr txBox="1"/>
          <p:nvPr/>
        </p:nvSpPr>
        <p:spPr>
          <a:xfrm>
            <a:off x="7581706" y="2392638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70/20/10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g3c0c338455d_2_124"/>
          <p:cNvSpPr txBox="1"/>
          <p:nvPr/>
        </p:nvSpPr>
        <p:spPr>
          <a:xfrm>
            <a:off x="8770426" y="239263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.930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g3c0c338455d_2_124"/>
          <p:cNvSpPr txBox="1"/>
          <p:nvPr/>
        </p:nvSpPr>
        <p:spPr>
          <a:xfrm>
            <a:off x="9319066" y="239263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.777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3c0c338455d_2_124"/>
          <p:cNvSpPr txBox="1"/>
          <p:nvPr/>
        </p:nvSpPr>
        <p:spPr>
          <a:xfrm>
            <a:off x="9867706" y="239263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g3c0c338455d_2_124"/>
          <p:cNvSpPr txBox="1"/>
          <p:nvPr/>
        </p:nvSpPr>
        <p:spPr>
          <a:xfrm>
            <a:off x="10416346" y="239263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.689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g3c0c338455d_2_124"/>
          <p:cNvSpPr txBox="1"/>
          <p:nvPr/>
        </p:nvSpPr>
        <p:spPr>
          <a:xfrm>
            <a:off x="10964986" y="239263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g3c0c338455d_2_124"/>
          <p:cNvSpPr/>
          <p:nvPr/>
        </p:nvSpPr>
        <p:spPr>
          <a:xfrm>
            <a:off x="7490266" y="2712678"/>
            <a:ext cx="4114800" cy="32910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g3c0c338455d_2_124"/>
          <p:cNvSpPr txBox="1"/>
          <p:nvPr/>
        </p:nvSpPr>
        <p:spPr>
          <a:xfrm>
            <a:off x="7581706" y="2740110"/>
            <a:ext cx="109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r>
              <a:rPr b="1" i="0" lang="en-US" sz="10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 ★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g3c0c338455d_2_124"/>
          <p:cNvSpPr txBox="1"/>
          <p:nvPr/>
        </p:nvSpPr>
        <p:spPr>
          <a:xfrm>
            <a:off x="8770426" y="2740110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.940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g3c0c338455d_2_124"/>
          <p:cNvSpPr txBox="1"/>
          <p:nvPr/>
        </p:nvSpPr>
        <p:spPr>
          <a:xfrm>
            <a:off x="9319066" y="2740110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.723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g3c0c338455d_2_124"/>
          <p:cNvSpPr txBox="1"/>
          <p:nvPr/>
        </p:nvSpPr>
        <p:spPr>
          <a:xfrm>
            <a:off x="9867706" y="2740110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g3c0c338455d_2_124"/>
          <p:cNvSpPr txBox="1"/>
          <p:nvPr/>
        </p:nvSpPr>
        <p:spPr>
          <a:xfrm>
            <a:off x="10416346" y="2740110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.702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g3c0c338455d_2_124"/>
          <p:cNvSpPr txBox="1"/>
          <p:nvPr/>
        </p:nvSpPr>
        <p:spPr>
          <a:xfrm>
            <a:off x="10964986" y="2740110"/>
            <a:ext cx="50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g3c0c338455d_2_124"/>
          <p:cNvSpPr txBox="1"/>
          <p:nvPr/>
        </p:nvSpPr>
        <p:spPr>
          <a:xfrm>
            <a:off x="7581706" y="3087581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50/30/20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g3c0c338455d_2_124"/>
          <p:cNvSpPr txBox="1"/>
          <p:nvPr/>
        </p:nvSpPr>
        <p:spPr>
          <a:xfrm>
            <a:off x="8770426" y="3087581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g3c0c338455d_2_124"/>
          <p:cNvSpPr txBox="1"/>
          <p:nvPr/>
        </p:nvSpPr>
        <p:spPr>
          <a:xfrm>
            <a:off x="9319066" y="3087581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.669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g3c0c338455d_2_124"/>
          <p:cNvSpPr txBox="1"/>
          <p:nvPr/>
        </p:nvSpPr>
        <p:spPr>
          <a:xfrm>
            <a:off x="9867706" y="3087581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g3c0c338455d_2_124"/>
          <p:cNvSpPr txBox="1"/>
          <p:nvPr/>
        </p:nvSpPr>
        <p:spPr>
          <a:xfrm>
            <a:off x="10416346" y="3087581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g3c0c338455d_2_124"/>
          <p:cNvSpPr txBox="1"/>
          <p:nvPr/>
        </p:nvSpPr>
        <p:spPr>
          <a:xfrm>
            <a:off x="10964986" y="3087581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g3c0c338455d_2_124"/>
          <p:cNvSpPr txBox="1"/>
          <p:nvPr/>
        </p:nvSpPr>
        <p:spPr>
          <a:xfrm>
            <a:off x="7581706" y="3435054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40/40/20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g3c0c338455d_2_124"/>
          <p:cNvSpPr txBox="1"/>
          <p:nvPr/>
        </p:nvSpPr>
        <p:spPr>
          <a:xfrm>
            <a:off x="8770426" y="343505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.960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g3c0c338455d_2_124"/>
          <p:cNvSpPr txBox="1"/>
          <p:nvPr/>
        </p:nvSpPr>
        <p:spPr>
          <a:xfrm>
            <a:off x="9319066" y="343505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.605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g3c0c338455d_2_124"/>
          <p:cNvSpPr txBox="1"/>
          <p:nvPr/>
        </p:nvSpPr>
        <p:spPr>
          <a:xfrm>
            <a:off x="9867706" y="343505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g3c0c338455d_2_124"/>
          <p:cNvSpPr txBox="1"/>
          <p:nvPr/>
        </p:nvSpPr>
        <p:spPr>
          <a:xfrm>
            <a:off x="10416346" y="343505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.728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g3c0c338455d_2_124"/>
          <p:cNvSpPr txBox="1"/>
          <p:nvPr/>
        </p:nvSpPr>
        <p:spPr>
          <a:xfrm>
            <a:off x="10964986" y="343505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.800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g3c0c338455d_2_124"/>
          <p:cNvSpPr txBox="1"/>
          <p:nvPr/>
        </p:nvSpPr>
        <p:spPr>
          <a:xfrm>
            <a:off x="7581706" y="3782526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33/33/34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g3c0c338455d_2_124"/>
          <p:cNvSpPr txBox="1"/>
          <p:nvPr/>
        </p:nvSpPr>
        <p:spPr>
          <a:xfrm>
            <a:off x="8770426" y="378252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.967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g3c0c338455d_2_124"/>
          <p:cNvSpPr txBox="1"/>
          <p:nvPr/>
        </p:nvSpPr>
        <p:spPr>
          <a:xfrm>
            <a:off x="9319066" y="378252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.587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g3c0c338455d_2_124"/>
          <p:cNvSpPr txBox="1"/>
          <p:nvPr/>
        </p:nvSpPr>
        <p:spPr>
          <a:xfrm>
            <a:off x="9867706" y="378252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.300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g3c0c338455d_2_124"/>
          <p:cNvSpPr txBox="1"/>
          <p:nvPr/>
        </p:nvSpPr>
        <p:spPr>
          <a:xfrm>
            <a:off x="10416346" y="378252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.740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g3c0c338455d_2_124"/>
          <p:cNvSpPr txBox="1"/>
          <p:nvPr/>
        </p:nvSpPr>
        <p:spPr>
          <a:xfrm>
            <a:off x="10964986" y="3782526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.835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g3c0c338455d_2_124"/>
          <p:cNvSpPr txBox="1"/>
          <p:nvPr/>
        </p:nvSpPr>
        <p:spPr>
          <a:xfrm>
            <a:off x="7528790" y="4289531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60/25/15</a:t>
            </a:r>
            <a:r>
              <a:rPr b="1" i="0" lang="en-US" sz="14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가 유일한 만점인 이유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g3c0c338455d_2_124"/>
          <p:cNvSpPr txBox="1"/>
          <p:nvPr/>
        </p:nvSpPr>
        <p:spPr>
          <a:xfrm>
            <a:off x="7581706" y="459634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g3c0c338455d_2_124"/>
          <p:cNvSpPr txBox="1"/>
          <p:nvPr/>
        </p:nvSpPr>
        <p:spPr>
          <a:xfrm>
            <a:off x="8587546" y="459634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극도 과신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g3c0c338455d_2_124"/>
          <p:cNvSpPr txBox="1"/>
          <p:nvPr/>
        </p:nvSpPr>
        <p:spPr>
          <a:xfrm>
            <a:off x="9593386" y="459634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극도 불확실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g3c0c338455d_2_124"/>
          <p:cNvSpPr txBox="1"/>
          <p:nvPr/>
        </p:nvSpPr>
        <p:spPr>
          <a:xfrm>
            <a:off x="10599226" y="4596342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모든것 중간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g3c0c338455d_2_124"/>
          <p:cNvSpPr txBox="1"/>
          <p:nvPr/>
        </p:nvSpPr>
        <p:spPr>
          <a:xfrm>
            <a:off x="7581706" y="484323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기대범위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g3c0c338455d_2_124"/>
          <p:cNvSpPr txBox="1"/>
          <p:nvPr/>
        </p:nvSpPr>
        <p:spPr>
          <a:xfrm>
            <a:off x="8587546" y="484323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.40~.75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g3c0c338455d_2_124"/>
          <p:cNvSpPr txBox="1"/>
          <p:nvPr/>
        </p:nvSpPr>
        <p:spPr>
          <a:xfrm>
            <a:off x="9593386" y="484323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.45~.75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g3c0c338455d_2_124"/>
          <p:cNvSpPr txBox="1"/>
          <p:nvPr/>
        </p:nvSpPr>
        <p:spPr>
          <a:xfrm>
            <a:off x="10599226" y="484323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.45~.70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g3c0c338455d_2_124"/>
          <p:cNvSpPr txBox="1"/>
          <p:nvPr/>
        </p:nvSpPr>
        <p:spPr>
          <a:xfrm>
            <a:off x="7581706" y="511754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80/15/5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g3c0c338455d_2_124"/>
          <p:cNvSpPr txBox="1"/>
          <p:nvPr/>
        </p:nvSpPr>
        <p:spPr>
          <a:xfrm>
            <a:off x="8587546" y="511754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.845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g3c0c338455d_2_124"/>
          <p:cNvSpPr txBox="1"/>
          <p:nvPr/>
        </p:nvSpPr>
        <p:spPr>
          <a:xfrm>
            <a:off x="9593386" y="511754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.440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g3c0c338455d_2_124"/>
          <p:cNvSpPr txBox="1"/>
          <p:nvPr/>
        </p:nvSpPr>
        <p:spPr>
          <a:xfrm>
            <a:off x="10599226" y="511754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.638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g3c0c338455d_2_124"/>
          <p:cNvSpPr/>
          <p:nvPr/>
        </p:nvSpPr>
        <p:spPr>
          <a:xfrm>
            <a:off x="7490266" y="5373582"/>
            <a:ext cx="4114800" cy="25590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g3c0c338455d_2_124"/>
          <p:cNvSpPr txBox="1"/>
          <p:nvPr/>
        </p:nvSpPr>
        <p:spPr>
          <a:xfrm>
            <a:off x="7581706" y="539186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r>
              <a:rPr b="1" i="0" lang="en-US" sz="900" u="none" cap="none" strike="noStrik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 ★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g3c0c338455d_2_124"/>
          <p:cNvSpPr txBox="1"/>
          <p:nvPr/>
        </p:nvSpPr>
        <p:spPr>
          <a:xfrm>
            <a:off x="8587546" y="539186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.716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g3c0c338455d_2_124"/>
          <p:cNvSpPr txBox="1"/>
          <p:nvPr/>
        </p:nvSpPr>
        <p:spPr>
          <a:xfrm>
            <a:off x="9593386" y="539186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.580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g3c0c338455d_2_124"/>
          <p:cNvSpPr txBox="1"/>
          <p:nvPr/>
        </p:nvSpPr>
        <p:spPr>
          <a:xfrm>
            <a:off x="10599226" y="5391869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Roboto"/>
                <a:ea typeface="Roboto"/>
                <a:cs typeface="Roboto"/>
                <a:sym typeface="Roboto"/>
              </a:rPr>
              <a:t>.690 ✓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g3c0c338455d_2_124"/>
          <p:cNvSpPr txBox="1"/>
          <p:nvPr/>
        </p:nvSpPr>
        <p:spPr>
          <a:xfrm>
            <a:off x="7581706" y="566619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50/30/20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g3c0c338455d_2_124"/>
          <p:cNvSpPr txBox="1"/>
          <p:nvPr/>
        </p:nvSpPr>
        <p:spPr>
          <a:xfrm>
            <a:off x="8587546" y="566619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.651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g3c0c338455d_2_124"/>
          <p:cNvSpPr txBox="1"/>
          <p:nvPr/>
        </p:nvSpPr>
        <p:spPr>
          <a:xfrm>
            <a:off x="9593386" y="566619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.650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g3c0c338455d_2_124"/>
          <p:cNvSpPr txBox="1"/>
          <p:nvPr/>
        </p:nvSpPr>
        <p:spPr>
          <a:xfrm>
            <a:off x="10599226" y="566619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.716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g3c0c338455d_2_124"/>
          <p:cNvSpPr txBox="1"/>
          <p:nvPr/>
        </p:nvSpPr>
        <p:spPr>
          <a:xfrm>
            <a:off x="7581706" y="594051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33/33/34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g3c0c338455d_2_124"/>
          <p:cNvSpPr txBox="1"/>
          <p:nvPr/>
        </p:nvSpPr>
        <p:spPr>
          <a:xfrm>
            <a:off x="8587546" y="594051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.559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g3c0c338455d_2_124"/>
          <p:cNvSpPr txBox="1"/>
          <p:nvPr/>
        </p:nvSpPr>
        <p:spPr>
          <a:xfrm>
            <a:off x="9593386" y="594051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.769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g3c0c338455d_2_124"/>
          <p:cNvSpPr txBox="1"/>
          <p:nvPr/>
        </p:nvSpPr>
        <p:spPr>
          <a:xfrm>
            <a:off x="10599226" y="5940510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.775 ✗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g3c0c338455d_2_124"/>
          <p:cNvSpPr/>
          <p:nvPr/>
        </p:nvSpPr>
        <p:spPr>
          <a:xfrm>
            <a:off x="548640" y="6362277"/>
            <a:ext cx="11155800" cy="411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g3c0c338455d_2_124"/>
          <p:cNvSpPr txBox="1"/>
          <p:nvPr/>
        </p:nvSpPr>
        <p:spPr>
          <a:xfrm>
            <a:off x="597070" y="6389667"/>
            <a:ext cx="1078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60/25/15</a:t>
            </a:r>
            <a:r>
              <a:rPr b="1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는 10개 시나리오 모두에서 기대 방향 + 합리적 범위를 만족하는 유일한 조</a:t>
            </a:r>
            <a:r>
              <a:rPr b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합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g3c0c338455d_2_124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6" name="Google Shape;806;p8"/>
          <p:cNvGraphicFramePr/>
          <p:nvPr/>
        </p:nvGraphicFramePr>
        <p:xfrm>
          <a:off x="762000" y="19381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{50BAB46F-39B1-478F-BC96-D6E6CAD747A2}</a:tableStyleId>
              </a:tblPr>
              <a:tblGrid>
                <a:gridCol w="2133600"/>
                <a:gridCol w="4267200"/>
                <a:gridCol w="4267200"/>
              </a:tblGrid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303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일반 RAG 챗봇</a:t>
                      </a:r>
                      <a:endParaRPr b="0" sz="1400" u="none" cap="none" strike="noStrike">
                        <a:solidFill>
                          <a:srgbClr val="2F303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2D58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WorkFlow Agent</a:t>
                      </a:r>
                      <a:endParaRPr sz="1400" u="none" cap="none" strike="noStrike">
                        <a:solidFill>
                          <a:srgbClr val="2D58B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Intent 분류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LLM API 의존 (비용 발생, </a:t>
                      </a:r>
                      <a:r>
                        <a:rPr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보안</a:t>
                      </a: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KoELECTRA 파인튜닝 (7.9ms, 무료)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환각 방지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프롬프트 제어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4층 가드 시스템 (Cross-check 등)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규정 판단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문서 기반 단순 검색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다중 규정 교차 판단 (충돌/보완 분석)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불확실 처리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할루시네이션 </a:t>
                      </a: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답변 생성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Clarify 라우팅 (모르면 되묻기)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일정 관리</a:t>
                      </a:r>
                      <a:endParaRPr b="1"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i="0" lang="en-US" sz="135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단일 캘린더 등록 수준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서비스 통합 연쇄 동작</a:t>
                      </a:r>
                      <a:endParaRPr b="1" sz="1400" u="none" cap="none" strike="noStrike">
                        <a:solidFill>
                          <a:srgbClr val="1E293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807" name="Google Shape;8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4802" y="6051971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8"/>
          <p:cNvSpPr/>
          <p:nvPr/>
        </p:nvSpPr>
        <p:spPr>
          <a:xfrm>
            <a:off x="762000" y="2531555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8"/>
          <p:cNvSpPr/>
          <p:nvPr/>
        </p:nvSpPr>
        <p:spPr>
          <a:xfrm>
            <a:off x="2895600" y="2531555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8"/>
          <p:cNvSpPr/>
          <p:nvPr/>
        </p:nvSpPr>
        <p:spPr>
          <a:xfrm>
            <a:off x="7162800" y="2531555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8"/>
          <p:cNvSpPr/>
          <p:nvPr/>
        </p:nvSpPr>
        <p:spPr>
          <a:xfrm>
            <a:off x="762000" y="3120171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8"/>
          <p:cNvSpPr/>
          <p:nvPr/>
        </p:nvSpPr>
        <p:spPr>
          <a:xfrm>
            <a:off x="2895600" y="3120171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8"/>
          <p:cNvSpPr/>
          <p:nvPr/>
        </p:nvSpPr>
        <p:spPr>
          <a:xfrm>
            <a:off x="7162800" y="3120171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8"/>
          <p:cNvSpPr/>
          <p:nvPr/>
        </p:nvSpPr>
        <p:spPr>
          <a:xfrm>
            <a:off x="762000" y="3708786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8"/>
          <p:cNvSpPr/>
          <p:nvPr/>
        </p:nvSpPr>
        <p:spPr>
          <a:xfrm>
            <a:off x="2895600" y="3708786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8"/>
          <p:cNvSpPr/>
          <p:nvPr/>
        </p:nvSpPr>
        <p:spPr>
          <a:xfrm>
            <a:off x="7162800" y="3708786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8"/>
          <p:cNvSpPr/>
          <p:nvPr/>
        </p:nvSpPr>
        <p:spPr>
          <a:xfrm>
            <a:off x="762000" y="4297401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8"/>
          <p:cNvSpPr/>
          <p:nvPr/>
        </p:nvSpPr>
        <p:spPr>
          <a:xfrm>
            <a:off x="2895600" y="4297401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8"/>
          <p:cNvSpPr/>
          <p:nvPr/>
        </p:nvSpPr>
        <p:spPr>
          <a:xfrm>
            <a:off x="7162800" y="4297401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8"/>
          <p:cNvSpPr/>
          <p:nvPr/>
        </p:nvSpPr>
        <p:spPr>
          <a:xfrm>
            <a:off x="762000" y="4886016"/>
            <a:ext cx="213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8"/>
          <p:cNvSpPr/>
          <p:nvPr/>
        </p:nvSpPr>
        <p:spPr>
          <a:xfrm>
            <a:off x="2895600" y="4886016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8"/>
          <p:cNvSpPr/>
          <p:nvPr/>
        </p:nvSpPr>
        <p:spPr>
          <a:xfrm>
            <a:off x="7162800" y="4886016"/>
            <a:ext cx="42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8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  <p:sp>
        <p:nvSpPr>
          <p:cNvPr id="824" name="Google Shape;824;p8"/>
          <p:cNvSpPr txBox="1"/>
          <p:nvPr/>
        </p:nvSpPr>
        <p:spPr>
          <a:xfrm>
            <a:off x="834475" y="409800"/>
            <a:ext cx="70593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WorkFlow Agent</a:t>
            </a:r>
            <a:r>
              <a:rPr b="1" lang="en-US" sz="27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27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vs 일반 챗봇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2700">
              <a:solidFill>
                <a:srgbClr val="1E293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0c338455d_21_467"/>
          <p:cNvSpPr/>
          <p:nvPr/>
        </p:nvSpPr>
        <p:spPr>
          <a:xfrm>
            <a:off x="824355" y="89164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마일스톤 기준  |  45개 이슈 중 31개 완료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c0c338455d_21_467"/>
          <p:cNvSpPr/>
          <p:nvPr/>
        </p:nvSpPr>
        <p:spPr>
          <a:xfrm>
            <a:off x="1265412" y="1383225"/>
            <a:ext cx="2743200" cy="192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c0c338455d_21_467"/>
          <p:cNvSpPr/>
          <p:nvPr/>
        </p:nvSpPr>
        <p:spPr>
          <a:xfrm>
            <a:off x="1616528" y="1456377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진행률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c0c338455d_21_467"/>
          <p:cNvSpPr/>
          <p:nvPr/>
        </p:nvSpPr>
        <p:spPr>
          <a:xfrm>
            <a:off x="1606830" y="170326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68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c0c338455d_21_467"/>
          <p:cNvSpPr/>
          <p:nvPr/>
        </p:nvSpPr>
        <p:spPr>
          <a:xfrm>
            <a:off x="3024150" y="1748985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D58B8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c0c338455d_21_467"/>
          <p:cNvSpPr/>
          <p:nvPr/>
        </p:nvSpPr>
        <p:spPr>
          <a:xfrm>
            <a:off x="1616528" y="2617665"/>
            <a:ext cx="2011800" cy="91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c0c338455d_21_467"/>
          <p:cNvSpPr/>
          <p:nvPr/>
        </p:nvSpPr>
        <p:spPr>
          <a:xfrm>
            <a:off x="1616528" y="2617665"/>
            <a:ext cx="1368000" cy="91500"/>
          </a:xfrm>
          <a:prstGeom prst="rect">
            <a:avLst/>
          </a:prstGeom>
          <a:solidFill>
            <a:srgbClr val="2D58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c0c338455d_21_467"/>
          <p:cNvSpPr/>
          <p:nvPr/>
        </p:nvSpPr>
        <p:spPr>
          <a:xfrm>
            <a:off x="1616528" y="2754825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31 완료  /  14 남음  /  45 전체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c0c338455d_21_467"/>
          <p:cNvSpPr/>
          <p:nvPr/>
        </p:nvSpPr>
        <p:spPr>
          <a:xfrm>
            <a:off x="1616528" y="2983425"/>
            <a:ext cx="2011800" cy="1830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c0c338455d_21_467"/>
          <p:cNvSpPr/>
          <p:nvPr/>
        </p:nvSpPr>
        <p:spPr>
          <a:xfrm>
            <a:off x="1616528" y="2983425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현재: 3단계 완료 · 4단계 착수 예정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c0c338455d_21_467"/>
          <p:cNvSpPr/>
          <p:nvPr/>
        </p:nvSpPr>
        <p:spPr>
          <a:xfrm>
            <a:off x="4282887" y="1383225"/>
            <a:ext cx="6573900" cy="1920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c0c338455d_21_467"/>
          <p:cNvSpPr/>
          <p:nvPr/>
        </p:nvSpPr>
        <p:spPr>
          <a:xfrm>
            <a:off x="4511478" y="1456377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718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마일스톤별 진행률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c0c338455d_21_467"/>
          <p:cNvSpPr/>
          <p:nvPr/>
        </p:nvSpPr>
        <p:spPr>
          <a:xfrm>
            <a:off x="4511478" y="1794705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 설계·환경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c0c338455d_21_467"/>
          <p:cNvSpPr/>
          <p:nvPr/>
        </p:nvSpPr>
        <p:spPr>
          <a:xfrm>
            <a:off x="6079989" y="1831275"/>
            <a:ext cx="3703200" cy="1098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c0c338455d_21_467"/>
          <p:cNvSpPr/>
          <p:nvPr/>
        </p:nvSpPr>
        <p:spPr>
          <a:xfrm>
            <a:off x="9874601" y="1794705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c0c338455d_21_467"/>
          <p:cNvSpPr/>
          <p:nvPr/>
        </p:nvSpPr>
        <p:spPr>
          <a:xfrm>
            <a:off x="10354793" y="1794705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6/6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c0c338455d_21_467"/>
          <p:cNvSpPr/>
          <p:nvPr/>
        </p:nvSpPr>
        <p:spPr>
          <a:xfrm>
            <a:off x="4511478" y="2041593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 기반+LLM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c0c338455d_21_467"/>
          <p:cNvSpPr/>
          <p:nvPr/>
        </p:nvSpPr>
        <p:spPr>
          <a:xfrm>
            <a:off x="6079989" y="2078165"/>
            <a:ext cx="3703200" cy="1098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c0c338455d_21_467"/>
          <p:cNvSpPr/>
          <p:nvPr/>
        </p:nvSpPr>
        <p:spPr>
          <a:xfrm>
            <a:off x="9874601" y="2041593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c0c338455d_21_467"/>
          <p:cNvSpPr/>
          <p:nvPr/>
        </p:nvSpPr>
        <p:spPr>
          <a:xfrm>
            <a:off x="10354793" y="2041593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7/7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c0c338455d_21_467"/>
          <p:cNvSpPr/>
          <p:nvPr/>
        </p:nvSpPr>
        <p:spPr>
          <a:xfrm>
            <a:off x="4511478" y="2288481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  Agent 개발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c0c338455d_21_467"/>
          <p:cNvSpPr/>
          <p:nvPr/>
        </p:nvSpPr>
        <p:spPr>
          <a:xfrm>
            <a:off x="6079989" y="2325055"/>
            <a:ext cx="3703200" cy="1098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c0c338455d_21_467"/>
          <p:cNvSpPr/>
          <p:nvPr/>
        </p:nvSpPr>
        <p:spPr>
          <a:xfrm>
            <a:off x="9874601" y="2288481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0B432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c0c338455d_21_467"/>
          <p:cNvSpPr/>
          <p:nvPr/>
        </p:nvSpPr>
        <p:spPr>
          <a:xfrm>
            <a:off x="10354793" y="2288481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15/15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c0c338455d_21_467"/>
          <p:cNvSpPr/>
          <p:nvPr/>
        </p:nvSpPr>
        <p:spPr>
          <a:xfrm>
            <a:off x="4511478" y="2535369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  sLLM 파인튜닝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c0c338455d_21_467"/>
          <p:cNvSpPr/>
          <p:nvPr/>
        </p:nvSpPr>
        <p:spPr>
          <a:xfrm>
            <a:off x="6079989" y="2571945"/>
            <a:ext cx="3703200" cy="109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c0c338455d_21_467"/>
          <p:cNvSpPr/>
          <p:nvPr/>
        </p:nvSpPr>
        <p:spPr>
          <a:xfrm>
            <a:off x="9874601" y="2535369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D561B"/>
                </a:solidFill>
                <a:latin typeface="Roboto"/>
                <a:ea typeface="Roboto"/>
                <a:cs typeface="Roboto"/>
                <a:sym typeface="Roboto"/>
              </a:rPr>
              <a:t>0%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c0c338455d_21_467"/>
          <p:cNvSpPr/>
          <p:nvPr/>
        </p:nvSpPr>
        <p:spPr>
          <a:xfrm>
            <a:off x="10354793" y="2535369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0/8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c0c338455d_21_467"/>
          <p:cNvSpPr/>
          <p:nvPr/>
        </p:nvSpPr>
        <p:spPr>
          <a:xfrm>
            <a:off x="4511478" y="2782257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5단계  통합·테스트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c0c338455d_21_467"/>
          <p:cNvSpPr/>
          <p:nvPr/>
        </p:nvSpPr>
        <p:spPr>
          <a:xfrm>
            <a:off x="6696182" y="2818833"/>
            <a:ext cx="3087000" cy="109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c0c338455d_21_467"/>
          <p:cNvSpPr/>
          <p:nvPr/>
        </p:nvSpPr>
        <p:spPr>
          <a:xfrm>
            <a:off x="6079989" y="2818834"/>
            <a:ext cx="1481400" cy="109800"/>
          </a:xfrm>
          <a:prstGeom prst="rect">
            <a:avLst/>
          </a:prstGeom>
          <a:solidFill>
            <a:srgbClr val="F0A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c0c338455d_21_467"/>
          <p:cNvSpPr/>
          <p:nvPr/>
        </p:nvSpPr>
        <p:spPr>
          <a:xfrm>
            <a:off x="9874601" y="2782257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0AD4E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c0c338455d_21_467"/>
          <p:cNvSpPr/>
          <p:nvPr/>
        </p:nvSpPr>
        <p:spPr>
          <a:xfrm>
            <a:off x="10354793" y="2782257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2/5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c0c338455d_21_467"/>
          <p:cNvSpPr/>
          <p:nvPr/>
        </p:nvSpPr>
        <p:spPr>
          <a:xfrm>
            <a:off x="4511478" y="3029145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6단계  배포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c0c338455d_21_467"/>
          <p:cNvSpPr/>
          <p:nvPr/>
        </p:nvSpPr>
        <p:spPr>
          <a:xfrm>
            <a:off x="6696704" y="3065721"/>
            <a:ext cx="3087000" cy="10980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c0c338455d_21_467"/>
          <p:cNvSpPr/>
          <p:nvPr/>
        </p:nvSpPr>
        <p:spPr>
          <a:xfrm>
            <a:off x="6079989" y="3065724"/>
            <a:ext cx="925500" cy="109800"/>
          </a:xfrm>
          <a:prstGeom prst="rect">
            <a:avLst/>
          </a:prstGeom>
          <a:solidFill>
            <a:srgbClr val="ED56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c0c338455d_21_467"/>
          <p:cNvSpPr/>
          <p:nvPr/>
        </p:nvSpPr>
        <p:spPr>
          <a:xfrm>
            <a:off x="9874601" y="3029145"/>
            <a:ext cx="5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D561B"/>
                </a:solidFill>
                <a:latin typeface="Roboto"/>
                <a:ea typeface="Roboto"/>
                <a:cs typeface="Roboto"/>
                <a:sym typeface="Roboto"/>
              </a:rPr>
              <a:t>25%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c0c338455d_21_467"/>
          <p:cNvSpPr/>
          <p:nvPr/>
        </p:nvSpPr>
        <p:spPr>
          <a:xfrm>
            <a:off x="10354793" y="3029145"/>
            <a:ext cx="5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rPr>
              <a:t>1/4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c0c338455d_21_467"/>
          <p:cNvSpPr/>
          <p:nvPr/>
        </p:nvSpPr>
        <p:spPr>
          <a:xfrm>
            <a:off x="1252752" y="3451200"/>
            <a:ext cx="4660500" cy="328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c0c338455d_21_467"/>
          <p:cNvSpPr/>
          <p:nvPr/>
        </p:nvSpPr>
        <p:spPr>
          <a:xfrm>
            <a:off x="1252852" y="3451200"/>
            <a:ext cx="45600" cy="32829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c0c338455d_21_467"/>
          <p:cNvSpPr/>
          <p:nvPr/>
        </p:nvSpPr>
        <p:spPr>
          <a:xfrm>
            <a:off x="1481357" y="3515202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300" u="none" cap="none" strike="noStrike">
                <a:solidFill>
                  <a:srgbClr val="50B43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COMPLETED  (31 이슈)</a:t>
            </a:r>
            <a:endParaRPr i="0" sz="13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0" name="Google Shape;870;g3c0c338455d_21_467"/>
          <p:cNvSpPr/>
          <p:nvPr/>
        </p:nvSpPr>
        <p:spPr>
          <a:xfrm>
            <a:off x="1481357" y="3844386"/>
            <a:ext cx="731400" cy="183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1" name="Google Shape;871;g3c0c338455d_21_467"/>
          <p:cNvSpPr/>
          <p:nvPr/>
        </p:nvSpPr>
        <p:spPr>
          <a:xfrm>
            <a:off x="1481357" y="3844386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AI / ML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2" name="Google Shape;872;g3c0c338455d_21_467"/>
          <p:cNvSpPr/>
          <p:nvPr/>
        </p:nvSpPr>
        <p:spPr>
          <a:xfrm>
            <a:off x="1572797" y="4072986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KoELECTRA Intent 분류 파인튜닝 완료 — F1 97.88%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3" name="Google Shape;873;g3c0c338455d_21_467"/>
          <p:cNvSpPr/>
          <p:nvPr/>
        </p:nvSpPr>
        <p:spPr>
          <a:xfrm>
            <a:off x="1572797" y="4265010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3개 Agent(판단/문서/일정) LLM API 기반 동작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4" name="Google Shape;874;g3c0c338455d_21_467"/>
          <p:cNvSpPr/>
          <p:nvPr/>
        </p:nvSpPr>
        <p:spPr>
          <a:xfrm>
            <a:off x="1572797" y="4457034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RAG 하이브리드 검색 (BM25 + Qdrant + RRF)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5" name="Google Shape;875;g3c0c338455d_21_467"/>
          <p:cNvSpPr/>
          <p:nvPr/>
        </p:nvSpPr>
        <p:spPr>
          <a:xfrm>
            <a:off x="1572797" y="4649058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LLM 공통 모듈 — GPT/Claude 교체 가능 구조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6" name="Google Shape;876;g3c0c338455d_21_467"/>
          <p:cNvSpPr/>
          <p:nvPr/>
        </p:nvSpPr>
        <p:spPr>
          <a:xfrm>
            <a:off x="1481357" y="4914234"/>
            <a:ext cx="731400" cy="183000"/>
          </a:xfrm>
          <a:prstGeom prst="rect">
            <a:avLst/>
          </a:prstGeom>
          <a:solidFill>
            <a:srgbClr val="50B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7" name="Google Shape;877;g3c0c338455d_21_467"/>
          <p:cNvSpPr/>
          <p:nvPr/>
        </p:nvSpPr>
        <p:spPr>
          <a:xfrm>
            <a:off x="1481357" y="4914234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8" name="Google Shape;878;g3c0c338455d_21_467"/>
          <p:cNvSpPr/>
          <p:nvPr/>
        </p:nvSpPr>
        <p:spPr>
          <a:xfrm>
            <a:off x="1572797" y="5142834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FastAPI 11 라우터 + PostgreSQL 12T + JWT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79" name="Google Shape;879;g3c0c338455d_21_467"/>
          <p:cNvSpPr/>
          <p:nvPr/>
        </p:nvSpPr>
        <p:spPr>
          <a:xfrm>
            <a:off x="1572804" y="5334850"/>
            <a:ext cx="4465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Google </a:t>
            </a:r>
            <a:r>
              <a:rPr lang="en-US" sz="100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종 통합 (Calendar/Tasks/Gmail/Sheets/</a:t>
            </a:r>
            <a:r>
              <a:rPr lang="en-US" sz="100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Meeting</a:t>
            </a: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0" name="Google Shape;880;g3c0c338455d_21_467"/>
          <p:cNvSpPr/>
          <p:nvPr/>
        </p:nvSpPr>
        <p:spPr>
          <a:xfrm>
            <a:off x="1481357" y="5600034"/>
            <a:ext cx="731400" cy="183000"/>
          </a:xfrm>
          <a:prstGeom prst="rect">
            <a:avLst/>
          </a:prstGeom>
          <a:solidFill>
            <a:srgbClr val="F0A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1" name="Google Shape;881;g3c0c338455d_21_467"/>
          <p:cNvSpPr/>
          <p:nvPr/>
        </p:nvSpPr>
        <p:spPr>
          <a:xfrm>
            <a:off x="1481357" y="5600034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2" name="Google Shape;882;g3c0c338455d_21_467"/>
          <p:cNvSpPr/>
          <p:nvPr/>
        </p:nvSpPr>
        <p:spPr>
          <a:xfrm>
            <a:off x="1572797" y="5828634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React 11페이지 + SSE 챗봇 카드 UI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3" name="Google Shape;883;g3c0c338455d_21_467"/>
          <p:cNvSpPr/>
          <p:nvPr/>
        </p:nvSpPr>
        <p:spPr>
          <a:xfrm>
            <a:off x="1572797" y="6020658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대시보드 14위젯 + FullCalendar + 관리자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4" name="Google Shape;884;g3c0c338455d_21_467"/>
          <p:cNvSpPr/>
          <p:nvPr/>
        </p:nvSpPr>
        <p:spPr>
          <a:xfrm>
            <a:off x="1822757" y="6404710"/>
            <a:ext cx="3520500" cy="2013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5" name="Google Shape;885;g3c0c338455d_21_467"/>
          <p:cNvSpPr/>
          <p:nvPr/>
        </p:nvSpPr>
        <p:spPr>
          <a:xfrm>
            <a:off x="1822757" y="6416326"/>
            <a:ext cx="352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i="0" lang="en-US" sz="950" u="none" cap="none" strike="noStrike">
                <a:solidFill>
                  <a:srgbClr val="50B432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E2E 파이프라인 완료 + AWS CI/CD 배포 중</a:t>
            </a:r>
            <a:endParaRPr i="0" sz="95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6" name="Google Shape;886;g3c0c338455d_21_467"/>
          <p:cNvSpPr/>
          <p:nvPr/>
        </p:nvSpPr>
        <p:spPr>
          <a:xfrm>
            <a:off x="6209049" y="3451200"/>
            <a:ext cx="4660500" cy="328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g3c0c338455d_21_467"/>
          <p:cNvSpPr/>
          <p:nvPr/>
        </p:nvSpPr>
        <p:spPr>
          <a:xfrm>
            <a:off x="6208949" y="3451200"/>
            <a:ext cx="45600" cy="3282900"/>
          </a:xfrm>
          <a:prstGeom prst="rect">
            <a:avLst/>
          </a:prstGeom>
          <a:solidFill>
            <a:srgbClr val="ED56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c0c338455d_21_467"/>
          <p:cNvSpPr/>
          <p:nvPr/>
        </p:nvSpPr>
        <p:spPr>
          <a:xfrm>
            <a:off x="6437644" y="3515202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US" sz="1300" u="none" cap="none" strike="noStrike">
                <a:solidFill>
                  <a:srgbClr val="ED561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UPCOMING  (14 이슈 )</a:t>
            </a:r>
            <a:endParaRPr i="0" sz="13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89" name="Google Shape;889;g3c0c338455d_21_467"/>
          <p:cNvSpPr/>
          <p:nvPr/>
        </p:nvSpPr>
        <p:spPr>
          <a:xfrm>
            <a:off x="6437644" y="3816211"/>
            <a:ext cx="502800" cy="183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0" name="Google Shape;890;g3c0c338455d_21_467"/>
          <p:cNvSpPr/>
          <p:nvPr/>
        </p:nvSpPr>
        <p:spPr>
          <a:xfrm>
            <a:off x="6437644" y="381621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NEXT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1" name="Google Shape;891;g3c0c338455d_21_467"/>
          <p:cNvSpPr/>
          <p:nvPr/>
        </p:nvSpPr>
        <p:spPr>
          <a:xfrm>
            <a:off x="7032004" y="3816211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4~6주차</a:t>
            </a:r>
            <a:endParaRPr i="0" sz="1200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2" name="Google Shape;892;g3c0c338455d_21_467"/>
          <p:cNvSpPr/>
          <p:nvPr/>
        </p:nvSpPr>
        <p:spPr>
          <a:xfrm>
            <a:off x="6574804" y="4063099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데이터 수집 + 변환 (판단/문서 JSONL)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3" name="Google Shape;893;g3c0c338455d_21_467"/>
          <p:cNvSpPr/>
          <p:nvPr/>
        </p:nvSpPr>
        <p:spPr>
          <a:xfrm>
            <a:off x="6574804" y="4255123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LoRA 파인튜닝 (판단 Agent + 문서 Agent)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4" name="Google Shape;894;g3c0c338455d_21_467"/>
          <p:cNvSpPr/>
          <p:nvPr/>
        </p:nvSpPr>
        <p:spPr>
          <a:xfrm>
            <a:off x="6574804" y="4447147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Intent 분류 강화 (복합질문 + 멀티턴)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5" name="Google Shape;895;g3c0c338455d_21_467"/>
          <p:cNvSpPr/>
          <p:nvPr/>
        </p:nvSpPr>
        <p:spPr>
          <a:xfrm>
            <a:off x="6574804" y="4639171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챗봇 강화 (chat history + 답변 품질)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6" name="Google Shape;896;g3c0c338455d_21_467"/>
          <p:cNvSpPr/>
          <p:nvPr/>
        </p:nvSpPr>
        <p:spPr>
          <a:xfrm>
            <a:off x="6437644" y="4940923"/>
            <a:ext cx="502800" cy="183000"/>
          </a:xfrm>
          <a:prstGeom prst="rect">
            <a:avLst/>
          </a:prstGeom>
          <a:solidFill>
            <a:srgbClr val="5C71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7" name="Google Shape;897;g3c0c338455d_21_467"/>
          <p:cNvSpPr/>
          <p:nvPr/>
        </p:nvSpPr>
        <p:spPr>
          <a:xfrm>
            <a:off x="6437644" y="4940923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PLAN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8" name="Google Shape;898;g3c0c338455d_21_467"/>
          <p:cNvSpPr/>
          <p:nvPr/>
        </p:nvSpPr>
        <p:spPr>
          <a:xfrm>
            <a:off x="7032004" y="49409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6~7주차</a:t>
            </a:r>
            <a:endParaRPr i="0" sz="1200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99" name="Google Shape;899;g3c0c338455d_21_467"/>
          <p:cNvSpPr/>
          <p:nvPr/>
        </p:nvSpPr>
        <p:spPr>
          <a:xfrm>
            <a:off x="6574804" y="5187811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vLLM 서빙 + LLM→sLLM 교체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0" name="Google Shape;900;g3c0c338455d_21_467"/>
          <p:cNvSpPr/>
          <p:nvPr/>
        </p:nvSpPr>
        <p:spPr>
          <a:xfrm>
            <a:off x="6574804" y="5379835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lang="en-US" sz="1000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서비스 팀 단위로 확장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1" name="Google Shape;901;g3c0c338455d_21_467"/>
          <p:cNvSpPr/>
          <p:nvPr/>
        </p:nvSpPr>
        <p:spPr>
          <a:xfrm>
            <a:off x="6574804" y="5571859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성능 평가 리포트 (판단/RAG/문서)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2" name="Google Shape;902;g3c0c338455d_21_467"/>
          <p:cNvSpPr/>
          <p:nvPr/>
        </p:nvSpPr>
        <p:spPr>
          <a:xfrm>
            <a:off x="6437644" y="5873611"/>
            <a:ext cx="502800" cy="18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3" name="Google Shape;903;g3c0c338455d_21_467"/>
          <p:cNvSpPr/>
          <p:nvPr/>
        </p:nvSpPr>
        <p:spPr>
          <a:xfrm>
            <a:off x="6437644" y="587361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FINAL</a:t>
            </a:r>
            <a:endParaRPr i="0" sz="9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4" name="Google Shape;904;g3c0c338455d_21_467"/>
          <p:cNvSpPr/>
          <p:nvPr/>
        </p:nvSpPr>
        <p:spPr>
          <a:xfrm>
            <a:off x="7032004" y="5873611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US" sz="12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7~9주차</a:t>
            </a:r>
            <a:endParaRPr i="0" sz="1200" u="none" cap="none" strike="noStrike">
              <a:solidFill>
                <a:srgbClr val="1E293B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5" name="Google Shape;905;g3c0c338455d_21_467"/>
          <p:cNvSpPr/>
          <p:nvPr/>
        </p:nvSpPr>
        <p:spPr>
          <a:xfrm>
            <a:off x="6574804" y="6120499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Frontend 배포 (S3/CloudFront)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6" name="Google Shape;906;g3c0c338455d_21_467"/>
          <p:cNvSpPr/>
          <p:nvPr/>
        </p:nvSpPr>
        <p:spPr>
          <a:xfrm>
            <a:off x="6574804" y="6312523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최종 QA + E2E 통합 테스트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7" name="Google Shape;907;g3c0c338455d_21_467"/>
          <p:cNvSpPr/>
          <p:nvPr/>
        </p:nvSpPr>
        <p:spPr>
          <a:xfrm>
            <a:off x="6574804" y="6504547"/>
            <a:ext cx="342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emiBold"/>
              <a:buChar char="•"/>
            </a:pPr>
            <a:r>
              <a:rPr i="0" lang="en-US" sz="1000" u="none" cap="none" strike="noStrike">
                <a:solidFill>
                  <a:srgbClr val="1E293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최종 발표 준비</a:t>
            </a:r>
            <a:endParaRPr i="0" sz="1000" u="none" cap="none" strike="noStrike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8" name="Google Shape;908;g3c0c338455d_21_467"/>
          <p:cNvSpPr txBox="1"/>
          <p:nvPr/>
        </p:nvSpPr>
        <p:spPr>
          <a:xfrm>
            <a:off x="824350" y="409800"/>
            <a:ext cx="25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E293B"/>
                </a:solidFill>
                <a:latin typeface="Roboto Black"/>
                <a:ea typeface="Roboto Black"/>
                <a:cs typeface="Roboto Black"/>
                <a:sym typeface="Roboto Black"/>
              </a:rPr>
              <a:t>진행 현황 </a:t>
            </a:r>
            <a:endParaRPr b="0" i="0" sz="1400" u="none" cap="none" strike="noStrike">
              <a:solidFill>
                <a:srgbClr val="00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09" name="Google Shape;909;g3c0c338455d_21_467"/>
          <p:cNvSpPr txBox="1"/>
          <p:nvPr/>
        </p:nvSpPr>
        <p:spPr>
          <a:xfrm>
            <a:off x="10526475" y="258750"/>
            <a:ext cx="137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4" name="Google Shape;914;g3c0c338455d_24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1864" y="427659"/>
            <a:ext cx="38576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c0c338455d_24_311"/>
          <p:cNvSpPr/>
          <p:nvPr/>
        </p:nvSpPr>
        <p:spPr>
          <a:xfrm>
            <a:off x="666713" y="1630455"/>
            <a:ext cx="5286300" cy="1843800"/>
          </a:xfrm>
          <a:prstGeom prst="roundRect">
            <a:avLst>
              <a:gd fmla="val 413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c0c338455d_24_311"/>
          <p:cNvSpPr/>
          <p:nvPr/>
        </p:nvSpPr>
        <p:spPr>
          <a:xfrm>
            <a:off x="6238838" y="1630455"/>
            <a:ext cx="5286300" cy="1843800"/>
          </a:xfrm>
          <a:prstGeom prst="roundRect">
            <a:avLst>
              <a:gd fmla="val 413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c0c338455d_24_311"/>
          <p:cNvSpPr/>
          <p:nvPr/>
        </p:nvSpPr>
        <p:spPr>
          <a:xfrm>
            <a:off x="666713" y="3760037"/>
            <a:ext cx="5286300" cy="1843800"/>
          </a:xfrm>
          <a:prstGeom prst="roundRect">
            <a:avLst>
              <a:gd fmla="val 413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c0c338455d_24_311"/>
          <p:cNvSpPr/>
          <p:nvPr/>
        </p:nvSpPr>
        <p:spPr>
          <a:xfrm>
            <a:off x="6238838" y="3760037"/>
            <a:ext cx="5286300" cy="1843800"/>
          </a:xfrm>
          <a:prstGeom prst="roundRect">
            <a:avLst>
              <a:gd fmla="val 413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3c0c338455d_24_311"/>
          <p:cNvSpPr/>
          <p:nvPr/>
        </p:nvSpPr>
        <p:spPr>
          <a:xfrm>
            <a:off x="666713" y="3464762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g3c0c338455d_24_311"/>
          <p:cNvSpPr/>
          <p:nvPr/>
        </p:nvSpPr>
        <p:spPr>
          <a:xfrm>
            <a:off x="666713" y="3464762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c0c338455d_24_311"/>
          <p:cNvSpPr/>
          <p:nvPr/>
        </p:nvSpPr>
        <p:spPr>
          <a:xfrm>
            <a:off x="666713" y="163045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c0c338455d_24_311"/>
          <p:cNvSpPr/>
          <p:nvPr/>
        </p:nvSpPr>
        <p:spPr>
          <a:xfrm>
            <a:off x="666713" y="1630455"/>
            <a:ext cx="47700" cy="184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c0c338455d_24_311"/>
          <p:cNvSpPr/>
          <p:nvPr/>
        </p:nvSpPr>
        <p:spPr>
          <a:xfrm>
            <a:off x="5943563" y="1630455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c0c338455d_24_311"/>
          <p:cNvSpPr txBox="1"/>
          <p:nvPr/>
        </p:nvSpPr>
        <p:spPr>
          <a:xfrm>
            <a:off x="1476338" y="1925730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Intent 분류 최적화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g3c0c338455d_24_311"/>
          <p:cNvSpPr txBox="1"/>
          <p:nvPr/>
        </p:nvSpPr>
        <p:spPr>
          <a:xfrm>
            <a:off x="1476338" y="2356141"/>
            <a:ext cx="4181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KoELECTRA 모델 파인튜닝 및 Label Smoothing을 통해 Test F1 97.88% 달성, 과신뢰 오분류 69% 감소 및 빠른 추론 속도 확보.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g3c0c338455d_24_311"/>
          <p:cNvSpPr/>
          <p:nvPr/>
        </p:nvSpPr>
        <p:spPr>
          <a:xfrm>
            <a:off x="6238838" y="3464762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c0c338455d_24_311"/>
          <p:cNvSpPr/>
          <p:nvPr/>
        </p:nvSpPr>
        <p:spPr>
          <a:xfrm>
            <a:off x="6238838" y="3464762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c0c338455d_24_311"/>
          <p:cNvSpPr/>
          <p:nvPr/>
        </p:nvSpPr>
        <p:spPr>
          <a:xfrm>
            <a:off x="6238838" y="1630455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c0c338455d_24_311"/>
          <p:cNvSpPr/>
          <p:nvPr/>
        </p:nvSpPr>
        <p:spPr>
          <a:xfrm>
            <a:off x="6238838" y="1630455"/>
            <a:ext cx="47700" cy="184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c0c338455d_24_311"/>
          <p:cNvSpPr/>
          <p:nvPr/>
        </p:nvSpPr>
        <p:spPr>
          <a:xfrm>
            <a:off x="11515688" y="1630455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c0c338455d_24_311"/>
          <p:cNvSpPr txBox="1"/>
          <p:nvPr/>
        </p:nvSpPr>
        <p:spPr>
          <a:xfrm>
            <a:off x="7048463" y="1925730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하이브리드 RAG 구축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g3c0c338455d_24_311"/>
          <p:cNvSpPr txBox="1"/>
          <p:nvPr/>
        </p:nvSpPr>
        <p:spPr>
          <a:xfrm>
            <a:off x="7048463" y="2356141"/>
            <a:ext cx="4181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단순 키워드를 넘어서는 BM25 매칭과 Qdrant 벡터 검색을 결합한 하이브리드 검색 파이프라인 구현 완비.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3" name="Google Shape;933;g3c0c338455d_24_311"/>
          <p:cNvSpPr/>
          <p:nvPr/>
        </p:nvSpPr>
        <p:spPr>
          <a:xfrm>
            <a:off x="666713" y="5594344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c0c338455d_24_311"/>
          <p:cNvSpPr/>
          <p:nvPr/>
        </p:nvSpPr>
        <p:spPr>
          <a:xfrm>
            <a:off x="666713" y="5594344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c0c338455d_24_311"/>
          <p:cNvSpPr/>
          <p:nvPr/>
        </p:nvSpPr>
        <p:spPr>
          <a:xfrm>
            <a:off x="666713" y="376003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c0c338455d_24_311"/>
          <p:cNvSpPr/>
          <p:nvPr/>
        </p:nvSpPr>
        <p:spPr>
          <a:xfrm>
            <a:off x="666713" y="3760037"/>
            <a:ext cx="47700" cy="184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c0c338455d_24_311"/>
          <p:cNvSpPr/>
          <p:nvPr/>
        </p:nvSpPr>
        <p:spPr>
          <a:xfrm>
            <a:off x="5943563" y="3760037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c0c338455d_24_311"/>
          <p:cNvSpPr txBox="1"/>
          <p:nvPr/>
        </p:nvSpPr>
        <p:spPr>
          <a:xfrm>
            <a:off x="1476338" y="4055312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외부 서비스 완벽 연동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g3c0c338455d_24_311"/>
          <p:cNvSpPr txBox="1"/>
          <p:nvPr/>
        </p:nvSpPr>
        <p:spPr>
          <a:xfrm>
            <a:off x="1476338" y="4485723"/>
            <a:ext cx="4181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Google Calendar, Tasks, Gmail, Sheets 등 Google Workspace 4종에 대한 통합 OAuth 인증 및 API 연동 성공.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0" name="Google Shape;940;g3c0c338455d_24_311"/>
          <p:cNvSpPr/>
          <p:nvPr/>
        </p:nvSpPr>
        <p:spPr>
          <a:xfrm>
            <a:off x="6238838" y="5594344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3c0c338455d_24_311"/>
          <p:cNvSpPr/>
          <p:nvPr/>
        </p:nvSpPr>
        <p:spPr>
          <a:xfrm>
            <a:off x="6238838" y="5594344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c0c338455d_24_311"/>
          <p:cNvSpPr/>
          <p:nvPr/>
        </p:nvSpPr>
        <p:spPr>
          <a:xfrm>
            <a:off x="6238838" y="3760037"/>
            <a:ext cx="52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c0c338455d_24_311"/>
          <p:cNvSpPr/>
          <p:nvPr/>
        </p:nvSpPr>
        <p:spPr>
          <a:xfrm>
            <a:off x="6238838" y="3760037"/>
            <a:ext cx="47700" cy="184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c0c338455d_24_311"/>
          <p:cNvSpPr/>
          <p:nvPr/>
        </p:nvSpPr>
        <p:spPr>
          <a:xfrm>
            <a:off x="11515688" y="3760037"/>
            <a:ext cx="9600" cy="184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c0c338455d_24_311"/>
          <p:cNvSpPr txBox="1"/>
          <p:nvPr/>
        </p:nvSpPr>
        <p:spPr>
          <a:xfrm>
            <a:off x="7048463" y="4055312"/>
            <a:ext cx="439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Full-Stack 인프라 구축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g3c0c338455d_24_311"/>
          <p:cNvSpPr txBox="1"/>
          <p:nvPr/>
        </p:nvSpPr>
        <p:spPr>
          <a:xfrm>
            <a:off x="7048463" y="4485723"/>
            <a:ext cx="4181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12개 테이블 기반 DB, 실시간 SSE 스트리밍 백엔드, 그리고 React 11개 페이지에 달하는 안정적인 프론트엔드 환경 구축.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image.png" id="947" name="Google Shape;947;g3c0c338455d_24_3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463" y="193525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8" name="Google Shape;948;g3c0c338455d_24_3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588" y="193525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9" name="Google Shape;949;g3c0c338455d_24_3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463" y="4064837"/>
            <a:ext cx="2952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0" name="Google Shape;950;g3c0c338455d_24_3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588" y="4064837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g3c0c338455d_24_311"/>
          <p:cNvSpPr txBox="1"/>
          <p:nvPr/>
        </p:nvSpPr>
        <p:spPr>
          <a:xfrm>
            <a:off x="834475" y="409800"/>
            <a:ext cx="143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핵심 성과 </a:t>
            </a:r>
            <a:endParaRPr i="0" sz="27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0c338455d_23_0"/>
          <p:cNvSpPr txBox="1"/>
          <p:nvPr/>
        </p:nvSpPr>
        <p:spPr>
          <a:xfrm>
            <a:off x="834475" y="409800"/>
            <a:ext cx="538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향후 계획 및 서비스 확장 로드맵</a:t>
            </a:r>
            <a:endParaRPr i="0" sz="27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descr="image.png" id="978" name="Google Shape;978;g3c0c338455d_2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9" name="Google Shape;979;g3c0c338455d_2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2772" y="1154314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0" name="Google Shape;980;g3c0c338455d_23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8794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1" name="Google Shape;981;g3c0c338455d_23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4816" y="1154314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2" name="Google Shape;982;g3c0c338455d_23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0839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3" name="Google Shape;983;g3c0c338455d_23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5405" y="446112"/>
            <a:ext cx="338137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g3c0c338455d_23_0"/>
          <p:cNvSpPr/>
          <p:nvPr/>
        </p:nvSpPr>
        <p:spPr>
          <a:xfrm>
            <a:off x="666750" y="350877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5" name="Google Shape;985;g3c0c338455d_23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7255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g3c0c338455d_23_0"/>
          <p:cNvSpPr txBox="1"/>
          <p:nvPr/>
        </p:nvSpPr>
        <p:spPr>
          <a:xfrm>
            <a:off x="827915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복합 질문 강화</a:t>
            </a:r>
            <a:endParaRPr/>
          </a:p>
        </p:txBody>
      </p:sp>
      <p:sp>
        <p:nvSpPr>
          <p:cNvPr id="987" name="Google Shape;987;g3c0c338455d_23_0"/>
          <p:cNvSpPr txBox="1"/>
          <p:nvPr/>
        </p:nvSpPr>
        <p:spPr>
          <a:xfrm>
            <a:off x="866775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다중 의도를 분석하고 분리하여 동시 처리할 수 있는 Smart Hybrid 오케스트레이터를 고도화합니다.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88" name="Google Shape;988;g3c0c338455d_23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3277" y="1401964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g3c0c338455d_23_0"/>
          <p:cNvSpPr txBox="1"/>
          <p:nvPr/>
        </p:nvSpPr>
        <p:spPr>
          <a:xfrm>
            <a:off x="3053938" y="173533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Agent 파인튜닝</a:t>
            </a:r>
            <a:endParaRPr/>
          </a:p>
        </p:txBody>
      </p:sp>
      <p:sp>
        <p:nvSpPr>
          <p:cNvPr id="990" name="Google Shape;990;g3c0c338455d_23_0"/>
          <p:cNvSpPr txBox="1"/>
          <p:nvPr/>
        </p:nvSpPr>
        <p:spPr>
          <a:xfrm>
            <a:off x="3092797" y="2065737"/>
            <a:ext cx="1554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사내 규정 판단용(LoRA v1) 및 문서 처리용(LoRA v2) 도메인 특화 학습으로 정확도를 극대화합니다.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1" name="Google Shape;991;g3c0c338455d_23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29300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c0c338455d_23_0"/>
          <p:cNvSpPr txBox="1"/>
          <p:nvPr/>
        </p:nvSpPr>
        <p:spPr>
          <a:xfrm>
            <a:off x="5279960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자체 sLLM 전환</a:t>
            </a:r>
            <a:endParaRPr/>
          </a:p>
        </p:txBody>
      </p:sp>
      <p:sp>
        <p:nvSpPr>
          <p:cNvPr id="993" name="Google Shape;993;g3c0c338455d_23_0"/>
          <p:cNvSpPr txBox="1"/>
          <p:nvPr/>
        </p:nvSpPr>
        <p:spPr>
          <a:xfrm>
            <a:off x="5318819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외부 API 의존성을 낮추기 위해 Kanana-1.5-8B 기반 자체 모델로 교체하고 vLLM 서빙 환경을 구축합니다.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4" name="Google Shape;994;g3c0c338455d_23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12475" y="1401975"/>
            <a:ext cx="771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g3c0c338455d_23_0"/>
          <p:cNvSpPr txBox="1"/>
          <p:nvPr/>
        </p:nvSpPr>
        <p:spPr>
          <a:xfrm>
            <a:off x="7505982" y="173533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팀 워크스페이스</a:t>
            </a:r>
            <a:endParaRPr/>
          </a:p>
        </p:txBody>
      </p:sp>
      <p:sp>
        <p:nvSpPr>
          <p:cNvPr id="996" name="Google Shape;996;g3c0c338455d_23_0"/>
          <p:cNvSpPr txBox="1"/>
          <p:nvPr/>
        </p:nvSpPr>
        <p:spPr>
          <a:xfrm>
            <a:off x="7544841" y="2065737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개인 비서를 넘어, 팀 단위로 문서와 캘린더 일정을 실시간 공유하고 관리할 수 있는 협업 기능을 구현합니다.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7" name="Google Shape;997;g3c0c338455d_23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81344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g3c0c338455d_23_0"/>
          <p:cNvSpPr txBox="1"/>
          <p:nvPr/>
        </p:nvSpPr>
        <p:spPr>
          <a:xfrm>
            <a:off x="9732005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통합 테스트 &amp; 배포</a:t>
            </a:r>
            <a:endParaRPr/>
          </a:p>
        </p:txBody>
      </p:sp>
      <p:sp>
        <p:nvSpPr>
          <p:cNvPr id="999" name="Google Shape;999;g3c0c338455d_23_0"/>
          <p:cNvSpPr txBox="1"/>
          <p:nvPr/>
        </p:nvSpPr>
        <p:spPr>
          <a:xfrm>
            <a:off x="9770864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전체 E2E 시나리오 검증 및 GitHub Actions 기반 CI/CD 파이프라인을 통해 실서버에 안정적으로 배포합니다.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00" name="Google Shape;1000;g3c0c338455d_23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65958" y="1449589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g3c0c338455d_23_0"/>
          <p:cNvSpPr/>
          <p:nvPr/>
        </p:nvSpPr>
        <p:spPr>
          <a:xfrm>
            <a:off x="1510605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c0c338455d_23_0"/>
          <p:cNvSpPr/>
          <p:nvPr/>
        </p:nvSpPr>
        <p:spPr>
          <a:xfrm>
            <a:off x="3736627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g3c0c338455d_23_0"/>
          <p:cNvSpPr/>
          <p:nvPr/>
        </p:nvSpPr>
        <p:spPr>
          <a:xfrm>
            <a:off x="5962650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c0c338455d_23_0"/>
          <p:cNvSpPr/>
          <p:nvPr/>
        </p:nvSpPr>
        <p:spPr>
          <a:xfrm>
            <a:off x="8188672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c0c338455d_23_0"/>
          <p:cNvSpPr/>
          <p:nvPr/>
        </p:nvSpPr>
        <p:spPr>
          <a:xfrm>
            <a:off x="10414694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0c338455d_23_0"/>
          <p:cNvSpPr txBox="1"/>
          <p:nvPr/>
        </p:nvSpPr>
        <p:spPr>
          <a:xfrm>
            <a:off x="834475" y="409800"/>
            <a:ext cx="538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F2A4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향후 계획 및 서비스 확장 로드맵</a:t>
            </a:r>
            <a:endParaRPr i="0" sz="27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descr="image.png" id="978" name="Google Shape;978;g3c0c338455d_2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9" name="Google Shape;979;g3c0c338455d_2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2772" y="1154314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0" name="Google Shape;980;g3c0c338455d_23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8794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1" name="Google Shape;981;g3c0c338455d_23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4816" y="1154314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2" name="Google Shape;982;g3c0c338455d_23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0839" y="4146950"/>
            <a:ext cx="195441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3" name="Google Shape;983;g3c0c338455d_23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5405" y="446112"/>
            <a:ext cx="338137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g3c0c338455d_23_0"/>
          <p:cNvSpPr/>
          <p:nvPr/>
        </p:nvSpPr>
        <p:spPr>
          <a:xfrm>
            <a:off x="666750" y="350877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5" name="Google Shape;985;g3c0c338455d_23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7255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g3c0c338455d_23_0"/>
          <p:cNvSpPr txBox="1"/>
          <p:nvPr/>
        </p:nvSpPr>
        <p:spPr>
          <a:xfrm>
            <a:off x="827915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복합 질문 강화</a:t>
            </a:r>
            <a:endParaRPr/>
          </a:p>
        </p:txBody>
      </p:sp>
      <p:sp>
        <p:nvSpPr>
          <p:cNvPr id="987" name="Google Shape;987;g3c0c338455d_23_0"/>
          <p:cNvSpPr txBox="1"/>
          <p:nvPr/>
        </p:nvSpPr>
        <p:spPr>
          <a:xfrm>
            <a:off x="866775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다중 의도를 분석하고 분리하여 동시 처리할 수 있는 Smart Hybrid 오케스트레이터를 고도화합니다.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88" name="Google Shape;988;g3c0c338455d_23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3277" y="1401964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g3c0c338455d_23_0"/>
          <p:cNvSpPr txBox="1"/>
          <p:nvPr/>
        </p:nvSpPr>
        <p:spPr>
          <a:xfrm>
            <a:off x="3053938" y="173533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Agent 파인튜닝</a:t>
            </a:r>
            <a:endParaRPr/>
          </a:p>
        </p:txBody>
      </p:sp>
      <p:sp>
        <p:nvSpPr>
          <p:cNvPr id="990" name="Google Shape;990;g3c0c338455d_23_0"/>
          <p:cNvSpPr txBox="1"/>
          <p:nvPr/>
        </p:nvSpPr>
        <p:spPr>
          <a:xfrm>
            <a:off x="3092797" y="2065737"/>
            <a:ext cx="1554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사내 규정 판단용(LoRA v1) 및 문서 처리용(LoRA v2) 도메인 특화 학습으로 정확도를 극대화합니다.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1" name="Google Shape;991;g3c0c338455d_23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29300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c0c338455d_23_0"/>
          <p:cNvSpPr txBox="1"/>
          <p:nvPr/>
        </p:nvSpPr>
        <p:spPr>
          <a:xfrm>
            <a:off x="5279960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자체 sLLM 전환</a:t>
            </a:r>
            <a:endParaRPr/>
          </a:p>
        </p:txBody>
      </p:sp>
      <p:sp>
        <p:nvSpPr>
          <p:cNvPr id="993" name="Google Shape;993;g3c0c338455d_23_0"/>
          <p:cNvSpPr txBox="1"/>
          <p:nvPr/>
        </p:nvSpPr>
        <p:spPr>
          <a:xfrm>
            <a:off x="5318819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외부 API 의존성을 낮추기 위해 Kanana-1.5-8B 기반 자체 모델로 교체하고 vLLM 서빙 환경을 구축합니다.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4" name="Google Shape;994;g3c0c338455d_23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12475" y="1401975"/>
            <a:ext cx="771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g3c0c338455d_23_0"/>
          <p:cNvSpPr txBox="1"/>
          <p:nvPr/>
        </p:nvSpPr>
        <p:spPr>
          <a:xfrm>
            <a:off x="7505982" y="1735339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팀 워크스페이스</a:t>
            </a:r>
            <a:endParaRPr/>
          </a:p>
        </p:txBody>
      </p:sp>
      <p:sp>
        <p:nvSpPr>
          <p:cNvPr id="996" name="Google Shape;996;g3c0c338455d_23_0"/>
          <p:cNvSpPr txBox="1"/>
          <p:nvPr/>
        </p:nvSpPr>
        <p:spPr>
          <a:xfrm>
            <a:off x="7544841" y="2065737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개인 비서를 넘어, 팀 단위로 문서와 캘린더 일정을 실시간 공유하고 관리할 수 있는 협업 기능을 구현합니다.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997" name="Google Shape;997;g3c0c338455d_23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81344" y="4394600"/>
            <a:ext cx="533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g3c0c338455d_23_0"/>
          <p:cNvSpPr txBox="1"/>
          <p:nvPr/>
        </p:nvSpPr>
        <p:spPr>
          <a:xfrm>
            <a:off x="9732005" y="4727975"/>
            <a:ext cx="163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통합 테스트 &amp; 배포</a:t>
            </a:r>
            <a:endParaRPr/>
          </a:p>
        </p:txBody>
      </p:sp>
      <p:sp>
        <p:nvSpPr>
          <p:cNvPr id="999" name="Google Shape;999;g3c0c338455d_23_0"/>
          <p:cNvSpPr txBox="1"/>
          <p:nvPr/>
        </p:nvSpPr>
        <p:spPr>
          <a:xfrm>
            <a:off x="9770864" y="5058373"/>
            <a:ext cx="15543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25" u="none" cap="none" strike="noStrik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전체 E2E 시나리오 검증 및 GitHub Actions 기반 CI/CD 파이프라인을 통해 실서버에 안정적으로 배포합니다.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descr="image.png" id="1000" name="Google Shape;1000;g3c0c338455d_23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65958" y="1449589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g3c0c338455d_23_0"/>
          <p:cNvSpPr/>
          <p:nvPr/>
        </p:nvSpPr>
        <p:spPr>
          <a:xfrm>
            <a:off x="1510605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c0c338455d_23_0"/>
          <p:cNvSpPr/>
          <p:nvPr/>
        </p:nvSpPr>
        <p:spPr>
          <a:xfrm>
            <a:off x="3736627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g3c0c338455d_23_0"/>
          <p:cNvSpPr/>
          <p:nvPr/>
        </p:nvSpPr>
        <p:spPr>
          <a:xfrm>
            <a:off x="5962650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c0c338455d_23_0"/>
          <p:cNvSpPr/>
          <p:nvPr/>
        </p:nvSpPr>
        <p:spPr>
          <a:xfrm>
            <a:off x="8188672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c0c338455d_23_0"/>
          <p:cNvSpPr/>
          <p:nvPr/>
        </p:nvSpPr>
        <p:spPr>
          <a:xfrm>
            <a:off x="10414694" y="363260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g3c09b11e3f6_15_10"/>
          <p:cNvGrpSpPr/>
          <p:nvPr/>
        </p:nvGrpSpPr>
        <p:grpSpPr>
          <a:xfrm>
            <a:off x="3919050" y="2646800"/>
            <a:ext cx="4353900" cy="1564410"/>
            <a:chOff x="3919050" y="2075150"/>
            <a:chExt cx="4353900" cy="1564410"/>
          </a:xfrm>
        </p:grpSpPr>
        <p:sp>
          <p:nvSpPr>
            <p:cNvPr id="1011" name="Google Shape;1011;g3c09b11e3f6_15_10"/>
            <p:cNvSpPr txBox="1"/>
            <p:nvPr/>
          </p:nvSpPr>
          <p:spPr>
            <a:xfrm>
              <a:off x="3919050" y="2075150"/>
              <a:ext cx="43539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800">
                  <a:solidFill>
                    <a:srgbClr val="5C7188"/>
                  </a:solidFill>
                  <a:latin typeface="Roboto"/>
                  <a:ea typeface="Roboto"/>
                  <a:cs typeface="Roboto"/>
                  <a:sym typeface="Roboto"/>
                </a:rPr>
                <a:t>THANK YOU </a:t>
              </a:r>
              <a:endParaRPr b="1" sz="5800">
                <a:solidFill>
                  <a:srgbClr val="5C71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2" name="Google Shape;1012;g3c09b11e3f6_15_10"/>
            <p:cNvSpPr txBox="1"/>
            <p:nvPr/>
          </p:nvSpPr>
          <p:spPr>
            <a:xfrm>
              <a:off x="5580300" y="3070160"/>
              <a:ext cx="10314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6213E"/>
                  </a:solidFill>
                  <a:latin typeface="Roboto"/>
                  <a:ea typeface="Roboto"/>
                  <a:cs typeface="Roboto"/>
                  <a:sym typeface="Roboto"/>
                </a:rPr>
                <a:t>Q &amp; A </a:t>
              </a:r>
              <a:endParaRPr b="1" sz="2500">
                <a:solidFill>
                  <a:srgbClr val="16213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13" name="Google Shape;1013;g3c09b11e3f6_15_10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WorkFlow Agent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역할별 업무 현황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5명의 팀원이 AI · Backend · Frontend 전 영역을 커버합니다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084832" cy="4709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084832" cy="73152"/>
          </a:xfrm>
          <a:prstGeom prst="rect">
            <a:avLst/>
          </a:prstGeom>
          <a:solidFill>
            <a:srgbClr val="ED56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ED56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신지용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+ Intent 분류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810512" cy="685800"/>
          </a:xfrm>
          <a:prstGeom prst="rect">
            <a:avLst/>
          </a:prstGeom>
          <a:solidFill>
            <a:srgbClr val="ED561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58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56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 F1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8105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1901952" cy="2788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7-Stage 실험 설계·수행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오케스트레이터 + SSE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판단/문서/일정 Agent 공동 개발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이슈/마일스톤 전면 정비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1417320"/>
            <a:ext cx="2084832" cy="4709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88920" y="1417320"/>
            <a:ext cx="2084832" cy="73152"/>
          </a:xfrm>
          <a:prstGeom prst="rect">
            <a:avLst/>
          </a:prstGeom>
          <a:solidFill>
            <a:srgbClr val="2D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1645920"/>
            <a:ext cx="457200" cy="457200"/>
          </a:xfrm>
          <a:prstGeom prst="ellipse">
            <a:avLst/>
          </a:prstGeom>
          <a:solidFill>
            <a:srgbClr val="2D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1618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진승언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1874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리드 — 문서 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2286000"/>
            <a:ext cx="1810512" cy="685800"/>
          </a:xfrm>
          <a:prstGeom prst="rect">
            <a:avLst/>
          </a:prstGeom>
          <a:solidFill>
            <a:srgbClr val="2D58B8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258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58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926080" y="26517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 기능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108960"/>
            <a:ext cx="18105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200400"/>
            <a:ext cx="1901952" cy="2788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Agent (생성/요약/검색/QA)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PDF·DOCX 파서 + 템플릿 시스템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 파이프라인 (GitHub Actions)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문서 관리 API 구현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1417320"/>
            <a:ext cx="2084832" cy="4709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74920" y="1417320"/>
            <a:ext cx="2084832" cy="73152"/>
          </a:xfrm>
          <a:prstGeom prst="rect">
            <a:avLst/>
          </a:prstGeom>
          <a:solidFill>
            <a:srgbClr val="058D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1645920"/>
            <a:ext cx="457200" cy="457200"/>
          </a:xfrm>
          <a:prstGeom prst="ellipse">
            <a:avLst/>
          </a:prstGeom>
          <a:solidFill>
            <a:srgbClr val="058D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60720" y="1618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윤경은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60720" y="1874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서브 — 판단 Agent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2286000"/>
            <a:ext cx="1810512" cy="685800"/>
          </a:xfrm>
          <a:prstGeom prst="rect">
            <a:avLst/>
          </a:prstGeom>
          <a:solidFill>
            <a:srgbClr val="058DC7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258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8D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212080" y="26517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청크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3108960"/>
            <a:ext cx="18105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200400"/>
            <a:ext cx="1901952" cy="2788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(Qdrant + BM25 + Reranker)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규정 교차 판단 + 4층 환각 방지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문서 270개 청크 구축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데이터 1,500건 준비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60920" y="1417320"/>
            <a:ext cx="2084832" cy="4709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60920" y="1417320"/>
            <a:ext cx="2084832" cy="73152"/>
          </a:xfrm>
          <a:prstGeom prst="rect">
            <a:avLst/>
          </a:prstGeom>
          <a:solidFill>
            <a:srgbClr val="50B4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1645920"/>
            <a:ext cx="457200" cy="457200"/>
          </a:xfrm>
          <a:prstGeom prst="ellipse">
            <a:avLst/>
          </a:prstGeom>
          <a:solidFill>
            <a:srgbClr val="50B4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46720" y="1618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안혜빈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6720" y="1874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+ Google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98080" y="2286000"/>
            <a:ext cx="1810512" cy="685800"/>
          </a:xfrm>
          <a:prstGeom prst="rect">
            <a:avLst/>
          </a:prstGeom>
          <a:solidFill>
            <a:srgbClr val="50B432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2258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0B4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7498080" y="26517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0" y="3108960"/>
            <a:ext cx="18105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200400"/>
            <a:ext cx="1901952" cy="2788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11테이블 + Alembic + JWT 인증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5대 서비스 통합 (OAuth)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 Agent + REST API 구현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EC2 배포 + CI/CD 운영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46920" y="1417320"/>
            <a:ext cx="2084832" cy="4709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646920" y="1417320"/>
            <a:ext cx="2084832" cy="73152"/>
          </a:xfrm>
          <a:prstGeom prst="rect">
            <a:avLst/>
          </a:prstGeom>
          <a:solidFill>
            <a:srgbClr val="E04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84080" y="1645920"/>
            <a:ext cx="457200" cy="457200"/>
          </a:xfrm>
          <a:prstGeom prst="ellipse">
            <a:avLst/>
          </a:prstGeom>
          <a:solidFill>
            <a:srgbClr val="E04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332720" y="1618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문지영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332720" y="1874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전담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784080" y="2286000"/>
            <a:ext cx="1810512" cy="685800"/>
          </a:xfrm>
          <a:prstGeom prst="rect">
            <a:avLst/>
          </a:prstGeom>
          <a:solidFill>
            <a:srgbClr val="E04B4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0" y="2258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4B4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9784080" y="26517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784080" y="3108960"/>
            <a:ext cx="18105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38360" y="3200400"/>
            <a:ext cx="1901952" cy="2788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12페이지 + 63 컴포넌트 전체 UI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대시보드·챗봇·문서·일정 관리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다크모드 + Zustand + SSE 실시간</a:t>
            </a:r>
            <a:endParaRPr lang="en-US" sz="950" dirty="0"/>
          </a:p>
          <a:p>
            <a:pPr marL="342900" indent="-342900">
              <a:spcBef>
                <a:spcPts val="600"/>
              </a:spcBef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 + 관리자 페이지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6446520"/>
            <a:ext cx="12198096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0" y="6446520"/>
            <a:ext cx="1219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networks Family AI Camp 21기  |  최종 프로젝트 3팀  |  WorkFlow Agent (듀듀)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5F2EC"/>
      </a:lt2>
      <a:accent1>
        <a:srgbClr val="256CA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