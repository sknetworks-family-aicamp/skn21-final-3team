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trictFirstAndLastChars="0" autoCompressPictures="0">
  <p:sldMasterIdLst>
    <p:sldMasterId id="2147483648" r:id="rId1"/>
  </p:sldMasterIdLst>
  <p:notesMasterIdLst>
    <p:notesMasterId r:id="rId2"/>
  </p:notesMasterIdLst>
  <p:sldIdLst>
    <p:sldId id="277" r:id="rId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mAuthor id="0" name="안혜빈" initials="" lastIdx="4" clrIdx="0"/>
  <p:cmAuthor id="1" name="진승언" initials="" lastIdx="4" clrIdx="1"/>
  <p:cmAuthor id="2" name="윤경은" initials="" lastIdx="3" clrIdx="2"/>
  <p:cmAuthor id="3" name="jiyong shin" initials="" lastIdx="1" clrIdx="3"/>
</p:cmAuthorLst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09F7BCA8-77A6-4D98-9364-8AF8E204045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tcBdr/>
        <a:fill>
          <a:solidFill>
            <a:srgbClr val="cfd7e7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fd7e7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Comments="0">
  <p:normalViewPr snapVertSplitter="1">
    <p:restoredLeft sz="12579"/>
    <p:restoredTop sz="9000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5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commentAuthors" Target="commentAuthors.xml"  /><Relationship Id="rId5" Type="http://schemas.openxmlformats.org/officeDocument/2006/relationships/presProps" Target="presProps.xml"  /><Relationship Id="rId6" Type="http://schemas.openxmlformats.org/officeDocument/2006/relationships/viewProps" Target="viewProps.xml"  /><Relationship Id="rId7" Type="http://schemas.openxmlformats.org/officeDocument/2006/relationships/theme" Target="theme/theme1.xml"  /><Relationship Id="rId8" Type="http://schemas.openxmlformats.org/officeDocument/2006/relationships/tableStyles" Target="tableStyles.xml"  /></Relationships>
</file>

<file path=ppt/comments/comment1.xml><?xml version="1.0" encoding="utf-8"?>
<p:cmLs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m authorId="2" dt="2026-02-25T02:56:19.334" idx="1">
    <p:pos x="5999" y="0"/>
    <p:text>끝</p:text>
    <p:extLst>
      <p:ext uri="{C676402C-5697-4E1C-873F-D02D1690AC5C}">
        <p15:threadingInfo xmlns:p15="http://schemas.microsoft.com/office/powerpoint/2012/main" timeZoneBias="0"/>
      </p:ext>
    </p:extLst>
  </p:cm>
  <p:cm authorId="0" dt="2026-02-25T02:56:19.334" idx="2">
    <p:pos x="5999" y="0"/>
    <p:text>끝</p:text>
    <p:extLst>
      <p:ext uri="{C676402C-5697-4E1C-873F-D02D1690AC5C}">
        <p15:threadingInfo xmlns:p15="http://schemas.microsoft.com/office/powerpoint/2012/main" timeZoneBias="0">
          <p15:parentCm authorId="2" idx="1"/>
        </p15:threadingInfo>
      </p:ext>
    </p:extLst>
  </p:cm>
</p:cmLst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defRPr/>
            </a:pPr>
            <a:endParaRPr lang="ko-KR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"/>
              <a:buNone/>
              <a:defRPr i="0" sz="4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Char char="•"/>
              <a:defRPr i="0" sz="3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Char char="–"/>
              <a:defRPr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i="0" sz="2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–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»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comments" Target="../comments/comment1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Text"/>
          <p:cNvSpPr txBox="1"/>
          <p:nvPr/>
        </p:nvSpPr>
        <p:spPr>
          <a:xfrm>
            <a:off x="10526475" y="258750"/>
            <a:ext cx="1378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algn="l">
              <a:buNone/>
            </a:pPr>
            <a:r>
              <a:rPr lang="en-US" sz="1300" b="0">
                <a:solidFill>
                  <a:srgbClr val="999999"/>
                </a:solidFill>
                <a:latin typeface="Malgun Gothic"/>
                <a:ea typeface="Malgun Gothic"/>
                <a:cs typeface="Malgun Gothic"/>
              </a:rPr>
              <a:t xml:space="preserve">WorkFlow Agent </a:t>
            </a:r>
          </a:p>
        </p:txBody>
      </p:sp>
      <p:sp>
        <p:nvSpPr>
          <p:cNvPr id="3" name="MainTitle"/>
          <p:cNvSpPr txBox="1"/>
          <p:nvPr/>
        </p:nvSpPr>
        <p:spPr>
          <a:xfrm>
            <a:off x="540000" y="200000"/>
            <a:ext cx="5000000" cy="5000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l">
              <a:buNone/>
            </a:pPr>
            <a:r>
              <a:rPr lang="ko-KR" sz="2700" b="1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학습 데이터</a:t>
            </a:r>
          </a:p>
        </p:txBody>
      </p:sp>
      <p:sp>
        <p:nvSpPr>
          <p:cNvPr id="4" name="LeftHeader"/>
          <p:cNvSpPr txBox="1"/>
          <p:nvPr/>
        </p:nvSpPr>
        <p:spPr>
          <a:xfrm>
            <a:off x="540000" y="780000"/>
            <a:ext cx="5400000" cy="3800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l">
              <a:buNone/>
            </a:pPr>
            <a:r>
              <a:rPr lang="ko-KR" sz="1600" b="1">
                <a:solidFill>
                  <a:srgbClr val="3B5998"/>
                </a:solidFill>
                <a:latin typeface="Malgun Gothic"/>
                <a:ea typeface="Malgun Gothic"/>
                <a:cs typeface="Malgun Gothic"/>
              </a:rPr>
              <a:t>Intent 분류 8개 예시</a:t>
            </a:r>
          </a:p>
        </p:txBody>
      </p:sp>
      <p:sp>
        <p:nvSpPr>
          <p:cNvPr id="5" name="IntentCard"/>
          <p:cNvSpPr/>
          <p:nvPr/>
        </p:nvSpPr>
        <p:spPr>
          <a:xfrm>
            <a:off x="400000" y="1150000"/>
            <a:ext cx="5700000" cy="5400000"/>
          </a:xfrm>
          <a:prstGeom prst="roundRect">
            <a:avLst>
              <a:gd fmla="val 3000" name="adj"/>
            </a:avLst>
          </a:prstGeom>
          <a:solidFill>
            <a:srgbClr val="FFFFFF"/>
          </a:solidFill>
          <a:ln w="12700">
            <a:solidFill>
              <a:srgbClr val="7188AA"/>
            </a:solidFill>
            <a:prstDash val="solid"/>
            <a:round/>
          </a:ln>
          <a:effectLst>
            <a:outerShdw blurRad="40000" rotWithShape="0" dir="5400000" dist="23000">
              <a:srgbClr val="000000">
                <a:alpha val="20000"/>
              </a:srgbClr>
            </a:outerShdw>
          </a:effectLst>
        </p:spPr>
        <p:txBody>
          <a:bodyPr anchor="t" wrap="square" lIns="91425" rIns="91425" tIns="91425" bIns="91425"/>
          <a:lstStyle/>
          <a:p>
            <a:endParaRPr lang="ko-KR" sz="100"/>
          </a:p>
        </p:txBody>
      </p:sp>
      <p:sp>
        <p:nvSpPr>
          <p:cNvPr id="6" name="IntentTableHeader"/>
          <p:cNvSpPr/>
          <p:nvPr/>
        </p:nvSpPr>
        <p:spPr>
          <a:xfrm>
            <a:off x="440000" y="1200000"/>
            <a:ext cx="5620000" cy="380000"/>
          </a:xfrm>
          <a:prstGeom prst="roundRect">
            <a:avLst>
              <a:gd fmla="val 8000" name="adj"/>
            </a:avLst>
          </a:prstGeom>
          <a:solidFill>
            <a:srgbClr val="1E293B"/>
          </a:solidFill>
          <a:ln>
            <a:noFill/>
          </a:ln>
        </p:spPr>
        <p:txBody>
          <a:bodyPr anchor="ctr" wrap="square" lIns="91425" rIns="91425" tIns="45700" bIns="45700"/>
          <a:lstStyle/>
          <a:p>
            <a:pPr algn="l">
              <a:buNone/>
            </a:pPr>
            <a:r>
              <a:rPr lang="ko-KR" sz="1200" b="1">
                <a:solidFill>
                  <a:srgbClr val="FFFFFF"/>
                </a:solidFill>
                <a:latin typeface="Malgun Gothic"/>
                <a:ea typeface="Malgun Gothic"/>
              </a:rPr>
              <a:t xml:space="preserve">  Intent                                          사용자 입력 예시</a:t>
            </a:r>
          </a:p>
        </p:txBody>
      </p:sp>
      <p:sp>
        <p:nvSpPr>
          <p:cNvPr id="10" name="IntentRow1"/>
          <p:cNvSpPr txBox="1"/>
          <p:nvPr/>
        </p:nvSpPr>
        <p:spPr>
          <a:xfrm>
            <a:off x="500000" y="1630000"/>
            <a:ext cx="5500000" cy="54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36000" rIns="91425" bIns="36000" anchor="ctr"/>
          <a:lstStyle/>
          <a:p>
            <a:pPr algn="l">
              <a:buNone/>
              <a:defRPr/>
            </a:pPr>
            <a:r>
              <a:rPr lang="en-US" sz="1100" b="1">
                <a:solidFill>
                  <a:srgbClr val="3b5998"/>
                </a:solidFill>
                <a:latin typeface="Consolas"/>
                <a:ea typeface="맑은 고딕"/>
              </a:rPr>
              <a:t>judgment          </a:t>
            </a:r>
            <a:r>
              <a:rPr lang="ko-KR" altLang="en-US" sz="1100" b="1">
                <a:solidFill>
                  <a:srgbClr val="3b5998"/>
                </a:solidFill>
                <a:latin typeface="Consolas"/>
                <a:ea typeface="맑은 고딕"/>
              </a:rPr>
              <a:t> </a:t>
            </a:r>
            <a:r>
              <a:rPr lang="ko-KR" sz="1100" b="0">
                <a:solidFill>
                  <a:srgbClr val="333333"/>
                </a:solidFill>
                <a:latin typeface="맑은 고딕"/>
                <a:ea typeface="맑은 고딕"/>
              </a:rPr>
              <a:t>재택근무 시 야근수당 받을 수 있나요?</a:t>
            </a:r>
            <a:endParaRPr lang="ko-KR" sz="1100" b="0">
              <a:solidFill>
                <a:srgbClr val="333333"/>
              </a:solidFill>
              <a:latin typeface="맑은 고딕"/>
              <a:ea typeface="맑은 고딕"/>
            </a:endParaRPr>
          </a:p>
        </p:txBody>
      </p:sp>
      <p:sp>
        <p:nvSpPr>
          <p:cNvPr id="20" name="Sep1"/>
          <p:cNvSpPr/>
          <p:nvPr/>
        </p:nvSpPr>
        <p:spPr>
          <a:xfrm>
            <a:off x="500000" y="2150000"/>
            <a:ext cx="5500000" cy="0"/>
          </a:xfrm>
          <a:prstGeom prst="line">
            <a:avLst/>
          </a:prstGeom>
          <a:ln w="6350">
            <a:solidFill>
              <a:srgbClr val="E0E0E0"/>
            </a:solidFill>
          </a:ln>
        </p:spPr>
      </p:sp>
      <p:sp>
        <p:nvSpPr>
          <p:cNvPr id="11" name="IntentRow2"/>
          <p:cNvSpPr txBox="1"/>
          <p:nvPr/>
        </p:nvSpPr>
        <p:spPr>
          <a:xfrm>
            <a:off x="500000" y="2180000"/>
            <a:ext cx="5500000" cy="54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25" rIns="91425" tIns="36000" bIns="36000"/>
          <a:lstStyle/>
          <a:p>
            <a:pPr algn="l">
              <a:buNone/>
            </a:pPr>
            <a:r>
              <a:rPr lang="en-US" sz="1100" b="1">
                <a:solidFill>
                  <a:srgbClr val="3B5998"/>
                </a:solidFill>
                <a:latin typeface="Consolas"/>
                <a:ea typeface="Malgun Gothic"/>
              </a:rPr>
              <a:t xml:space="preserve">doc_search         </a:t>
            </a:r>
            <a:r>
              <a:rPr lang="ko-KR" sz="1100" b="0">
                <a:solidFill>
                  <a:srgbClr val="333333"/>
                </a:solidFill>
                <a:latin typeface="Malgun Gothic"/>
                <a:ea typeface="Malgun Gothic"/>
              </a:rPr>
              <a:t>마케팅 전략 관련 문서 찾아줘</a:t>
            </a:r>
          </a:p>
        </p:txBody>
      </p:sp>
      <p:sp>
        <p:nvSpPr>
          <p:cNvPr id="21" name="Sep2"/>
          <p:cNvSpPr/>
          <p:nvPr/>
        </p:nvSpPr>
        <p:spPr>
          <a:xfrm>
            <a:off x="500000" y="2700000"/>
            <a:ext cx="5500000" cy="0"/>
          </a:xfrm>
          <a:prstGeom prst="line">
            <a:avLst/>
          </a:prstGeom>
          <a:ln w="6350">
            <a:solidFill>
              <a:srgbClr val="E0E0E0"/>
            </a:solidFill>
          </a:ln>
        </p:spPr>
      </p:sp>
      <p:sp>
        <p:nvSpPr>
          <p:cNvPr id="12" name="IntentRow3"/>
          <p:cNvSpPr txBox="1"/>
          <p:nvPr/>
        </p:nvSpPr>
        <p:spPr>
          <a:xfrm>
            <a:off x="500000" y="2730000"/>
            <a:ext cx="5500000" cy="54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25" rIns="91425" tIns="36000" bIns="36000"/>
          <a:lstStyle/>
          <a:p>
            <a:pPr algn="l">
              <a:buNone/>
            </a:pPr>
            <a:r>
              <a:rPr lang="en-US" sz="1100" b="1">
                <a:solidFill>
                  <a:srgbClr val="3B5998"/>
                </a:solidFill>
                <a:latin typeface="Consolas"/>
                <a:ea typeface="Malgun Gothic"/>
              </a:rPr>
              <a:t xml:space="preserve">doc_generate       </a:t>
            </a:r>
            <a:r>
              <a:rPr lang="ko-KR" sz="1100" b="0">
                <a:solidFill>
                  <a:srgbClr val="333333"/>
                </a:solidFill>
                <a:latin typeface="Malgun Gothic"/>
                <a:ea typeface="Malgun Gothic"/>
              </a:rPr>
              <a:t>이번 주 회의록 작성해줘</a:t>
            </a:r>
          </a:p>
        </p:txBody>
      </p:sp>
      <p:sp>
        <p:nvSpPr>
          <p:cNvPr id="22" name="Sep3"/>
          <p:cNvSpPr/>
          <p:nvPr/>
        </p:nvSpPr>
        <p:spPr>
          <a:xfrm>
            <a:off x="500000" y="3250000"/>
            <a:ext cx="5500000" cy="0"/>
          </a:xfrm>
          <a:prstGeom prst="line">
            <a:avLst/>
          </a:prstGeom>
          <a:ln w="6350">
            <a:solidFill>
              <a:srgbClr val="E0E0E0"/>
            </a:solidFill>
          </a:ln>
        </p:spPr>
      </p:sp>
      <p:sp>
        <p:nvSpPr>
          <p:cNvPr id="13" name="IntentRow4"/>
          <p:cNvSpPr txBox="1"/>
          <p:nvPr/>
        </p:nvSpPr>
        <p:spPr>
          <a:xfrm>
            <a:off x="500000" y="3280000"/>
            <a:ext cx="5500000" cy="54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36000" rIns="91425" bIns="36000" anchor="ctr"/>
          <a:lstStyle/>
          <a:p>
            <a:pPr algn="l">
              <a:buNone/>
              <a:defRPr/>
            </a:pPr>
            <a:r>
              <a:rPr lang="en-US" sz="1100" b="1">
                <a:solidFill>
                  <a:srgbClr val="3b5998"/>
                </a:solidFill>
                <a:latin typeface="Consolas"/>
                <a:ea typeface="맑은 고딕"/>
              </a:rPr>
              <a:t>doc_summary        </a:t>
            </a:r>
            <a:r>
              <a:rPr lang="ko-KR" sz="1100" b="0">
                <a:solidFill>
                  <a:srgbClr val="333333"/>
                </a:solidFill>
                <a:latin typeface="맑은 고딕"/>
                <a:ea typeface="맑은 고딕"/>
              </a:rPr>
              <a:t>분기 보고서 핵심만 정리해줘</a:t>
            </a:r>
            <a:endParaRPr lang="ko-KR" sz="1100" b="0">
              <a:solidFill>
                <a:srgbClr val="333333"/>
              </a:solidFill>
              <a:latin typeface="맑은 고딕"/>
              <a:ea typeface="맑은 고딕"/>
            </a:endParaRPr>
          </a:p>
        </p:txBody>
      </p:sp>
      <p:sp>
        <p:nvSpPr>
          <p:cNvPr id="23" name="Sep4"/>
          <p:cNvSpPr/>
          <p:nvPr/>
        </p:nvSpPr>
        <p:spPr>
          <a:xfrm>
            <a:off x="500000" y="3800000"/>
            <a:ext cx="5500000" cy="0"/>
          </a:xfrm>
          <a:prstGeom prst="line">
            <a:avLst/>
          </a:prstGeom>
          <a:ln w="6350">
            <a:solidFill>
              <a:srgbClr val="E0E0E0"/>
            </a:solidFill>
          </a:ln>
        </p:spPr>
      </p:sp>
      <p:sp>
        <p:nvSpPr>
          <p:cNvPr id="14" name="IntentRow5"/>
          <p:cNvSpPr txBox="1"/>
          <p:nvPr/>
        </p:nvSpPr>
        <p:spPr>
          <a:xfrm>
            <a:off x="500000" y="3830000"/>
            <a:ext cx="5500000" cy="54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25" rIns="91425" tIns="36000" bIns="36000"/>
          <a:lstStyle/>
          <a:p>
            <a:pPr algn="l">
              <a:buNone/>
            </a:pPr>
            <a:r>
              <a:rPr lang="en-US" sz="1100" b="1">
                <a:solidFill>
                  <a:srgbClr val="3B5998"/>
                </a:solidFill>
                <a:latin typeface="Consolas"/>
                <a:ea typeface="Malgun Gothic"/>
              </a:rPr>
              <a:t xml:space="preserve">doc_qa             </a:t>
            </a:r>
            <a:r>
              <a:rPr lang="ko-KR" sz="1100" b="0">
                <a:solidFill>
                  <a:srgbClr val="333333"/>
                </a:solidFill>
                <a:latin typeface="Malgun Gothic"/>
                <a:ea typeface="Malgun Gothic"/>
              </a:rPr>
              <a:t>지난 회의에서 결정된 예산은 얼마야?</a:t>
            </a:r>
          </a:p>
        </p:txBody>
      </p:sp>
      <p:sp>
        <p:nvSpPr>
          <p:cNvPr id="24" name="Sep5"/>
          <p:cNvSpPr/>
          <p:nvPr/>
        </p:nvSpPr>
        <p:spPr>
          <a:xfrm>
            <a:off x="500000" y="4350000"/>
            <a:ext cx="5500000" cy="0"/>
          </a:xfrm>
          <a:prstGeom prst="line">
            <a:avLst/>
          </a:prstGeom>
          <a:ln w="6350">
            <a:solidFill>
              <a:srgbClr val="E0E0E0"/>
            </a:solidFill>
          </a:ln>
        </p:spPr>
      </p:sp>
      <p:sp>
        <p:nvSpPr>
          <p:cNvPr id="15" name="IntentRow6"/>
          <p:cNvSpPr txBox="1"/>
          <p:nvPr/>
        </p:nvSpPr>
        <p:spPr>
          <a:xfrm>
            <a:off x="500000" y="4380000"/>
            <a:ext cx="5500000" cy="54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25" rIns="91425" tIns="36000" bIns="36000"/>
          <a:lstStyle/>
          <a:p>
            <a:pPr algn="l">
              <a:buNone/>
            </a:pPr>
            <a:r>
              <a:rPr lang="en-US" sz="1100" b="1">
                <a:solidFill>
                  <a:srgbClr val="3B5998"/>
                </a:solidFill>
                <a:latin typeface="Consolas"/>
                <a:ea typeface="Malgun Gothic"/>
              </a:rPr>
              <a:t xml:space="preserve">schedule_add       </a:t>
            </a:r>
            <a:r>
              <a:rPr lang="ko-KR" sz="1100" b="0">
                <a:solidFill>
                  <a:srgbClr val="333333"/>
                </a:solidFill>
                <a:latin typeface="Malgun Gothic"/>
                <a:ea typeface="Malgun Gothic"/>
              </a:rPr>
              <a:t>내일 오후 3시에 팀 미팅 잡아줘</a:t>
            </a:r>
          </a:p>
        </p:txBody>
      </p:sp>
      <p:sp>
        <p:nvSpPr>
          <p:cNvPr id="25" name="Sep6"/>
          <p:cNvSpPr/>
          <p:nvPr/>
        </p:nvSpPr>
        <p:spPr>
          <a:xfrm>
            <a:off x="500000" y="4900000"/>
            <a:ext cx="5500000" cy="0"/>
          </a:xfrm>
          <a:prstGeom prst="line">
            <a:avLst/>
          </a:prstGeom>
          <a:ln w="6350">
            <a:solidFill>
              <a:srgbClr val="E0E0E0"/>
            </a:solidFill>
          </a:ln>
        </p:spPr>
      </p:sp>
      <p:sp>
        <p:nvSpPr>
          <p:cNvPr id="16" name="IntentRow7"/>
          <p:cNvSpPr txBox="1"/>
          <p:nvPr/>
        </p:nvSpPr>
        <p:spPr>
          <a:xfrm>
            <a:off x="500000" y="4930000"/>
            <a:ext cx="5500000" cy="54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25" rIns="91425" tIns="36000" bIns="36000"/>
          <a:lstStyle/>
          <a:p>
            <a:pPr algn="l">
              <a:buNone/>
            </a:pPr>
            <a:r>
              <a:rPr lang="en-US" sz="1100" b="1">
                <a:solidFill>
                  <a:srgbClr val="3B5998"/>
                </a:solidFill>
                <a:latin typeface="Consolas"/>
                <a:ea typeface="Malgun Gothic"/>
              </a:rPr>
              <a:t xml:space="preserve">schedule_view      </a:t>
            </a:r>
            <a:r>
              <a:rPr lang="ko-KR" sz="1100" b="0">
                <a:solidFill>
                  <a:srgbClr val="333333"/>
                </a:solidFill>
                <a:latin typeface="Malgun Gothic"/>
                <a:ea typeface="Malgun Gothic"/>
              </a:rPr>
              <a:t>이번 주 내 일정 보여줘</a:t>
            </a:r>
          </a:p>
        </p:txBody>
      </p:sp>
      <p:sp>
        <p:nvSpPr>
          <p:cNvPr id="26" name="Sep7"/>
          <p:cNvSpPr/>
          <p:nvPr/>
        </p:nvSpPr>
        <p:spPr>
          <a:xfrm>
            <a:off x="500000" y="5450000"/>
            <a:ext cx="5500000" cy="0"/>
          </a:xfrm>
          <a:prstGeom prst="line">
            <a:avLst/>
          </a:prstGeom>
          <a:ln w="6350">
            <a:solidFill>
              <a:srgbClr val="E0E0E0"/>
            </a:solidFill>
          </a:ln>
        </p:spPr>
      </p:sp>
      <p:sp>
        <p:nvSpPr>
          <p:cNvPr id="17" name="IntentRow8"/>
          <p:cNvSpPr txBox="1"/>
          <p:nvPr/>
        </p:nvSpPr>
        <p:spPr>
          <a:xfrm>
            <a:off x="500000" y="5480000"/>
            <a:ext cx="5500000" cy="54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25" rIns="91425" tIns="36000" bIns="36000"/>
          <a:lstStyle/>
          <a:p>
            <a:pPr algn="l">
              <a:buNone/>
            </a:pPr>
            <a:r>
              <a:rPr lang="en-US" sz="1100" b="1">
                <a:solidFill>
                  <a:srgbClr val="3B5998"/>
                </a:solidFill>
                <a:latin typeface="Consolas"/>
                <a:ea typeface="Malgun Gothic"/>
              </a:rPr>
              <a:t xml:space="preserve">general            </a:t>
            </a:r>
            <a:r>
              <a:rPr lang="ko-KR" sz="1100" b="0">
                <a:solidFill>
                  <a:srgbClr val="333333"/>
                </a:solidFill>
                <a:latin typeface="Malgun Gothic"/>
                <a:ea typeface="Malgun Gothic"/>
              </a:rPr>
              <a:t>요즘 AI 트렌드가 뭐야?</a:t>
            </a:r>
          </a:p>
        </p:txBody>
      </p:sp>
      <p:sp>
        <p:nvSpPr>
          <p:cNvPr id="30" name="RightHeader"/>
          <p:cNvSpPr txBox="1"/>
          <p:nvPr/>
        </p:nvSpPr>
        <p:spPr>
          <a:xfrm>
            <a:off x="6300000" y="780000"/>
            <a:ext cx="5400000" cy="3800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l">
              <a:buNone/>
            </a:pPr>
            <a:r>
              <a:rPr lang="ko-KR" sz="1600" b="1">
                <a:solidFill>
                  <a:srgbClr val="3B5998"/>
                </a:solidFill>
                <a:latin typeface="Malgun Gothic"/>
                <a:ea typeface="Malgun Gothic"/>
                <a:cs typeface="Malgun Gothic"/>
              </a:rPr>
              <a:t>Intent 학습 데이터</a:t>
            </a:r>
          </a:p>
        </p:txBody>
      </p:sp>
      <p:sp>
        <p:nvSpPr>
          <p:cNvPr id="31" name="DataCard1"/>
          <p:cNvSpPr/>
          <p:nvPr/>
        </p:nvSpPr>
        <p:spPr>
          <a:xfrm>
            <a:off x="6200000" y="1150000"/>
            <a:ext cx="5600000" cy="1440887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  <a:effectLst>
            <a:outerShdw blurRad="40000" dist="23000" dir="5400000" rotWithShape="0">
              <a:srgbClr val="000000">
                <a:alpha val="20000"/>
              </a:srgbClr>
            </a:outerShdw>
          </a:effectLst>
        </p:spPr>
        <p:txBody>
          <a:bodyPr wrap="square" lIns="182880" tIns="114300" rIns="137160" bIns="91425" anchor="t"/>
          <a:lstStyle/>
          <a:p>
            <a:pPr algn="l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맑은 고딕"/>
                <a:ea typeface="맑은 고딕"/>
              </a:rPr>
              <a:t>GPT-4o + Claude Sonnet 4 </a:t>
            </a:r>
            <a:r>
              <a:rPr lang="ko-KR" sz="1800" b="1">
                <a:solidFill>
                  <a:srgbClr val="ffffff"/>
                </a:solidFill>
                <a:latin typeface="맑은 고딕"/>
                <a:ea typeface="맑은 고딕"/>
              </a:rPr>
              <a:t>혼합</a:t>
            </a:r>
            <a:endParaRPr lang="ko-KR" sz="1800" b="1">
              <a:solidFill>
                <a:srgbClr val="ffffff"/>
              </a:solidFill>
              <a:latin typeface="맑은 고딕"/>
              <a:ea typeface="맑은 고딕"/>
            </a:endParaRPr>
          </a:p>
          <a:p>
            <a:pPr algn="l">
              <a:buNone/>
              <a:defRPr/>
            </a:pPr>
            <a:endParaRPr lang="ko-KR" sz="500"/>
          </a:p>
          <a:p>
            <a:pPr algn="l">
              <a:buNone/>
              <a:defRPr/>
            </a:pPr>
            <a:r>
              <a:rPr lang="ko-KR" sz="1000" b="1">
                <a:solidFill>
                  <a:srgbClr val="60a5fa"/>
                </a:solidFill>
                <a:latin typeface="맑은 고딕"/>
                <a:ea typeface="맑은 고딕"/>
              </a:rPr>
              <a:t>기본 2,299건  </a:t>
            </a:r>
            <a:r>
              <a:rPr lang="ko-KR" sz="1000" b="0">
                <a:solidFill>
                  <a:srgbClr val="94a3b8"/>
                </a:solidFill>
                <a:latin typeface="맑은 고딕"/>
                <a:ea typeface="맑은 고딕"/>
              </a:rPr>
              <a:t>8 intent 평균 ~288개, 2개 LLM 반반</a:t>
            </a:r>
            <a:endParaRPr lang="ko-KR" sz="1000" b="0">
              <a:solidFill>
                <a:srgbClr val="94a3b8"/>
              </a:solidFill>
              <a:latin typeface="맑은 고딕"/>
              <a:ea typeface="맑은 고딕"/>
            </a:endParaRPr>
          </a:p>
          <a:p>
            <a:pPr algn="l">
              <a:buNone/>
              <a:defRPr/>
            </a:pPr>
            <a:r>
              <a:rPr lang="ko-KR" sz="1000" b="1">
                <a:solidFill>
                  <a:srgbClr val="60a5fa"/>
                </a:solidFill>
                <a:latin typeface="맑은 고딕"/>
                <a:ea typeface="맑은 고딕"/>
              </a:rPr>
              <a:t>경계쌍 600건  </a:t>
            </a:r>
            <a:r>
              <a:rPr lang="ko-KR" sz="1000" b="0">
                <a:solidFill>
                  <a:srgbClr val="94a3b8"/>
                </a:solidFill>
                <a:latin typeface="맑은 고딕"/>
                <a:ea typeface="맑은 고딕"/>
              </a:rPr>
              <a:t>혼동 intent 쌍 10종 타겟 </a:t>
            </a:r>
            <a:endParaRPr lang="ko-KR" sz="1000" b="0">
              <a:solidFill>
                <a:srgbClr val="94a3b8"/>
              </a:solidFill>
              <a:latin typeface="맑은 고딕"/>
              <a:ea typeface="맑은 고딕"/>
            </a:endParaRPr>
          </a:p>
          <a:p>
            <a:pPr algn="l">
              <a:buNone/>
              <a:defRPr/>
            </a:pPr>
            <a:r>
              <a:rPr lang="ko-KR" sz="1000" b="1">
                <a:solidFill>
                  <a:srgbClr val="60a5fa"/>
                </a:solidFill>
                <a:latin typeface="맑은 고딕"/>
                <a:ea typeface="맑은 고딕"/>
              </a:rPr>
              <a:t>Adversarial 450건  </a:t>
            </a:r>
            <a:r>
              <a:rPr lang="ko-KR" sz="1000" b="0">
                <a:solidFill>
                  <a:srgbClr val="94a3b8"/>
                </a:solidFill>
                <a:latin typeface="맑은 고딕"/>
                <a:ea typeface="맑은 고딕"/>
              </a:rPr>
              <a:t>강건성 평가용</a:t>
            </a:r>
            <a:endParaRPr lang="ko-KR" sz="1000" b="0">
              <a:solidFill>
                <a:srgbClr val="94a3b8"/>
              </a:solidFill>
              <a:latin typeface="맑은 고딕"/>
              <a:ea typeface="맑은 고딕"/>
            </a:endParaRPr>
          </a:p>
          <a:p>
            <a:pPr algn="l">
              <a:buNone/>
              <a:defRPr/>
            </a:pPr>
            <a:endParaRPr lang="ko-KR" sz="500"/>
          </a:p>
          <a:p>
            <a:pPr algn="l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onsolas"/>
                <a:ea typeface="맑은 고딕"/>
              </a:rPr>
              <a:t>Train </a:t>
            </a:r>
            <a:r>
              <a:rPr lang="ko-KR" sz="1000" b="0">
                <a:solidFill>
                  <a:srgbClr val="94a3b8"/>
                </a:solidFill>
                <a:latin typeface="맑은 고딕"/>
                <a:ea typeface="맑은 고딕"/>
              </a:rPr>
              <a:t>2,327  |  </a:t>
            </a:r>
            <a:r>
              <a:rPr lang="en-US" sz="1000" b="1">
                <a:solidFill>
                  <a:srgbClr val="ffffff"/>
                </a:solidFill>
                <a:latin typeface="Consolas"/>
                <a:ea typeface="맑은 고딕"/>
              </a:rPr>
              <a:t>Val </a:t>
            </a:r>
            <a:r>
              <a:rPr lang="ko-KR" sz="1000" b="0">
                <a:solidFill>
                  <a:srgbClr val="94a3b8"/>
                </a:solidFill>
                <a:latin typeface="맑은 고딕"/>
                <a:ea typeface="맑은 고딕"/>
              </a:rPr>
              <a:t>285  |  </a:t>
            </a:r>
            <a:r>
              <a:rPr lang="en-US" sz="1000" b="1">
                <a:solidFill>
                  <a:srgbClr val="ffffff"/>
                </a:solidFill>
                <a:latin typeface="Consolas"/>
                <a:ea typeface="맑은 고딕"/>
              </a:rPr>
              <a:t>Test </a:t>
            </a:r>
            <a:r>
              <a:rPr lang="ko-KR" sz="1000" b="0">
                <a:solidFill>
                  <a:srgbClr val="94a3b8"/>
                </a:solidFill>
                <a:latin typeface="맑은 고딕"/>
                <a:ea typeface="맑은 고딕"/>
              </a:rPr>
              <a:t>286  (stratified, seed=42)</a:t>
            </a:r>
            <a:endParaRPr lang="ko-KR" sz="1000" b="0">
              <a:solidFill>
                <a:srgbClr val="94a3b8"/>
              </a:solidFill>
              <a:latin typeface="맑은 고딕"/>
              <a:ea typeface="맑은 고딕"/>
            </a:endParaRPr>
          </a:p>
        </p:txBody>
      </p:sp>
      <p:sp>
        <p:nvSpPr>
          <p:cNvPr id="32" name="DataCard2"/>
          <p:cNvSpPr/>
          <p:nvPr/>
        </p:nvSpPr>
        <p:spPr>
          <a:xfrm>
            <a:off x="6200000" y="2752338"/>
            <a:ext cx="5600000" cy="379766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7188aa"/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20000"/>
              </a:srgbClr>
            </a:outerShdw>
          </a:effectLst>
        </p:spPr>
        <p:txBody>
          <a:bodyPr wrap="square" lIns="137160" tIns="91425" rIns="137160" bIns="91425" anchor="t"/>
          <a:lstStyle/>
          <a:p>
            <a:pPr algn="l">
              <a:buNone/>
              <a:defRPr/>
            </a:pPr>
            <a:r>
              <a:rPr lang="ko-KR" sz="1200" b="1">
                <a:solidFill>
                  <a:srgbClr val="1e293b"/>
                </a:solidFill>
                <a:latin typeface="맑은 고딕"/>
                <a:ea typeface="맑은 고딕"/>
              </a:rPr>
              <a:t>실제 데이터 예시</a:t>
            </a:r>
            <a:endParaRPr lang="ko-KR" sz="1200" b="1">
              <a:solidFill>
                <a:srgbClr val="1e293b"/>
              </a:solidFill>
              <a:latin typeface="맑은 고딕"/>
              <a:ea typeface="맑은 고딕"/>
            </a:endParaRPr>
          </a:p>
          <a:p>
            <a:pPr algn="l">
              <a:buNone/>
              <a:defRPr/>
            </a:pPr>
            <a:endParaRPr lang="ko-KR" sz="300"/>
          </a:p>
          <a:p>
            <a:pPr algn="l">
              <a:buNone/>
              <a:defRPr/>
            </a:pPr>
            <a:r>
              <a:rPr lang="ko-KR" sz="900" b="1">
                <a:solidFill>
                  <a:srgbClr val="3b5998"/>
                </a:solidFill>
                <a:latin typeface="맑은 고딕"/>
                <a:ea typeface="맑은 고딕"/>
              </a:rPr>
              <a:t>기본 데이터</a:t>
            </a:r>
            <a:endParaRPr lang="ko-KR" sz="900" b="1">
              <a:solidFill>
                <a:srgbClr val="3b5998"/>
              </a:solidFill>
              <a:latin typeface="맑은 고딕"/>
              <a:ea typeface="맑은 고딕"/>
            </a:endParaRPr>
          </a:p>
          <a:p>
            <a:pPr algn="l">
              <a:buNone/>
              <a:defRPr/>
            </a:pPr>
            <a:r>
              <a:rPr lang="en-US" altLang="ko-KR" sz="900" b="0">
                <a:solidFill>
                  <a:srgbClr val="333333"/>
                </a:solidFill>
                <a:latin typeface="Consolas"/>
                <a:ea typeface="맑은 고딕"/>
              </a:rPr>
              <a:t>{"text": "지각 3번이면 경고야?",          "label": "judgment"}                                {"text": "경조사 규정 보여줘",             "label": "doc_search"}</a:t>
            </a:r>
            <a:endParaRPr lang="en-US" altLang="ko-KR" sz="900" b="0">
              <a:solidFill>
                <a:srgbClr val="333333"/>
              </a:solidFill>
              <a:latin typeface="Consolas"/>
              <a:ea typeface="맑은 고딕"/>
            </a:endParaRPr>
          </a:p>
          <a:p>
            <a:pPr algn="l">
              <a:buNone/>
              <a:defRPr/>
            </a:pPr>
            <a:r>
              <a:rPr lang="en-US" altLang="ko-KR" sz="900" b="0">
                <a:solidFill>
                  <a:srgbClr val="333333"/>
                </a:solidFill>
                <a:latin typeface="Consolas"/>
                <a:ea typeface="맑은 고딕"/>
              </a:rPr>
              <a:t>{"text": "보고서 만들어줘",               "label": "doc_generate"}                          </a:t>
            </a:r>
            <a:endParaRPr lang="en-US" altLang="ko-KR" sz="900" b="0">
              <a:solidFill>
                <a:srgbClr val="333333"/>
              </a:solidFill>
              <a:latin typeface="Consolas"/>
              <a:ea typeface="맑은 고딕"/>
            </a:endParaRPr>
          </a:p>
          <a:p>
            <a:pPr algn="l">
              <a:buNone/>
              <a:defRPr/>
            </a:pPr>
            <a:r>
              <a:rPr lang="en-US" altLang="ko-KR" sz="900" b="0">
                <a:solidFill>
                  <a:srgbClr val="333333"/>
                </a:solidFill>
                <a:latin typeface="Consolas"/>
                <a:ea typeface="맑은 고딕"/>
              </a:rPr>
              <a:t>{"text": "</a:t>
            </a:r>
            <a:r>
              <a:rPr lang="ko-KR" altLang="en-US" sz="900" b="0">
                <a:solidFill>
                  <a:srgbClr val="333333"/>
                </a:solidFill>
                <a:latin typeface="Consolas"/>
                <a:ea typeface="맑은 고딕"/>
              </a:rPr>
              <a:t>문서 요약해줘</a:t>
            </a:r>
            <a:r>
              <a:rPr lang="en-US" altLang="ko-KR" sz="900" b="0">
                <a:solidFill>
                  <a:srgbClr val="333333"/>
                </a:solidFill>
                <a:latin typeface="Consolas"/>
                <a:ea typeface="맑은 고딕"/>
              </a:rPr>
              <a:t>",                 "label": "doc_summary"}</a:t>
            </a:r>
            <a:endParaRPr lang="en-US" altLang="ko-KR" sz="900" b="0">
              <a:solidFill>
                <a:srgbClr val="333333"/>
              </a:solidFill>
              <a:latin typeface="Consolas"/>
              <a:ea typeface="맑은 고딕"/>
            </a:endParaRPr>
          </a:p>
          <a:p>
            <a:pPr algn="l">
              <a:buNone/>
              <a:defRPr/>
            </a:pPr>
            <a:r>
              <a:rPr lang="en-US" altLang="ko-KR" sz="900" b="0">
                <a:solidFill>
                  <a:srgbClr val="333333"/>
                </a:solidFill>
                <a:latin typeface="Consolas"/>
                <a:ea typeface="맑은 고딕"/>
              </a:rPr>
              <a:t>{"text": "납기일 언제야?",                "label": "doc_qa"}</a:t>
            </a:r>
            <a:endParaRPr lang="en-US" altLang="ko-KR" sz="900" b="0">
              <a:solidFill>
                <a:srgbClr val="333333"/>
              </a:solidFill>
              <a:latin typeface="Consolas"/>
              <a:ea typeface="맑은 고딕"/>
            </a:endParaRPr>
          </a:p>
          <a:p>
            <a:pPr algn="l">
              <a:buNone/>
              <a:defRPr/>
            </a:pPr>
            <a:r>
              <a:rPr lang="en-US" altLang="ko-KR" sz="900" b="0">
                <a:solidFill>
                  <a:srgbClr val="333333"/>
                </a:solidFill>
                <a:latin typeface="Consolas"/>
                <a:ea typeface="맑은 고딕"/>
              </a:rPr>
              <a:t>{"text": "내일 3시에 팀미팅 잡아줘",       "label": "schedule_add"}</a:t>
            </a:r>
            <a:endParaRPr lang="en-US" altLang="ko-KR" sz="900" b="0">
              <a:solidFill>
                <a:srgbClr val="333333"/>
              </a:solidFill>
              <a:latin typeface="Consolas"/>
              <a:ea typeface="맑은 고딕"/>
            </a:endParaRPr>
          </a:p>
          <a:p>
            <a:pPr algn="l">
              <a:buNone/>
              <a:defRPr/>
            </a:pPr>
            <a:r>
              <a:rPr lang="en-US" altLang="ko-KR" sz="900" b="0">
                <a:solidFill>
                  <a:srgbClr val="333333"/>
                </a:solidFill>
                <a:latin typeface="Consolas"/>
                <a:ea typeface="맑은 고딕"/>
              </a:rPr>
              <a:t>{"text": "이번 주 내 일정 보여줘",         "label": "schedule_view"}</a:t>
            </a:r>
            <a:endParaRPr lang="en-US" altLang="ko-KR" sz="900" b="0">
              <a:solidFill>
                <a:srgbClr val="333333"/>
              </a:solidFill>
              <a:latin typeface="Consolas"/>
              <a:ea typeface="맑은 고딕"/>
            </a:endParaRPr>
          </a:p>
          <a:p>
            <a:pPr algn="l">
              <a:buNone/>
              <a:defRPr/>
            </a:pPr>
            <a:r>
              <a:rPr lang="en-US" altLang="ko-KR" sz="900" b="0">
                <a:solidFill>
                  <a:srgbClr val="333333"/>
                </a:solidFill>
                <a:latin typeface="Consolas"/>
                <a:ea typeface="맑은 고딕"/>
              </a:rPr>
              <a:t>{"text": "좋은 아침",                     "label": "general"}</a:t>
            </a:r>
            <a:endParaRPr lang="en-US" altLang="ko-KR" sz="900" b="0">
              <a:solidFill>
                <a:srgbClr val="333333"/>
              </a:solidFill>
              <a:latin typeface="Consolas"/>
              <a:ea typeface="맑은 고딕"/>
            </a:endParaRPr>
          </a:p>
          <a:p>
            <a:pPr algn="l">
              <a:buNone/>
              <a:defRPr/>
            </a:pPr>
            <a:endParaRPr lang="ko-KR" sz="900" b="1">
              <a:solidFill>
                <a:srgbClr val="e05252"/>
              </a:solidFill>
              <a:latin typeface="맑은 고딕"/>
              <a:ea typeface="맑은 고딕"/>
            </a:endParaRPr>
          </a:p>
          <a:p>
            <a:pPr algn="l">
              <a:buNone/>
              <a:defRPr/>
            </a:pPr>
            <a:r>
              <a:rPr lang="ko-KR" sz="900" b="1">
                <a:solidFill>
                  <a:srgbClr val="e05252"/>
                </a:solidFill>
                <a:latin typeface="맑은 고딕"/>
                <a:ea typeface="맑은 고딕"/>
              </a:rPr>
              <a:t>경계쌍 데이터 (혼동 유도)</a:t>
            </a:r>
            <a:endParaRPr lang="ko-KR" sz="900" b="1">
              <a:solidFill>
                <a:srgbClr val="e05252"/>
              </a:solidFill>
              <a:latin typeface="맑은 고딕"/>
              <a:ea typeface="맑은 고딕"/>
            </a:endParaRPr>
          </a:p>
          <a:p>
            <a:pPr algn="l">
              <a:buNone/>
              <a:defRPr/>
            </a:pPr>
            <a:r>
              <a:rPr lang="en-US" altLang="ko-KR" sz="900" b="0">
                <a:solidFill>
                  <a:srgbClr val="333333"/>
                </a:solidFill>
                <a:latin typeface="Consolas"/>
                <a:ea typeface="맑은 고딕"/>
              </a:rPr>
              <a:t>쌍 1: doc_search vs doc_qa</a:t>
            </a:r>
            <a:endParaRPr lang="en-US" altLang="ko-KR" sz="900" b="0">
              <a:solidFill>
                <a:srgbClr val="333333"/>
              </a:solidFill>
              <a:latin typeface="Consolas"/>
              <a:ea typeface="맑은 고딕"/>
            </a:endParaRPr>
          </a:p>
          <a:p>
            <a:pPr algn="l">
              <a:buNone/>
              <a:defRPr/>
            </a:pPr>
            <a:r>
              <a:rPr lang="en-US" altLang="ko-KR" sz="900" b="0">
                <a:solidFill>
                  <a:srgbClr val="333333"/>
                </a:solidFill>
                <a:latin typeface="Consolas"/>
                <a:ea typeface="맑은 고딕"/>
              </a:rPr>
              <a:t>{"text": "출장비 관련 규정 문서 찾아줘",   "label": "doc_search"}</a:t>
            </a:r>
            <a:endParaRPr lang="en-US" altLang="ko-KR" sz="900" b="0">
              <a:solidFill>
                <a:srgbClr val="333333"/>
              </a:solidFill>
              <a:latin typeface="Consolas"/>
              <a:ea typeface="맑은 고딕"/>
            </a:endParaRPr>
          </a:p>
          <a:p>
            <a:pPr algn="l">
              <a:buNone/>
              <a:defRPr/>
            </a:pPr>
            <a:r>
              <a:rPr lang="en-US" altLang="ko-KR" sz="900" b="0">
                <a:solidFill>
                  <a:srgbClr val="333333"/>
                </a:solidFill>
                <a:latin typeface="Consolas"/>
                <a:ea typeface="맑은 고딕"/>
              </a:rPr>
              <a:t>{"text": "출장비 한도가 얼마인지 알려줘",  "label": "doc_qa"}</a:t>
            </a:r>
            <a:endParaRPr lang="en-US" altLang="ko-KR" sz="900" b="0">
              <a:solidFill>
                <a:srgbClr val="333333"/>
              </a:solidFill>
              <a:latin typeface="Consolas"/>
              <a:ea typeface="맑은 고딕"/>
            </a:endParaRPr>
          </a:p>
          <a:p>
            <a:pPr algn="l">
              <a:buNone/>
              <a:defRPr/>
            </a:pPr>
            <a:r>
              <a:rPr lang="en-US" altLang="ko-KR" sz="900" b="0">
                <a:solidFill>
                  <a:srgbClr val="333333"/>
                </a:solidFill>
                <a:latin typeface="Consolas"/>
                <a:ea typeface="맑은 고딕"/>
              </a:rPr>
              <a:t>쌍 2: doc_search vs doc_qa</a:t>
            </a:r>
            <a:endParaRPr lang="en-US" altLang="ko-KR" sz="900" b="0">
              <a:solidFill>
                <a:srgbClr val="333333"/>
              </a:solidFill>
              <a:latin typeface="Consolas"/>
              <a:ea typeface="맑은 고딕"/>
            </a:endParaRPr>
          </a:p>
          <a:p>
            <a:pPr algn="l">
              <a:buNone/>
              <a:defRPr/>
            </a:pPr>
            <a:r>
              <a:rPr lang="en-US" altLang="ko-KR" sz="900" b="0">
                <a:solidFill>
                  <a:srgbClr val="333333"/>
                </a:solidFill>
                <a:latin typeface="Consolas"/>
                <a:ea typeface="맑은 고딕"/>
              </a:rPr>
              <a:t>{"text": "보안 정책 문서 좀 찾아주세요",  "label": "doc_search"}</a:t>
            </a:r>
            <a:endParaRPr lang="en-US" altLang="ko-KR" sz="900" b="0">
              <a:solidFill>
                <a:srgbClr val="333333"/>
              </a:solidFill>
              <a:latin typeface="Consolas"/>
              <a:ea typeface="맑은 고딕"/>
            </a:endParaRPr>
          </a:p>
          <a:p>
            <a:pPr algn="l">
              <a:buNone/>
              <a:defRPr/>
            </a:pPr>
            <a:r>
              <a:rPr lang="en-US" altLang="ko-KR" sz="900" b="0">
                <a:solidFill>
                  <a:srgbClr val="333333"/>
                </a:solidFill>
                <a:latin typeface="Consolas"/>
                <a:ea typeface="맑은 고딕"/>
              </a:rPr>
              <a:t>{"text": "비밀번호 변경 주기가 몇 개월이야?", "label": "doc_qa"}</a:t>
            </a:r>
            <a:endParaRPr lang="en-US" altLang="ko-KR" sz="900" b="0">
              <a:solidFill>
                <a:srgbClr val="333333"/>
              </a:solidFill>
              <a:latin typeface="Consolas"/>
              <a:ea typeface="맑은 고딕"/>
            </a:endParaRPr>
          </a:p>
          <a:p>
            <a:pPr algn="l">
              <a:buNone/>
              <a:defRPr/>
            </a:pPr>
            <a:r>
              <a:rPr lang="en-US" altLang="ko-KR" sz="900" b="0">
                <a:solidFill>
                  <a:srgbClr val="333333"/>
                </a:solidFill>
                <a:latin typeface="Consolas"/>
                <a:ea typeface="맑은 고딕"/>
              </a:rPr>
              <a:t>쌍 3: doc_search vs judgment</a:t>
            </a:r>
            <a:endParaRPr lang="en-US" altLang="ko-KR" sz="900" b="0">
              <a:solidFill>
                <a:srgbClr val="333333"/>
              </a:solidFill>
              <a:latin typeface="Consolas"/>
              <a:ea typeface="맑은 고딕"/>
            </a:endParaRPr>
          </a:p>
          <a:p>
            <a:pPr algn="l">
              <a:buNone/>
              <a:defRPr/>
            </a:pPr>
            <a:r>
              <a:rPr lang="en-US" altLang="ko-KR" sz="900" b="0">
                <a:solidFill>
                  <a:srgbClr val="333333"/>
                </a:solidFill>
                <a:latin typeface="Consolas"/>
                <a:ea typeface="맑은 고딕"/>
              </a:rPr>
              <a:t>{"text": "법인카드 사용 지침 어디서 볼 수 있어?",   "label": "doc_search"}</a:t>
            </a:r>
            <a:endParaRPr lang="en-US" altLang="ko-KR" sz="900" b="0">
              <a:solidFill>
                <a:srgbClr val="333333"/>
              </a:solidFill>
              <a:latin typeface="Consolas"/>
              <a:ea typeface="맑은 고딕"/>
            </a:endParaRPr>
          </a:p>
          <a:p>
            <a:pPr algn="l">
              <a:buNone/>
              <a:defRPr/>
            </a:pPr>
            <a:r>
              <a:rPr lang="en-US" altLang="ko-KR" sz="900" b="0">
                <a:solidFill>
                  <a:srgbClr val="333333"/>
                </a:solidFill>
                <a:latin typeface="Consolas"/>
                <a:ea typeface="맑은 고딕"/>
              </a:rPr>
              <a:t>{"text": "법인카드로 간식 사도 괜찮아?",  "label": "judgment"}</a:t>
            </a:r>
            <a:endParaRPr lang="en-US" altLang="ko-KR" sz="900" b="0">
              <a:solidFill>
                <a:srgbClr val="333333"/>
              </a:solidFill>
              <a:latin typeface="Consolas"/>
              <a:ea typeface="맑은 고딕"/>
            </a:endParaRPr>
          </a:p>
          <a:p>
            <a:pPr algn="l">
              <a:buNone/>
              <a:defRPr/>
            </a:pPr>
            <a:r>
              <a:rPr lang="en-US" altLang="ko-KR" sz="900" b="0">
                <a:solidFill>
                  <a:srgbClr val="333333"/>
                </a:solidFill>
                <a:latin typeface="Consolas"/>
                <a:ea typeface="맑은 고딕"/>
              </a:rPr>
              <a:t>쌍 4: doc_search vs doc_generate</a:t>
            </a:r>
            <a:endParaRPr lang="en-US" altLang="ko-KR" sz="900" b="0">
              <a:solidFill>
                <a:srgbClr val="333333"/>
              </a:solidFill>
              <a:latin typeface="Consolas"/>
              <a:ea typeface="맑은 고딕"/>
            </a:endParaRPr>
          </a:p>
          <a:p>
            <a:pPr algn="l">
              <a:buNone/>
              <a:defRPr/>
            </a:pPr>
            <a:r>
              <a:rPr lang="en-US" altLang="ko-KR" sz="900" b="0">
                <a:solidFill>
                  <a:srgbClr val="333333"/>
                </a:solidFill>
                <a:latin typeface="Consolas"/>
                <a:ea typeface="맑은 고딕"/>
              </a:rPr>
              <a:t>{"text": "제안서 양식 있어?", "label": "doc_search"}</a:t>
            </a:r>
            <a:endParaRPr lang="en-US" altLang="ko-KR" sz="900" b="0">
              <a:solidFill>
                <a:srgbClr val="333333"/>
              </a:solidFill>
              <a:latin typeface="Consolas"/>
              <a:ea typeface="맑은 고딕"/>
            </a:endParaRPr>
          </a:p>
          <a:p>
            <a:pPr algn="l">
              <a:buNone/>
              <a:defRPr/>
            </a:pPr>
            <a:r>
              <a:rPr lang="en-US" altLang="ko-KR" sz="900" b="0">
                <a:solidFill>
                  <a:srgbClr val="333333"/>
                </a:solidFill>
                <a:latin typeface="Consolas"/>
                <a:ea typeface="맑은 고딕"/>
              </a:rPr>
              <a:t>{"text": "제안서 만들어줘",   "label": "doc_generate"}</a:t>
            </a:r>
            <a:endParaRPr lang="en-US" altLang="ko-KR" sz="900" b="0">
              <a:solidFill>
                <a:srgbClr val="333333"/>
              </a:solidFill>
              <a:latin typeface="Consolas"/>
              <a:ea typeface="맑은 고딕"/>
            </a:endParaRPr>
          </a:p>
        </p:txBody>
      </p:sp>
      <p:sp>
        <p:nvSpPr>
          <p:cNvPr id="40" name="BottomNote"/>
          <p:cNvSpPr txBox="1"/>
          <p:nvPr/>
        </p:nvSpPr>
        <p:spPr>
          <a:xfrm>
            <a:off x="6200000" y="6600000"/>
            <a:ext cx="5600000" cy="2000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r">
              <a:buNone/>
            </a:pPr>
            <a:r>
              <a:rPr lang="ko-KR" sz="800" b="0" i="1">
                <a:solidFill>
                  <a:srgbClr val="999999"/>
                </a:solidFill>
                <a:latin typeface="Malgun Gothic"/>
                <a:ea typeface="Malgun Gothic"/>
              </a:rPr>
              <a:t>data/training/intent_v2/splits/  |  Max/Min ratio 1.28x  |  데이터 누출 0건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f5f2ec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220</ep:Words>
  <ep:PresentationFormat/>
  <ep:Paragraphs>46</ep:Paragraphs>
  <ep:Slides>1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ep:HeadingPairs>
  <ep:TitlesOfParts>
    <vt:vector size="2" baseType="lpstr">
      <vt:lpstr>Office Theme</vt:lpstr>
      <vt:lpstr>슬라이드 1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jiyon</cp:lastModifiedBy>
  <dcterms:modified xsi:type="dcterms:W3CDTF">2026-02-26T13:26:21.565</dcterms:modified>
  <cp:revision>3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