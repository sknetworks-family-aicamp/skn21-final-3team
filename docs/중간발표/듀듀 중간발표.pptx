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6858000" cx="12192000"/>
  <p:notesSz cx="6858000" cy="9144000"/>
  <p:embeddedFontLst>
    <p:embeddedFont>
      <p:font typeface="Roboto ExtraBold"/>
      <p:bold r:id="rId29"/>
      <p:boldItalic r:id="rId30"/>
    </p:embeddedFont>
    <p:embeddedFont>
      <p:font typeface="Roboto Black"/>
      <p:bold r:id="rId31"/>
      <p:boldItalic r:id="rId32"/>
    </p:embeddedFont>
    <p:embeddedFont>
      <p:font typeface="Noto Sans KR"/>
      <p:regular r:id="rId33"/>
      <p:bold r:id="rId34"/>
    </p:embeddedFont>
    <p:embeddedFont>
      <p:font typeface="Roboto"/>
      <p:regular r:id="rId35"/>
      <p:bold r:id="rId36"/>
      <p:italic r:id="rId37"/>
      <p:boldItalic r:id="rId38"/>
    </p:embeddedFont>
    <p:embeddedFont>
      <p:font typeface="Roboto Medium"/>
      <p:regular r:id="rId39"/>
      <p:bold r:id="rId40"/>
      <p:italic r:id="rId41"/>
      <p:boldItalic r:id="rId42"/>
    </p:embeddedFont>
    <p:embeddedFont>
      <p:font typeface="Poppins"/>
      <p:regular r:id="rId43"/>
      <p:bold r:id="rId44"/>
      <p:italic r:id="rId45"/>
      <p:boldItalic r:id="rId46"/>
    </p:embeddedFont>
    <p:embeddedFont>
      <p:font typeface="Roboto SemiBold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1" roundtripDataSignature="AMtx7micwNkQBlZgtJtXDFcfPkPqCN9sl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안혜빈"/>
  <p:cmAuthor clrIdx="1" id="1" initials="" lastIdx="4" name="진승언"/>
  <p:cmAuthor clrIdx="2" id="2" initials="" lastIdx="3" name="윤경은"/>
  <p:cmAuthor clrIdx="3" id="3" initials="" lastIdx="1" name="jiyong shi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F7BCA8-77A6-4D98-9364-8AF8E2040451}">
  <a:tblStyle styleId="{09F7BCA8-77A6-4D98-9364-8AF8E20404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.fntdata"/><Relationship Id="rId42" Type="http://schemas.openxmlformats.org/officeDocument/2006/relationships/font" Target="fonts/RobotoMedium-boldItalic.fntdata"/><Relationship Id="rId41" Type="http://schemas.openxmlformats.org/officeDocument/2006/relationships/font" Target="fonts/RobotoMedium-italic.fntdata"/><Relationship Id="rId44" Type="http://schemas.openxmlformats.org/officeDocument/2006/relationships/font" Target="fonts/Poppins-bold.fntdata"/><Relationship Id="rId43" Type="http://schemas.openxmlformats.org/officeDocument/2006/relationships/font" Target="fonts/Poppins-regular.fntdata"/><Relationship Id="rId46" Type="http://schemas.openxmlformats.org/officeDocument/2006/relationships/font" Target="fonts/Poppins-boldItalic.fntdata"/><Relationship Id="rId45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RobotoSemiBold-bold.fntdata"/><Relationship Id="rId47" Type="http://schemas.openxmlformats.org/officeDocument/2006/relationships/font" Target="fonts/RobotoSemiBold-regular.fntdata"/><Relationship Id="rId49" Type="http://schemas.openxmlformats.org/officeDocument/2006/relationships/font" Target="fonts/RobotoSemiBold-italic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Black-bold.fntdata"/><Relationship Id="rId30" Type="http://schemas.openxmlformats.org/officeDocument/2006/relationships/font" Target="fonts/RobotoExtraBold-boldItalic.fntdata"/><Relationship Id="rId33" Type="http://schemas.openxmlformats.org/officeDocument/2006/relationships/font" Target="fonts/NotoSansKR-regular.fntdata"/><Relationship Id="rId32" Type="http://schemas.openxmlformats.org/officeDocument/2006/relationships/font" Target="fonts/RobotoBlack-boldItalic.fntdata"/><Relationship Id="rId35" Type="http://schemas.openxmlformats.org/officeDocument/2006/relationships/font" Target="fonts/Roboto-regular.fntdata"/><Relationship Id="rId34" Type="http://schemas.openxmlformats.org/officeDocument/2006/relationships/font" Target="fonts/NotoSansKR-bold.fntdata"/><Relationship Id="rId37" Type="http://schemas.openxmlformats.org/officeDocument/2006/relationships/font" Target="fonts/Roboto-italic.fntdata"/><Relationship Id="rId36" Type="http://schemas.openxmlformats.org/officeDocument/2006/relationships/font" Target="fonts/Roboto-bold.fntdata"/><Relationship Id="rId39" Type="http://schemas.openxmlformats.org/officeDocument/2006/relationships/font" Target="fonts/RobotoMedium-regular.fntdata"/><Relationship Id="rId38" Type="http://schemas.openxmlformats.org/officeDocument/2006/relationships/font" Target="fonts/Roboto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font" Target="fonts/RobotoExtraBold-bold.fntdata"/><Relationship Id="rId51" Type="http://customschemas.google.com/relationships/presentationmetadata" Target="metadata"/><Relationship Id="rId50" Type="http://schemas.openxmlformats.org/officeDocument/2006/relationships/font" Target="fonts/RobotoSemiBol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2-25T02:57:03.356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I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2-25T05:19:26.164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U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6-02-25T05:24:39.628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g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1" dt="2026-02-25T02:56:19.334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A"/>
      </p:ext>
    </p:extLst>
  </p:cm>
  <p:cm authorId="0" idx="2" dt="2026-02-25T02:56:19.334">
    <p:pos x="6000" y="0"/>
    <p:text>끝</p:text>
    <p:extLst>
      <p:ext uri="{C676402C-5697-4E1C-873F-D02D1690AC5C}">
        <p15:threadingInfo timeZoneBias="0">
          <p15:parentCm authorId="2" idx="1"/>
        </p15:threadingInfo>
      </p:ext>
      <p:ext uri="http://customooxmlschemas.google.com/">
        <go:slidesCustomData xmlns:go="http://customooxmlschemas.google.com/" commentPostId="AAABzpOat3E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3" dt="2026-02-25T05:33:19.395">
    <p:pos x="6000" y="0"/>
    <p:text>💩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dEHM"/>
      </p:ext>
    </p:extLst>
  </p:cm>
  <p:cm authorId="3" idx="1" dt="2026-02-25T05:33:19.395">
    <p:pos x="6000" y="0"/>
    <p:text>💩</p:text>
    <p:extLst>
      <p:ext uri="{C676402C-5697-4E1C-873F-D02D1690AC5C}">
        <p15:threadingInfo timeZoneBias="0">
          <p15:parentCm authorId="1" idx="3"/>
        </p15:threadingInfo>
      </p:ext>
      <p:ext uri="http://customooxmlschemas.google.com/">
        <go:slidesCustomData xmlns:go="http://customooxmlschemas.google.com/" commentPostId="AAABzpOdEHQ"/>
      </p:ext>
    </p:extLst>
  </p:cm>
  <p:cm authorId="1" idx="4" dt="2026-02-25T05:32:35.459">
    <p:pos x="6000" y="10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Y"/>
      </p:ext>
    </p:extLst>
  </p:cm>
  <p:cm authorId="2" idx="2" dt="2026-02-25T05:25:04.322">
    <p:pos x="6000" y="100"/>
    <p:text>아니 진짜 개 밤티</p:text>
    <p:extLst>
      <p:ext uri="{C676402C-5697-4E1C-873F-D02D1690AC5C}">
        <p15:threadingInfo timeZoneBias="0">
          <p15:parentCm authorId="1" idx="4"/>
        </p15:threadingInfo>
      </p:ext>
      <p:ext uri="http://customooxmlschemas.google.com/">
        <go:slidesCustomData xmlns:go="http://customooxmlschemas.google.com/" commentPostId="AAABzpOat3k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3" dt="2026-02-26T06:23:40.750">
    <p:pos x="6000" y="0"/>
    <p:text>규정 판단 Agent의 경우 체계적으로 4개의 레이어를 구축한 부분은 좋은 것 같습니다. 근데 Confidence 보정 공식(LLM 60% + RAG 검색점수 25% + 커버리지 15%)에서 이 가중치를 어떻게 정했는지 근거가 없는 것 같습니다. 어떠한 포인트에서 이러한 방식으로 진행했는지 얘기할 수 있으면 좋을 것 같습니다.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P8KSo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2-25T05:49:50.558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dEHg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2-25T05:19:50.068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c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09b11e3f6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09b11e3f6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09b11e3f6_8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09b11e3f6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09b11e3f6_18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c09b11e3f6_18_41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0c338455d_3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3c0c338455d_3_34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09b11e3f6_18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c09b11e3f6_18_18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09b11e3f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c09b11e3f6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0c338455d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c0c338455d_2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0c338455d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g3c0c338455d_2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c0c338455d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g3c0c338455d_2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c0c338455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3" name="Google Shape;623;g3c0c338455d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7" name="Google Shape;6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c0c338455d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6" name="Google Shape;656;g3c0c338455d_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c0c338455d_9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g3c0c338455d_9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c0c338455d_3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8" name="Google Shape;708;g3c0c338455d_3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c0c338455d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6" name="Google Shape;746;g3c0c338455d_3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2" name="Google Shape;7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c0c338455d_3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2" name="Google Shape;822;g3c0c338455d_3_7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09b11e3f6_1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1" name="Google Shape;911;g3c09b11e3f6_15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"/>
              <a:buNone/>
              <a:defRPr i="0" sz="4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3.xml"/><Relationship Id="rId4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.png"/><Relationship Id="rId22" Type="http://schemas.openxmlformats.org/officeDocument/2006/relationships/image" Target="../media/image23.png"/><Relationship Id="rId21" Type="http://schemas.openxmlformats.org/officeDocument/2006/relationships/image" Target="../media/image22.png"/><Relationship Id="rId24" Type="http://schemas.openxmlformats.org/officeDocument/2006/relationships/image" Target="../media/image11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4.xml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26" Type="http://schemas.openxmlformats.org/officeDocument/2006/relationships/image" Target="../media/image26.png"/><Relationship Id="rId25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20.png"/><Relationship Id="rId11" Type="http://schemas.openxmlformats.org/officeDocument/2006/relationships/image" Target="../media/image17.png"/><Relationship Id="rId10" Type="http://schemas.openxmlformats.org/officeDocument/2006/relationships/image" Target="../media/image3.png"/><Relationship Id="rId13" Type="http://schemas.openxmlformats.org/officeDocument/2006/relationships/image" Target="../media/image15.png"/><Relationship Id="rId12" Type="http://schemas.openxmlformats.org/officeDocument/2006/relationships/image" Target="../media/image12.png"/><Relationship Id="rId15" Type="http://schemas.openxmlformats.org/officeDocument/2006/relationships/image" Target="../media/image19.png"/><Relationship Id="rId14" Type="http://schemas.openxmlformats.org/officeDocument/2006/relationships/image" Target="../media/image6.png"/><Relationship Id="rId17" Type="http://schemas.openxmlformats.org/officeDocument/2006/relationships/image" Target="../media/image4.png"/><Relationship Id="rId16" Type="http://schemas.openxmlformats.org/officeDocument/2006/relationships/image" Target="../media/image18.png"/><Relationship Id="rId19" Type="http://schemas.openxmlformats.org/officeDocument/2006/relationships/image" Target="../media/image24.png"/><Relationship Id="rId1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48.png"/><Relationship Id="rId22" Type="http://schemas.openxmlformats.org/officeDocument/2006/relationships/image" Target="../media/image49.png"/><Relationship Id="rId21" Type="http://schemas.openxmlformats.org/officeDocument/2006/relationships/image" Target="../media/image43.png"/><Relationship Id="rId24" Type="http://schemas.openxmlformats.org/officeDocument/2006/relationships/image" Target="../media/image50.png"/><Relationship Id="rId23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5.xml"/><Relationship Id="rId4" Type="http://schemas.openxmlformats.org/officeDocument/2006/relationships/image" Target="../media/image97.png"/><Relationship Id="rId9" Type="http://schemas.openxmlformats.org/officeDocument/2006/relationships/image" Target="../media/image38.png"/><Relationship Id="rId26" Type="http://schemas.openxmlformats.org/officeDocument/2006/relationships/image" Target="../media/image45.png"/><Relationship Id="rId25" Type="http://schemas.openxmlformats.org/officeDocument/2006/relationships/image" Target="../media/image42.png"/><Relationship Id="rId28" Type="http://schemas.openxmlformats.org/officeDocument/2006/relationships/image" Target="../media/image40.png"/><Relationship Id="rId27" Type="http://schemas.openxmlformats.org/officeDocument/2006/relationships/image" Target="../media/image44.png"/><Relationship Id="rId5" Type="http://schemas.openxmlformats.org/officeDocument/2006/relationships/image" Target="../media/image53.png"/><Relationship Id="rId6" Type="http://schemas.openxmlformats.org/officeDocument/2006/relationships/image" Target="../media/image55.png"/><Relationship Id="rId29" Type="http://schemas.openxmlformats.org/officeDocument/2006/relationships/image" Target="../media/image39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Relationship Id="rId31" Type="http://schemas.openxmlformats.org/officeDocument/2006/relationships/image" Target="../media/image69.png"/><Relationship Id="rId30" Type="http://schemas.openxmlformats.org/officeDocument/2006/relationships/image" Target="../media/image67.png"/><Relationship Id="rId11" Type="http://schemas.openxmlformats.org/officeDocument/2006/relationships/image" Target="../media/image37.png"/><Relationship Id="rId10" Type="http://schemas.openxmlformats.org/officeDocument/2006/relationships/image" Target="../media/image31.png"/><Relationship Id="rId13" Type="http://schemas.openxmlformats.org/officeDocument/2006/relationships/image" Target="../media/image32.png"/><Relationship Id="rId12" Type="http://schemas.openxmlformats.org/officeDocument/2006/relationships/image" Target="../media/image35.png"/><Relationship Id="rId15" Type="http://schemas.openxmlformats.org/officeDocument/2006/relationships/image" Target="../media/image41.png"/><Relationship Id="rId14" Type="http://schemas.openxmlformats.org/officeDocument/2006/relationships/image" Target="../media/image33.png"/><Relationship Id="rId17" Type="http://schemas.openxmlformats.org/officeDocument/2006/relationships/image" Target="../media/image34.png"/><Relationship Id="rId16" Type="http://schemas.openxmlformats.org/officeDocument/2006/relationships/image" Target="../media/image36.png"/><Relationship Id="rId19" Type="http://schemas.openxmlformats.org/officeDocument/2006/relationships/image" Target="../media/image51.png"/><Relationship Id="rId18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59.png"/><Relationship Id="rId6" Type="http://schemas.openxmlformats.org/officeDocument/2006/relationships/image" Target="../media/image61.png"/><Relationship Id="rId7" Type="http://schemas.openxmlformats.org/officeDocument/2006/relationships/image" Target="../media/image6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6.xml"/><Relationship Id="rId4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0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6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3.png"/><Relationship Id="rId4" Type="http://schemas.openxmlformats.org/officeDocument/2006/relationships/image" Target="../media/image71.png"/><Relationship Id="rId9" Type="http://schemas.openxmlformats.org/officeDocument/2006/relationships/image" Target="../media/image66.png"/><Relationship Id="rId5" Type="http://schemas.openxmlformats.org/officeDocument/2006/relationships/image" Target="../media/image68.png"/><Relationship Id="rId6" Type="http://schemas.openxmlformats.org/officeDocument/2006/relationships/image" Target="../media/image72.png"/><Relationship Id="rId7" Type="http://schemas.openxmlformats.org/officeDocument/2006/relationships/image" Target="../media/image70.png"/><Relationship Id="rId8" Type="http://schemas.openxmlformats.org/officeDocument/2006/relationships/image" Target="../media/image76.png"/><Relationship Id="rId10" Type="http://schemas.openxmlformats.org/officeDocument/2006/relationships/image" Target="../media/image7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3.png"/><Relationship Id="rId4" Type="http://schemas.openxmlformats.org/officeDocument/2006/relationships/image" Target="../media/image71.png"/><Relationship Id="rId9" Type="http://schemas.openxmlformats.org/officeDocument/2006/relationships/image" Target="../media/image66.png"/><Relationship Id="rId5" Type="http://schemas.openxmlformats.org/officeDocument/2006/relationships/image" Target="../media/image68.png"/><Relationship Id="rId6" Type="http://schemas.openxmlformats.org/officeDocument/2006/relationships/image" Target="../media/image72.png"/><Relationship Id="rId7" Type="http://schemas.openxmlformats.org/officeDocument/2006/relationships/image" Target="../media/image70.png"/><Relationship Id="rId8" Type="http://schemas.openxmlformats.org/officeDocument/2006/relationships/image" Target="../media/image76.png"/><Relationship Id="rId11" Type="http://schemas.openxmlformats.org/officeDocument/2006/relationships/hyperlink" Target="http://drive.google.com/file/d/1iVv7LWubR062lKvI3Rj7QGLVGtRj8PL9/view" TargetMode="External"/><Relationship Id="rId10" Type="http://schemas.openxmlformats.org/officeDocument/2006/relationships/image" Target="../media/image74.png"/><Relationship Id="rId12" Type="http://schemas.openxmlformats.org/officeDocument/2006/relationships/image" Target="../media/image8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7.xml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2.png"/><Relationship Id="rId7" Type="http://schemas.openxmlformats.org/officeDocument/2006/relationships/image" Target="../media/image9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91.png"/><Relationship Id="rId5" Type="http://schemas.openxmlformats.org/officeDocument/2006/relationships/image" Target="../media/image96.png"/><Relationship Id="rId6" Type="http://schemas.openxmlformats.org/officeDocument/2006/relationships/image" Target="../media/image88.png"/><Relationship Id="rId7" Type="http://schemas.openxmlformats.org/officeDocument/2006/relationships/image" Target="../media/image94.png"/><Relationship Id="rId8" Type="http://schemas.openxmlformats.org/officeDocument/2006/relationships/image" Target="../media/image93.png"/><Relationship Id="rId10" Type="http://schemas.openxmlformats.org/officeDocument/2006/relationships/image" Target="../media/image9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09b11e3f6_7_0"/>
          <p:cNvSpPr txBox="1"/>
          <p:nvPr/>
        </p:nvSpPr>
        <p:spPr>
          <a:xfrm>
            <a:off x="4380450" y="746175"/>
            <a:ext cx="34311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SKN21 FINAL PROJECT 중간발표</a:t>
            </a:r>
            <a:endParaRPr sz="1700">
              <a:solidFill>
                <a:srgbClr val="47556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5" name="Google Shape;85;g3c09b11e3f6_7_0"/>
          <p:cNvSpPr txBox="1"/>
          <p:nvPr/>
        </p:nvSpPr>
        <p:spPr>
          <a:xfrm>
            <a:off x="1626600" y="1757325"/>
            <a:ext cx="89388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400">
                <a:solidFill>
                  <a:srgbClr val="334055"/>
                </a:solidFill>
                <a:latin typeface="Roboto"/>
                <a:ea typeface="Roboto"/>
                <a:cs typeface="Roboto"/>
                <a:sym typeface="Roboto"/>
              </a:rPr>
              <a:t>WorkFlow Agent: 사내 AI 어시스턴트</a:t>
            </a:r>
            <a:endParaRPr b="1" sz="4400">
              <a:solidFill>
                <a:srgbClr val="3340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334055"/>
                </a:solidFill>
                <a:latin typeface="Roboto Medium"/>
                <a:ea typeface="Roboto Medium"/>
                <a:cs typeface="Roboto Medium"/>
                <a:sym typeface="Roboto Medium"/>
              </a:rPr>
              <a:t>규정 기반 의사결정 지원 및 회의록 자동화 시스템</a:t>
            </a:r>
            <a:endParaRPr sz="2400">
              <a:solidFill>
                <a:srgbClr val="33405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3340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c09b11e3f6_7_0"/>
          <p:cNvSpPr txBox="1"/>
          <p:nvPr/>
        </p:nvSpPr>
        <p:spPr>
          <a:xfrm>
            <a:off x="4305600" y="5295975"/>
            <a:ext cx="35808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055"/>
                </a:solidFill>
                <a:latin typeface="Roboto"/>
                <a:ea typeface="Roboto"/>
                <a:cs typeface="Roboto"/>
                <a:sym typeface="Roboto"/>
              </a:rPr>
              <a:t>Team 3   문지영 신지용 안혜빈 윤경은 진승언</a:t>
            </a:r>
            <a:endParaRPr>
              <a:solidFill>
                <a:srgbClr val="3340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09b11e3f6_7_0"/>
          <p:cNvSpPr txBox="1"/>
          <p:nvPr/>
        </p:nvSpPr>
        <p:spPr>
          <a:xfrm>
            <a:off x="5312100" y="5730975"/>
            <a:ext cx="15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2026. 02. 27. FRI</a:t>
            </a:r>
            <a:endParaRPr sz="12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09b11e3f6_8_0"/>
          <p:cNvSpPr txBox="1"/>
          <p:nvPr/>
        </p:nvSpPr>
        <p:spPr>
          <a:xfrm>
            <a:off x="1054950" y="1505575"/>
            <a:ext cx="58263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 문제 정의 및 프로젝트 소개</a:t>
            </a:r>
            <a:b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2 시스템 아키텍처</a:t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3 기능 소개</a:t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4 기술 소개</a:t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5 진행 현황</a:t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g3c09b11e3f6_8_0"/>
          <p:cNvSpPr txBox="1"/>
          <p:nvPr/>
        </p:nvSpPr>
        <p:spPr>
          <a:xfrm>
            <a:off x="762000" y="571500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CONTENT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4" name="Google Shape;94;g3c09b11e3f6_8_0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9925" y="1204000"/>
            <a:ext cx="6040875" cy="56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9925" y="1906925"/>
            <a:ext cx="6040875" cy="5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3494700" y="3101550"/>
            <a:ext cx="520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회사 업무를 </a:t>
            </a:r>
            <a:r>
              <a:rPr lang="en-US" sz="3150">
                <a:solidFill>
                  <a:srgbClr val="2D58B8"/>
                </a:solidFill>
                <a:latin typeface="Roboto Black"/>
                <a:ea typeface="Roboto Black"/>
                <a:cs typeface="Roboto Black"/>
                <a:sym typeface="Roboto Black"/>
              </a:rPr>
              <a:t>자연어</a:t>
            </a:r>
            <a:r>
              <a:rPr lang="en-US" sz="315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로 쉽게 처리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4065900" y="4068793"/>
            <a:ext cx="406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듀듀</a:t>
            </a: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— LangGraph 기반 멀티 Agent 업무 자동화 시스템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510900" y="1346875"/>
            <a:ext cx="609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r>
              <a:rPr i="0" lang="en-US" sz="1350" u="none" cap="none" strike="noStrike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문서 검색, 생성, 규정 참조 등 문서 작업에 불필요한 시간이 매우 많이 걸림</a:t>
            </a:r>
            <a:endParaRPr i="0" sz="1400" u="none" cap="none" strike="noStrike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510900" y="2049790"/>
            <a:ext cx="4772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B63A0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r>
              <a:rPr i="0" lang="en-US" sz="1350" u="none" cap="none" strike="noStrike">
                <a:solidFill>
                  <a:srgbClr val="3B63A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>
                <a:solidFill>
                  <a:srgbClr val="3B63A0"/>
                </a:solidFill>
                <a:latin typeface="Roboto"/>
                <a:ea typeface="Roboto"/>
                <a:cs typeface="Roboto"/>
                <a:sym typeface="Roboto"/>
              </a:rPr>
              <a:t>자연어 기반 업무 자동화로 시간 효율성 증가</a:t>
            </a:r>
            <a:endParaRPr i="0" sz="1400" u="none" cap="none" strike="noStrike">
              <a:solidFill>
                <a:srgbClr val="3B63A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05" name="Google Shape;10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61758" y="620097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3204188" y="6229067"/>
            <a:ext cx="6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규정 판단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07" name="Google Shape;10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47475" y="6200976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/>
        </p:nvSpPr>
        <p:spPr>
          <a:xfrm>
            <a:off x="5261800" y="6223126"/>
            <a:ext cx="200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문서 </a:t>
            </a:r>
            <a:r>
              <a:rPr lang="en-US" sz="1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생성/조회/요약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09" name="Google Shape;10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56450" y="617932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 txBox="1"/>
          <p:nvPr/>
        </p:nvSpPr>
        <p:spPr>
          <a:xfrm>
            <a:off x="8045388" y="6210383"/>
            <a:ext cx="6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일정 관리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000" y="571500"/>
            <a:ext cx="444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문제 정의 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09b11e3f6_18_413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118" name="Google Shape;118;g3c09b11e3f6_18_413"/>
          <p:cNvSpPr/>
          <p:nvPr/>
        </p:nvSpPr>
        <p:spPr>
          <a:xfrm>
            <a:off x="1066755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CFD7E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c09b11e3f6_18_413"/>
          <p:cNvSpPr txBox="1"/>
          <p:nvPr/>
        </p:nvSpPr>
        <p:spPr>
          <a:xfrm>
            <a:off x="1066755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사용자 입력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g3c09b11e3f6_18_413"/>
          <p:cNvSpPr txBox="1"/>
          <p:nvPr/>
        </p:nvSpPr>
        <p:spPr>
          <a:xfrm>
            <a:off x="1066755" y="2287378"/>
            <a:ext cx="21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저번 회의록 액션 아이템이 뭐였지</a:t>
            </a: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?"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g3c09b11e3f6_18_413"/>
          <p:cNvSpPr txBox="1"/>
          <p:nvPr/>
        </p:nvSpPr>
        <p:spPr>
          <a:xfrm>
            <a:off x="3215652" y="1921618"/>
            <a:ext cx="3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7D3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/>
          </a:p>
        </p:txBody>
      </p:sp>
      <p:sp>
        <p:nvSpPr>
          <p:cNvPr id="122" name="Google Shape;122;g3c09b11e3f6_18_413"/>
          <p:cNvSpPr/>
          <p:nvPr/>
        </p:nvSpPr>
        <p:spPr>
          <a:xfrm>
            <a:off x="3718585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c09b11e3f6_18_413"/>
          <p:cNvSpPr txBox="1"/>
          <p:nvPr/>
        </p:nvSpPr>
        <p:spPr>
          <a:xfrm>
            <a:off x="3718585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Intent 분류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g3c09b11e3f6_18_413"/>
          <p:cNvSpPr txBox="1"/>
          <p:nvPr/>
        </p:nvSpPr>
        <p:spPr>
          <a:xfrm>
            <a:off x="3718585" y="2287378"/>
            <a:ext cx="21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KoELECTRA  F1 97.9%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g3c09b11e3f6_18_413"/>
          <p:cNvSpPr txBox="1"/>
          <p:nvPr/>
        </p:nvSpPr>
        <p:spPr>
          <a:xfrm>
            <a:off x="5867483" y="1921618"/>
            <a:ext cx="3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7D3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/>
          </a:p>
        </p:txBody>
      </p:sp>
      <p:sp>
        <p:nvSpPr>
          <p:cNvPr id="126" name="Google Shape;126;g3c09b11e3f6_18_413"/>
          <p:cNvSpPr/>
          <p:nvPr/>
        </p:nvSpPr>
        <p:spPr>
          <a:xfrm>
            <a:off x="6370416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c09b11e3f6_18_413"/>
          <p:cNvSpPr txBox="1"/>
          <p:nvPr/>
        </p:nvSpPr>
        <p:spPr>
          <a:xfrm>
            <a:off x="6370416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Orchestrator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g3c09b11e3f6_18_413"/>
          <p:cNvSpPr txBox="1"/>
          <p:nvPr/>
        </p:nvSpPr>
        <p:spPr>
          <a:xfrm>
            <a:off x="6370416" y="2287378"/>
            <a:ext cx="21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LangGraph 라우팅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g3c09b11e3f6_18_413"/>
          <p:cNvSpPr txBox="1"/>
          <p:nvPr/>
        </p:nvSpPr>
        <p:spPr>
          <a:xfrm>
            <a:off x="8519313" y="1921618"/>
            <a:ext cx="3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7D3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/>
          </a:p>
        </p:txBody>
      </p:sp>
      <p:sp>
        <p:nvSpPr>
          <p:cNvPr id="130" name="Google Shape;130;g3c09b11e3f6_18_413"/>
          <p:cNvSpPr/>
          <p:nvPr/>
        </p:nvSpPr>
        <p:spPr>
          <a:xfrm>
            <a:off x="9022247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c09b11e3f6_18_413"/>
          <p:cNvSpPr txBox="1"/>
          <p:nvPr/>
        </p:nvSpPr>
        <p:spPr>
          <a:xfrm>
            <a:off x="9022247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Agent 처리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g3c09b11e3f6_18_413"/>
          <p:cNvSpPr txBox="1"/>
          <p:nvPr/>
        </p:nvSpPr>
        <p:spPr>
          <a:xfrm>
            <a:off x="9022247" y="2287378"/>
            <a:ext cx="21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규정/문서/일정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g3c09b11e3f6_18_413"/>
          <p:cNvSpPr/>
          <p:nvPr/>
        </p:nvSpPr>
        <p:spPr>
          <a:xfrm>
            <a:off x="457212" y="3290073"/>
            <a:ext cx="3474600" cy="100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c09b11e3f6_18_413"/>
          <p:cNvSpPr txBox="1"/>
          <p:nvPr/>
        </p:nvSpPr>
        <p:spPr>
          <a:xfrm>
            <a:off x="1214698" y="3427225"/>
            <a:ext cx="20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Judgment Agent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g3c09b11e3f6_18_413"/>
          <p:cNvSpPr txBox="1"/>
          <p:nvPr/>
        </p:nvSpPr>
        <p:spPr>
          <a:xfrm>
            <a:off x="1021431" y="3852517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규정 판단 + RAG + 근거 제시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g3c09b11e3f6_18_413"/>
          <p:cNvSpPr/>
          <p:nvPr/>
        </p:nvSpPr>
        <p:spPr>
          <a:xfrm>
            <a:off x="4297795" y="3290073"/>
            <a:ext cx="3474600" cy="100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c09b11e3f6_18_413"/>
          <p:cNvSpPr txBox="1"/>
          <p:nvPr/>
        </p:nvSpPr>
        <p:spPr>
          <a:xfrm>
            <a:off x="5000057" y="3427233"/>
            <a:ext cx="29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Document Agent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g3c09b11e3f6_18_413"/>
          <p:cNvSpPr txBox="1"/>
          <p:nvPr/>
        </p:nvSpPr>
        <p:spPr>
          <a:xfrm>
            <a:off x="5041470" y="3852517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생성 / 요약 / 검색 / QA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g3c09b11e3f6_18_413"/>
          <p:cNvSpPr/>
          <p:nvPr/>
        </p:nvSpPr>
        <p:spPr>
          <a:xfrm>
            <a:off x="8138377" y="3290073"/>
            <a:ext cx="3474600" cy="100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c09b11e3f6_18_413"/>
          <p:cNvSpPr txBox="1"/>
          <p:nvPr/>
        </p:nvSpPr>
        <p:spPr>
          <a:xfrm>
            <a:off x="8951074" y="3427233"/>
            <a:ext cx="29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Schedule Agent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g3c09b11e3f6_18_413"/>
          <p:cNvSpPr txBox="1"/>
          <p:nvPr/>
        </p:nvSpPr>
        <p:spPr>
          <a:xfrm>
            <a:off x="8716400" y="3852517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일정 등록·조회 + Google 연동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3c09b11e3f6_18_413"/>
          <p:cNvSpPr/>
          <p:nvPr/>
        </p:nvSpPr>
        <p:spPr>
          <a:xfrm>
            <a:off x="105520" y="4661673"/>
            <a:ext cx="19203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c09b11e3f6_18_413"/>
          <p:cNvSpPr txBox="1"/>
          <p:nvPr/>
        </p:nvSpPr>
        <p:spPr>
          <a:xfrm>
            <a:off x="105520" y="4718413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규정 판단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g3c09b11e3f6_18_413"/>
          <p:cNvSpPr/>
          <p:nvPr/>
        </p:nvSpPr>
        <p:spPr>
          <a:xfrm>
            <a:off x="2208696" y="4661673"/>
            <a:ext cx="19203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c09b11e3f6_18_413"/>
          <p:cNvSpPr txBox="1"/>
          <p:nvPr/>
        </p:nvSpPr>
        <p:spPr>
          <a:xfrm>
            <a:off x="2208696" y="4718413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문서 생성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g3c09b11e3f6_18_413"/>
          <p:cNvSpPr/>
          <p:nvPr/>
        </p:nvSpPr>
        <p:spPr>
          <a:xfrm>
            <a:off x="4311872" y="4661673"/>
            <a:ext cx="19203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c09b11e3f6_18_413"/>
          <p:cNvSpPr txBox="1"/>
          <p:nvPr/>
        </p:nvSpPr>
        <p:spPr>
          <a:xfrm>
            <a:off x="4311872" y="4718413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문서 요약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g3c09b11e3f6_18_413"/>
          <p:cNvSpPr/>
          <p:nvPr/>
        </p:nvSpPr>
        <p:spPr>
          <a:xfrm>
            <a:off x="6506491" y="4661673"/>
            <a:ext cx="17373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c09b11e3f6_18_413"/>
          <p:cNvSpPr txBox="1"/>
          <p:nvPr/>
        </p:nvSpPr>
        <p:spPr>
          <a:xfrm>
            <a:off x="6506491" y="4718413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문서 검색 / QA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g3c09b11e3f6_18_413"/>
          <p:cNvSpPr/>
          <p:nvPr/>
        </p:nvSpPr>
        <p:spPr>
          <a:xfrm>
            <a:off x="8426782" y="4661673"/>
            <a:ext cx="17373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c09b11e3f6_18_413"/>
          <p:cNvSpPr txBox="1"/>
          <p:nvPr/>
        </p:nvSpPr>
        <p:spPr>
          <a:xfrm>
            <a:off x="8426782" y="4718413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일정 등록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g3c09b11e3f6_18_413"/>
          <p:cNvSpPr/>
          <p:nvPr/>
        </p:nvSpPr>
        <p:spPr>
          <a:xfrm>
            <a:off x="10347073" y="4661673"/>
            <a:ext cx="17373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c09b11e3f6_18_413"/>
          <p:cNvSpPr txBox="1"/>
          <p:nvPr/>
        </p:nvSpPr>
        <p:spPr>
          <a:xfrm>
            <a:off x="10347073" y="4718413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일정 조회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g3c09b11e3f6_18_413"/>
          <p:cNvSpPr/>
          <p:nvPr/>
        </p:nvSpPr>
        <p:spPr>
          <a:xfrm>
            <a:off x="3474362" y="5724738"/>
            <a:ext cx="5319300" cy="457200"/>
          </a:xfrm>
          <a:prstGeom prst="flowChartAlternateProcess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c09b11e3f6_18_413"/>
          <p:cNvSpPr txBox="1"/>
          <p:nvPr/>
        </p:nvSpPr>
        <p:spPr>
          <a:xfrm>
            <a:off x="2059221" y="5808303"/>
            <a:ext cx="815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32063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LLM API </a:t>
            </a:r>
            <a:r>
              <a:rPr i="0" lang="en-US" sz="1500" u="none" cap="none" strike="noStrike">
                <a:solidFill>
                  <a:srgbClr val="132063"/>
                </a:solidFill>
                <a:latin typeface="Roboto Black"/>
                <a:ea typeface="Roboto Black"/>
                <a:cs typeface="Roboto Black"/>
                <a:sym typeface="Roboto Black"/>
              </a:rPr>
              <a:t>먼저 구현  &gt;  형태 확정  </a:t>
            </a:r>
            <a:r>
              <a:rPr i="0" lang="en-US" sz="1500" u="none" cap="none" strike="noStrike">
                <a:solidFill>
                  <a:srgbClr val="132063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&gt;  sLLM(vLLM+LoRA)</a:t>
            </a:r>
            <a:r>
              <a:rPr i="0" lang="en-US" sz="1500" u="none" cap="none" strike="noStrike">
                <a:solidFill>
                  <a:srgbClr val="132063"/>
                </a:solidFill>
                <a:latin typeface="Roboto Black"/>
                <a:ea typeface="Roboto Black"/>
                <a:cs typeface="Roboto Black"/>
                <a:sym typeface="Roboto Black"/>
              </a:rPr>
              <a:t> 교체</a:t>
            </a:r>
            <a:endParaRPr>
              <a:solidFill>
                <a:srgbClr val="13206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6" name="Google Shape;156;g3c09b11e3f6_18_413"/>
          <p:cNvSpPr txBox="1"/>
          <p:nvPr/>
        </p:nvSpPr>
        <p:spPr>
          <a:xfrm>
            <a:off x="762000" y="571500"/>
            <a:ext cx="616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Solution</a:t>
            </a: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: 자연어 한 마디로 업무 자동화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275" y="1242941"/>
            <a:ext cx="5095875" cy="5194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42941"/>
            <a:ext cx="5095875" cy="5194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7075" y="2267945"/>
            <a:ext cx="4737775" cy="62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3249213"/>
            <a:ext cx="4314825" cy="101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"/>
          <p:cNvSpPr txBox="1"/>
          <p:nvPr/>
        </p:nvSpPr>
        <p:spPr>
          <a:xfrm>
            <a:off x="1215952" y="1601261"/>
            <a:ext cx="207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3A426F"/>
                </a:solidFill>
                <a:latin typeface="Roboto Black"/>
                <a:ea typeface="Roboto Black"/>
                <a:cs typeface="Roboto Black"/>
                <a:sym typeface="Roboto Black"/>
              </a:rPr>
              <a:t>파이프라인 구조</a:t>
            </a:r>
            <a:endParaRPr i="0" sz="1400" u="none" cap="none" strike="noStrike">
              <a:solidFill>
                <a:srgbClr val="3A426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7147779" y="5985467"/>
            <a:ext cx="346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모르면 되묻는 안전장치 (Clarify 라우팅)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7" name="Google Shape;16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1727" y="161340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"/>
          <p:cNvSpPr txBox="1"/>
          <p:nvPr/>
        </p:nvSpPr>
        <p:spPr>
          <a:xfrm>
            <a:off x="1614583" y="6040176"/>
            <a:ext cx="346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F6291"/>
                </a:solidFill>
                <a:latin typeface="Roboto"/>
                <a:ea typeface="Roboto"/>
                <a:cs typeface="Roboto"/>
                <a:sym typeface="Roboto"/>
              </a:rPr>
              <a:t>SSE </a:t>
            </a:r>
            <a:r>
              <a:rPr i="0" lang="en-US" sz="1350" u="none" cap="none" strike="noStrike">
                <a:solidFill>
                  <a:srgbClr val="4F629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스트리밍 응답 (실시간)</a:t>
            </a:r>
            <a:endParaRPr i="0" sz="1400" u="none" cap="none" strike="noStrike">
              <a:solidFill>
                <a:srgbClr val="4F629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descr="image.png" id="169" name="Google Shape;16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52787" y="2982513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1352550" y="3449238"/>
            <a:ext cx="3914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650" u="none" cap="none" strike="noStrike">
                <a:solidFill>
                  <a:srgbClr val="2563EB"/>
                </a:solidFill>
                <a:latin typeface="Roboto Black"/>
                <a:ea typeface="Roboto Black"/>
                <a:cs typeface="Roboto Black"/>
                <a:sym typeface="Roboto Black"/>
              </a:rPr>
              <a:t>Orchestrator</a:t>
            </a:r>
            <a:r>
              <a:rPr b="1" i="0" lang="en-US" sz="155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 (LangGraph)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1352550" y="3818778"/>
            <a:ext cx="39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Intent Classifier (KoELECTRA,</a:t>
            </a:r>
            <a:r>
              <a:rPr b="1" i="0" lang="en-US" sz="1200" u="none" cap="none" strike="noStrike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 7.9ms</a:t>
            </a: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72" name="Google Shape;172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43262" y="444193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15120" y="161340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"/>
          <p:cNvSpPr/>
          <p:nvPr/>
        </p:nvSpPr>
        <p:spPr>
          <a:xfrm>
            <a:off x="6724650" y="2073402"/>
            <a:ext cx="4314900" cy="1251600"/>
          </a:xfrm>
          <a:prstGeom prst="roundRect">
            <a:avLst>
              <a:gd fmla="val 60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"/>
          <p:cNvSpPr txBox="1"/>
          <p:nvPr/>
        </p:nvSpPr>
        <p:spPr>
          <a:xfrm>
            <a:off x="6902684" y="2251435"/>
            <a:ext cx="106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 Layer</a:t>
            </a:r>
            <a:endParaRPr i="0" sz="1500" u="none" cap="none" strike="noStrike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6724650" y="3515397"/>
            <a:ext cx="4314900" cy="977100"/>
          </a:xfrm>
          <a:prstGeom prst="roundRect">
            <a:avLst>
              <a:gd fmla="val 77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"/>
          <p:cNvSpPr txBox="1"/>
          <p:nvPr/>
        </p:nvSpPr>
        <p:spPr>
          <a:xfrm>
            <a:off x="6872300" y="3638985"/>
            <a:ext cx="1674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Backend Layer</a:t>
            </a:r>
            <a:endParaRPr i="0" sz="1500" u="none" cap="none" strike="noStrike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6724650" y="4683103"/>
            <a:ext cx="4314900" cy="977100"/>
          </a:xfrm>
          <a:prstGeom prst="roundRect">
            <a:avLst>
              <a:gd fmla="val 77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6902684" y="4861135"/>
            <a:ext cx="1505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Frontend Layer</a:t>
            </a:r>
            <a:endParaRPr i="0" sz="1500" u="none" cap="none" strike="noStrike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80" name="Google Shape;180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17101" y="252776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32447" y="252776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077415" y="607565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953250" y="2604867"/>
            <a:ext cx="9715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72573" y="2604867"/>
            <a:ext cx="9715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991897" y="2604867"/>
            <a:ext cx="6858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953250" y="2604876"/>
            <a:ext cx="39147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953250" y="4046863"/>
            <a:ext cx="7810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782073" y="4046863"/>
            <a:ext cx="10668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896647" y="4046863"/>
            <a:ext cx="4000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344471" y="4046863"/>
            <a:ext cx="12573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953250" y="5214568"/>
            <a:ext cx="5905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"/>
          <p:cNvSpPr txBox="1"/>
          <p:nvPr/>
        </p:nvSpPr>
        <p:spPr>
          <a:xfrm>
            <a:off x="762000" y="571500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en-US" sz="27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시스템 아키텍처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3" name="Google Shape;193;p2"/>
          <p:cNvSpPr txBox="1"/>
          <p:nvPr/>
        </p:nvSpPr>
        <p:spPr>
          <a:xfrm>
            <a:off x="6746537" y="1589101"/>
            <a:ext cx="24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3A426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3-Layer</a:t>
            </a:r>
            <a:r>
              <a:rPr lang="en-US" sz="1800">
                <a:solidFill>
                  <a:srgbClr val="3A426F"/>
                </a:solidFill>
                <a:latin typeface="Roboto Black"/>
                <a:ea typeface="Roboto Black"/>
                <a:cs typeface="Roboto Black"/>
                <a:sym typeface="Roboto Black"/>
              </a:rPr>
              <a:t> 기술 스택                                 </a:t>
            </a:r>
            <a:endParaRPr i="0" sz="1400" u="none" cap="none" strike="noStrike">
              <a:solidFill>
                <a:srgbClr val="3A426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1116038" y="4773438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"/>
          <p:cNvSpPr txBox="1"/>
          <p:nvPr/>
        </p:nvSpPr>
        <p:spPr>
          <a:xfrm>
            <a:off x="895968" y="5224101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Judgement 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196" name="Google Shape;196;p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459021" y="491348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"/>
          <p:cNvSpPr/>
          <p:nvPr/>
        </p:nvSpPr>
        <p:spPr>
          <a:xfrm>
            <a:off x="2271342" y="4786062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"/>
          <p:cNvSpPr txBox="1"/>
          <p:nvPr/>
        </p:nvSpPr>
        <p:spPr>
          <a:xfrm>
            <a:off x="2051266" y="5235739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Document 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199" name="Google Shape;199;p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671471" y="492564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"/>
          <p:cNvSpPr/>
          <p:nvPr/>
        </p:nvSpPr>
        <p:spPr>
          <a:xfrm>
            <a:off x="3416259" y="4793500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807276" y="492563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"/>
          <p:cNvSpPr/>
          <p:nvPr/>
        </p:nvSpPr>
        <p:spPr>
          <a:xfrm>
            <a:off x="4571563" y="4806125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3" name="Google Shape;203;p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971077" y="493780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"/>
          <p:cNvSpPr txBox="1"/>
          <p:nvPr/>
        </p:nvSpPr>
        <p:spPr>
          <a:xfrm>
            <a:off x="3196180" y="5242595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Schedule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05" name="Google Shape;205;p2"/>
          <p:cNvSpPr txBox="1"/>
          <p:nvPr/>
        </p:nvSpPr>
        <p:spPr>
          <a:xfrm>
            <a:off x="4351479" y="5254233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General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06" name="Google Shape;206;p2"/>
          <p:cNvSpPr txBox="1"/>
          <p:nvPr/>
        </p:nvSpPr>
        <p:spPr>
          <a:xfrm>
            <a:off x="1015855" y="2507554"/>
            <a:ext cx="1155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사용자입력</a:t>
            </a:r>
            <a:endParaRPr i="0" sz="13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7" name="Google Shape;207;p2"/>
          <p:cNvSpPr txBox="1"/>
          <p:nvPr/>
        </p:nvSpPr>
        <p:spPr>
          <a:xfrm>
            <a:off x="2239608" y="2495942"/>
            <a:ext cx="1609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Frontend </a:t>
            </a:r>
            <a:r>
              <a:rPr lang="en-US" sz="1300">
                <a:solidFill>
                  <a:srgbClr val="2563E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(react)</a:t>
            </a:r>
            <a:endParaRPr i="0" sz="1300" u="none" cap="none" strike="noStrike">
              <a:solidFill>
                <a:srgbClr val="2563E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08" name="Google Shape;208;p2"/>
          <p:cNvSpPr txBox="1"/>
          <p:nvPr/>
        </p:nvSpPr>
        <p:spPr>
          <a:xfrm>
            <a:off x="3849118" y="2501009"/>
            <a:ext cx="1746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Backend </a:t>
            </a:r>
            <a:r>
              <a:rPr lang="en-US" sz="1300">
                <a:solidFill>
                  <a:srgbClr val="2563E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(FastAPI)</a:t>
            </a:r>
            <a:endParaRPr i="0" sz="1300" u="none" cap="none" strike="noStrike">
              <a:solidFill>
                <a:srgbClr val="2563E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09" name="Google Shape;209;p2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3"/>
          <p:cNvPicPr preferRelativeResize="0"/>
          <p:nvPr/>
        </p:nvPicPr>
        <p:blipFill rotWithShape="1">
          <a:blip r:embed="rId4">
            <a:alphaModFix/>
          </a:blip>
          <a:srcRect b="0" l="870" r="-870" t="0"/>
          <a:stretch/>
        </p:blipFill>
        <p:spPr>
          <a:xfrm>
            <a:off x="636197" y="537963"/>
            <a:ext cx="10801955" cy="607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3"/>
          <p:cNvPicPr preferRelativeResize="0"/>
          <p:nvPr/>
        </p:nvPicPr>
        <p:blipFill rotWithShape="1">
          <a:blip r:embed="rId5">
            <a:alphaModFix amt="40000"/>
          </a:blip>
          <a:srcRect b="0" l="0" r="0" t="0"/>
          <a:stretch/>
        </p:blipFill>
        <p:spPr>
          <a:xfrm>
            <a:off x="1142641" y="1855112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3"/>
          <p:cNvPicPr preferRelativeResize="0"/>
          <p:nvPr/>
        </p:nvPicPr>
        <p:blipFill rotWithShape="1">
          <a:blip r:embed="rId6">
            <a:alphaModFix amt="40000"/>
          </a:blip>
          <a:srcRect b="0" l="0" r="0" t="0"/>
          <a:stretch/>
        </p:blipFill>
        <p:spPr>
          <a:xfrm>
            <a:off x="1142633" y="2658412"/>
            <a:ext cx="2194157" cy="1434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3"/>
          <p:cNvPicPr preferRelativeResize="0"/>
          <p:nvPr/>
        </p:nvPicPr>
        <p:blipFill rotWithShape="1">
          <a:blip r:embed="rId7">
            <a:alphaModFix amt="40000"/>
          </a:blip>
          <a:srcRect b="0" l="0" r="0" t="0"/>
          <a:stretch/>
        </p:blipFill>
        <p:spPr>
          <a:xfrm>
            <a:off x="1142641" y="4302431"/>
            <a:ext cx="2194147" cy="759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3"/>
          <p:cNvPicPr preferRelativeResize="0"/>
          <p:nvPr/>
        </p:nvPicPr>
        <p:blipFill rotWithShape="1">
          <a:blip r:embed="rId8">
            <a:alphaModFix amt="40000"/>
          </a:blip>
          <a:srcRect b="0" l="0" r="0" t="0"/>
          <a:stretch/>
        </p:blipFill>
        <p:spPr>
          <a:xfrm>
            <a:off x="1142641" y="5315114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3"/>
          <p:cNvPicPr preferRelativeResize="0"/>
          <p:nvPr/>
        </p:nvPicPr>
        <p:blipFill rotWithShape="1">
          <a:blip r:embed="rId9">
            <a:alphaModFix amt="70000"/>
          </a:blip>
          <a:srcRect b="0" l="0" r="0" t="0"/>
          <a:stretch/>
        </p:blipFill>
        <p:spPr>
          <a:xfrm>
            <a:off x="4855826" y="2812619"/>
            <a:ext cx="2362928" cy="16878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1770722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2614625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3458528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4302431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37823" y="5230724"/>
            <a:ext cx="2194147" cy="67512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"/>
          <p:cNvSpPr txBox="1"/>
          <p:nvPr/>
        </p:nvSpPr>
        <p:spPr>
          <a:xfrm>
            <a:off x="1184054" y="1615148"/>
            <a:ext cx="11985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3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8 USER INTENTS</a:t>
            </a:r>
            <a:endParaRPr sz="1240"/>
          </a:p>
        </p:txBody>
      </p:sp>
      <p:sp>
        <p:nvSpPr>
          <p:cNvPr id="226" name="Google Shape;226;p3"/>
          <p:cNvSpPr txBox="1"/>
          <p:nvPr/>
        </p:nvSpPr>
        <p:spPr>
          <a:xfrm>
            <a:off x="5758769" y="2469262"/>
            <a:ext cx="5568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3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ROUTER</a:t>
            </a:r>
            <a:endParaRPr sz="1240"/>
          </a:p>
        </p:txBody>
      </p:sp>
      <p:sp>
        <p:nvSpPr>
          <p:cNvPr id="227" name="Google Shape;227;p3"/>
          <p:cNvSpPr txBox="1"/>
          <p:nvPr/>
        </p:nvSpPr>
        <p:spPr>
          <a:xfrm>
            <a:off x="8758529" y="1563290"/>
            <a:ext cx="11814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3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AGENTS</a:t>
            </a:r>
            <a:endParaRPr sz="1240"/>
          </a:p>
        </p:txBody>
      </p:sp>
      <p:sp>
        <p:nvSpPr>
          <p:cNvPr id="228" name="Google Shape;228;p3"/>
          <p:cNvSpPr txBox="1"/>
          <p:nvPr/>
        </p:nvSpPr>
        <p:spPr>
          <a:xfrm>
            <a:off x="5323999" y="3124525"/>
            <a:ext cx="14268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4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Orchestrator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29" name="Google Shape;229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08601" y="3453647"/>
            <a:ext cx="1257416" cy="24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"/>
          <p:cNvSpPr txBox="1"/>
          <p:nvPr/>
        </p:nvSpPr>
        <p:spPr>
          <a:xfrm>
            <a:off x="5480334" y="3900916"/>
            <a:ext cx="11139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3D5164"/>
                </a:solidFill>
                <a:latin typeface="Noto Sans KR"/>
                <a:ea typeface="Noto Sans KR"/>
                <a:cs typeface="Noto Sans KR"/>
                <a:sym typeface="Noto Sans KR"/>
              </a:rPr>
              <a:t>Intent Classification</a:t>
            </a:r>
            <a:br>
              <a:rPr b="0" i="0" lang="en-US" sz="1594" u="none" cap="none" strike="noStrike">
                <a:solidFill>
                  <a:srgbClr val="3D516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0" u="none" cap="none" strike="noStrike">
                <a:solidFill>
                  <a:srgbClr val="3D5164"/>
                </a:solidFill>
                <a:latin typeface="Noto Sans KR"/>
                <a:ea typeface="Noto Sans KR"/>
                <a:cs typeface="Noto Sans KR"/>
                <a:sym typeface="Noto Sans KR"/>
              </a:rPr>
              <a:t> &amp; Routing Decision</a:t>
            </a:r>
            <a:endParaRPr sz="1240">
              <a:solidFill>
                <a:srgbClr val="3D5164"/>
              </a:solidFill>
            </a:endParaRPr>
          </a:p>
        </p:txBody>
      </p:sp>
      <p:pic>
        <p:nvPicPr>
          <p:cNvPr descr="image.png" id="231" name="Google Shape;231;p3"/>
          <p:cNvPicPr preferRelativeResize="0"/>
          <p:nvPr/>
        </p:nvPicPr>
        <p:blipFill rotWithShape="1">
          <a:blip r:embed="rId13">
            <a:alphaModFix amt="54000"/>
          </a:blip>
          <a:srcRect b="0" l="0" r="0" t="0"/>
          <a:stretch/>
        </p:blipFill>
        <p:spPr>
          <a:xfrm>
            <a:off x="8940361" y="1880429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232" name="Google Shape;232;p3"/>
          <p:cNvPicPr preferRelativeResize="0"/>
          <p:nvPr/>
        </p:nvPicPr>
        <p:blipFill rotWithShape="1">
          <a:blip r:embed="rId13">
            <a:alphaModFix amt="54000"/>
          </a:blip>
          <a:srcRect b="0" l="0" r="0" t="0"/>
          <a:stretch/>
        </p:blipFill>
        <p:spPr>
          <a:xfrm>
            <a:off x="8940361" y="2724332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233" name="Google Shape;233;p3"/>
          <p:cNvPicPr preferRelativeResize="0"/>
          <p:nvPr/>
        </p:nvPicPr>
        <p:blipFill rotWithShape="1">
          <a:blip r:embed="rId13">
            <a:alphaModFix amt="54000"/>
          </a:blip>
          <a:srcRect b="0" l="0" r="0" t="0"/>
          <a:stretch/>
        </p:blipFill>
        <p:spPr>
          <a:xfrm>
            <a:off x="8953360" y="3568235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234" name="Google Shape;234;p3"/>
          <p:cNvPicPr preferRelativeResize="0"/>
          <p:nvPr/>
        </p:nvPicPr>
        <p:blipFill rotWithShape="1">
          <a:blip r:embed="rId14">
            <a:alphaModFix amt="54000"/>
          </a:blip>
          <a:srcRect b="0" l="0" r="0" t="0"/>
          <a:stretch/>
        </p:blipFill>
        <p:spPr>
          <a:xfrm>
            <a:off x="8953363" y="4399473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235" name="Google Shape;235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985379" y="5382626"/>
            <a:ext cx="371320" cy="371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397130" y="2023893"/>
            <a:ext cx="980780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97130" y="2766527"/>
            <a:ext cx="1122530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97130" y="3087210"/>
            <a:ext cx="1264413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397130" y="3407894"/>
            <a:ext cx="1193472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397130" y="3728577"/>
            <a:ext cx="839030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397130" y="4395260"/>
            <a:ext cx="1264413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397130" y="4715943"/>
            <a:ext cx="1335222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397130" y="5483895"/>
            <a:ext cx="909839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020532" y="1981698"/>
            <a:ext cx="210976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"/>
          <p:cNvSpPr txBox="1"/>
          <p:nvPr/>
        </p:nvSpPr>
        <p:spPr>
          <a:xfrm>
            <a:off x="9446707" y="1876737"/>
            <a:ext cx="13203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Judgment Agent</a:t>
            </a:r>
            <a:endParaRPr sz="1240"/>
          </a:p>
        </p:txBody>
      </p:sp>
      <p:sp>
        <p:nvSpPr>
          <p:cNvPr id="246" name="Google Shape;246;p3"/>
          <p:cNvSpPr txBox="1"/>
          <p:nvPr/>
        </p:nvSpPr>
        <p:spPr>
          <a:xfrm>
            <a:off x="9446707" y="2113029"/>
            <a:ext cx="12573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규정 기반 판단 수행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47" name="Google Shape;247;p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062727" y="2825601"/>
            <a:ext cx="126585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"/>
          <p:cNvSpPr txBox="1"/>
          <p:nvPr/>
        </p:nvSpPr>
        <p:spPr>
          <a:xfrm>
            <a:off x="9446707" y="2720639"/>
            <a:ext cx="13203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Document Agent</a:t>
            </a:r>
            <a:endParaRPr sz="1240"/>
          </a:p>
        </p:txBody>
      </p:sp>
      <p:sp>
        <p:nvSpPr>
          <p:cNvPr id="249" name="Google Shape;249;p3"/>
          <p:cNvSpPr txBox="1"/>
          <p:nvPr/>
        </p:nvSpPr>
        <p:spPr>
          <a:xfrm>
            <a:off x="9446707" y="2956932"/>
            <a:ext cx="12573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문서 검색, 생성, 요약, QA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50" name="Google Shape;250;p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063069" y="3669503"/>
            <a:ext cx="151904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"/>
          <p:cNvSpPr txBox="1"/>
          <p:nvPr/>
        </p:nvSpPr>
        <p:spPr>
          <a:xfrm>
            <a:off x="9488902" y="3564542"/>
            <a:ext cx="1231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Schedule Agent</a:t>
            </a:r>
            <a:endParaRPr sz="1240"/>
          </a:p>
        </p:txBody>
      </p:sp>
      <p:sp>
        <p:nvSpPr>
          <p:cNvPr id="252" name="Google Shape;252;p3"/>
          <p:cNvSpPr txBox="1"/>
          <p:nvPr/>
        </p:nvSpPr>
        <p:spPr>
          <a:xfrm>
            <a:off x="9488902" y="3800835"/>
            <a:ext cx="1173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일정 조회 및 추가 관리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53" name="Google Shape;253;p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9033534" y="4509053"/>
            <a:ext cx="210976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"/>
          <p:cNvSpPr txBox="1"/>
          <p:nvPr/>
        </p:nvSpPr>
        <p:spPr>
          <a:xfrm>
            <a:off x="9488891" y="4403484"/>
            <a:ext cx="1373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General Response</a:t>
            </a:r>
            <a:endParaRPr sz="1240"/>
          </a:p>
        </p:txBody>
      </p:sp>
      <p:sp>
        <p:nvSpPr>
          <p:cNvPr id="255" name="Google Shape;255;p3"/>
          <p:cNvSpPr txBox="1"/>
          <p:nvPr/>
        </p:nvSpPr>
        <p:spPr>
          <a:xfrm>
            <a:off x="9508937" y="4637728"/>
            <a:ext cx="1308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일반 대화 및 기본 응답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56" name="Google Shape;256;p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9086648" y="5483895"/>
            <a:ext cx="168782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"/>
          <p:cNvSpPr txBox="1"/>
          <p:nvPr/>
        </p:nvSpPr>
        <p:spPr>
          <a:xfrm>
            <a:off x="9619708" y="5307597"/>
            <a:ext cx="983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8637E"/>
                </a:solidFill>
                <a:latin typeface="Noto Sans KR"/>
                <a:ea typeface="Noto Sans KR"/>
                <a:cs typeface="Noto Sans KR"/>
                <a:sym typeface="Noto Sans KR"/>
              </a:rPr>
              <a:t>Clarify</a:t>
            </a:r>
            <a:endParaRPr sz="1240">
              <a:solidFill>
                <a:srgbClr val="58637E"/>
              </a:solidFill>
            </a:endParaRPr>
          </a:p>
        </p:txBody>
      </p:sp>
      <p:sp>
        <p:nvSpPr>
          <p:cNvPr id="258" name="Google Shape;258;p3"/>
          <p:cNvSpPr txBox="1"/>
          <p:nvPr/>
        </p:nvSpPr>
        <p:spPr>
          <a:xfrm>
            <a:off x="9611608" y="5525254"/>
            <a:ext cx="999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3" u="none" cap="none" strike="noStrike">
                <a:solidFill>
                  <a:srgbClr val="334055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의도 재질문</a:t>
            </a:r>
            <a:endParaRPr sz="863">
              <a:solidFill>
                <a:srgbClr val="3340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3" u="none" cap="none" strike="noStrike">
                <a:solidFill>
                  <a:srgbClr val="334055"/>
                </a:solidFill>
                <a:latin typeface="Noto Sans KR"/>
                <a:ea typeface="Noto Sans KR"/>
                <a:cs typeface="Noto Sans KR"/>
                <a:sym typeface="Noto Sans KR"/>
              </a:rPr>
              <a:t>(상위 3개 후보 제시)</a:t>
            </a:r>
            <a:endParaRPr sz="1240">
              <a:solidFill>
                <a:srgbClr val="334055"/>
              </a:solidFill>
            </a:endParaRPr>
          </a:p>
        </p:txBody>
      </p:sp>
      <p:pic>
        <p:nvPicPr>
          <p:cNvPr descr="image.png" id="259" name="Google Shape;259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2099844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2842479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3163162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3483845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3804528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4471211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4791894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5559846"/>
            <a:ext cx="126585" cy="101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3"/>
          <p:cNvGrpSpPr/>
          <p:nvPr/>
        </p:nvGrpSpPr>
        <p:grpSpPr>
          <a:xfrm>
            <a:off x="762000" y="571500"/>
            <a:ext cx="4341263" cy="415500"/>
            <a:chOff x="762000" y="571500"/>
            <a:chExt cx="4341263" cy="415500"/>
          </a:xfrm>
        </p:grpSpPr>
        <p:sp>
          <p:nvSpPr>
            <p:cNvPr id="268" name="Google Shape;268;p3"/>
            <p:cNvSpPr txBox="1"/>
            <p:nvPr/>
          </p:nvSpPr>
          <p:spPr>
            <a:xfrm>
              <a:off x="2457863" y="624132"/>
              <a:ext cx="2645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Koelectra model</a:t>
              </a:r>
              <a:endParaRPr i="0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9" name="Google Shape;269;p3"/>
            <p:cNvSpPr txBox="1"/>
            <p:nvPr/>
          </p:nvSpPr>
          <p:spPr>
            <a:xfrm>
              <a:off x="762000" y="571500"/>
              <a:ext cx="2500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Intent 분류</a:t>
              </a:r>
              <a:endParaRPr i="0" sz="14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pic>
        <p:nvPicPr>
          <p:cNvPr descr="image.png" id="270" name="Google Shape;270;p3"/>
          <p:cNvPicPr preferRelativeResize="0"/>
          <p:nvPr/>
        </p:nvPicPr>
        <p:blipFill rotWithShape="1">
          <a:blip r:embed="rId30">
            <a:alphaModFix amt="76000"/>
          </a:blip>
          <a:srcRect b="0" l="0" r="0" t="0"/>
          <a:stretch/>
        </p:blipFill>
        <p:spPr>
          <a:xfrm>
            <a:off x="7505644" y="2632846"/>
            <a:ext cx="841265" cy="261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3"/>
          <p:cNvPicPr preferRelativeResize="0"/>
          <p:nvPr/>
        </p:nvPicPr>
        <p:blipFill rotWithShape="1">
          <a:blip r:embed="rId31">
            <a:alphaModFix amt="76000"/>
          </a:blip>
          <a:srcRect b="0" l="0" r="0" t="0"/>
          <a:stretch/>
        </p:blipFill>
        <p:spPr>
          <a:xfrm>
            <a:off x="7504327" y="4637754"/>
            <a:ext cx="843903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273" name="Google Shape;273;p3"/>
          <p:cNvSpPr txBox="1"/>
          <p:nvPr/>
        </p:nvSpPr>
        <p:spPr>
          <a:xfrm>
            <a:off x="6871775" y="6099943"/>
            <a:ext cx="406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0.8대의 F1 score를 보완하기 위해 clarify fallback 도입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0c338455d_3_341"/>
          <p:cNvSpPr/>
          <p:nvPr/>
        </p:nvSpPr>
        <p:spPr>
          <a:xfrm>
            <a:off x="540874" y="1345127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c0c338455d_3_341"/>
          <p:cNvSpPr/>
          <p:nvPr/>
        </p:nvSpPr>
        <p:spPr>
          <a:xfrm>
            <a:off x="650604" y="1454855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c0c338455d_3_341"/>
          <p:cNvSpPr txBox="1"/>
          <p:nvPr/>
        </p:nvSpPr>
        <p:spPr>
          <a:xfrm>
            <a:off x="702379" y="1895507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데이터 생성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81" name="Google Shape;281;g3c0c338455d_3_341"/>
          <p:cNvSpPr txBox="1"/>
          <p:nvPr/>
        </p:nvSpPr>
        <p:spPr>
          <a:xfrm>
            <a:off x="702379" y="2261267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GPT-4o + Claude Sonnet 4 혼합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2,299 + 경계쌍 600건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 intent × ~288개, 균형 1.28x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g3c0c338455d_3_341"/>
          <p:cNvSpPr/>
          <p:nvPr/>
        </p:nvSpPr>
        <p:spPr>
          <a:xfrm>
            <a:off x="3375589" y="1345127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c0c338455d_3_341"/>
          <p:cNvSpPr/>
          <p:nvPr/>
        </p:nvSpPr>
        <p:spPr>
          <a:xfrm>
            <a:off x="3485320" y="1454855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c0c338455d_3_341"/>
          <p:cNvSpPr txBox="1"/>
          <p:nvPr/>
        </p:nvSpPr>
        <p:spPr>
          <a:xfrm>
            <a:off x="3537095" y="1895507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Baseline 3모델 비교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85" name="Google Shape;285;g3c0c338455d_3_341"/>
          <p:cNvSpPr txBox="1"/>
          <p:nvPr/>
        </p:nvSpPr>
        <p:spPr>
          <a:xfrm>
            <a:off x="3537095" y="2261267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KoELECTRA  Val F1 0.9825</a:t>
            </a:r>
            <a:r>
              <a:rPr b="0" i="0" lang="en-US" sz="10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 ★</a:t>
            </a:r>
            <a:endParaRPr b="0" i="0" sz="1400" u="none" cap="none" strike="noStrike">
              <a:solidFill>
                <a:srgbClr val="F59E0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BERT-base  Val F1 0.9780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DistilKoBERT  Val F1 0.9498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    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g3c0c338455d_3_341"/>
          <p:cNvSpPr/>
          <p:nvPr/>
        </p:nvSpPr>
        <p:spPr>
          <a:xfrm>
            <a:off x="6210305" y="1345127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c0c338455d_3_341"/>
          <p:cNvSpPr/>
          <p:nvPr/>
        </p:nvSpPr>
        <p:spPr>
          <a:xfrm>
            <a:off x="6320036" y="1454855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c0c338455d_3_341"/>
          <p:cNvSpPr txBox="1"/>
          <p:nvPr/>
        </p:nvSpPr>
        <p:spPr>
          <a:xfrm>
            <a:off x="6371811" y="1895507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Grid Search 최적화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89" name="Google Shape;289;g3c0c338455d_3_341"/>
          <p:cNvSpPr txBox="1"/>
          <p:nvPr/>
        </p:nvSpPr>
        <p:spPr>
          <a:xfrm>
            <a:off x="6371811" y="2261267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32-point grid search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Best: ep10/lr3e-5/bs16 → 0.9897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3-seed 안정성: 0.9874 ± 0.0033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  → 데이터 vs HP, 어디에 투자?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g3c0c338455d_3_341"/>
          <p:cNvSpPr/>
          <p:nvPr/>
        </p:nvSpPr>
        <p:spPr>
          <a:xfrm>
            <a:off x="9045020" y="1345127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c0c338455d_3_341"/>
          <p:cNvSpPr/>
          <p:nvPr/>
        </p:nvSpPr>
        <p:spPr>
          <a:xfrm>
            <a:off x="9154751" y="1454855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c0c338455d_3_341"/>
          <p:cNvSpPr txBox="1"/>
          <p:nvPr/>
        </p:nvSpPr>
        <p:spPr>
          <a:xfrm>
            <a:off x="9206526" y="1895507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최종 평가 (Adversarial)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93" name="Google Shape;293;g3c0c338455d_3_341"/>
          <p:cNvSpPr txBox="1"/>
          <p:nvPr/>
        </p:nvSpPr>
        <p:spPr>
          <a:xfrm>
            <a:off x="9206526" y="2261267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Adversarial 450건 스트레스 테스트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KoELECTRA Adv F1 0.8604 </a:t>
            </a:r>
            <a:r>
              <a:rPr b="0" i="0" lang="en-US" sz="10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McNemar p&gt;0.05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→ 실험실 ≠ 실전, 적대적 검증 필수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" name="Google Shape;294;g3c0c338455d_3_341"/>
          <p:cNvSpPr/>
          <p:nvPr/>
        </p:nvSpPr>
        <p:spPr>
          <a:xfrm>
            <a:off x="1821068" y="3814006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c0c338455d_3_341"/>
          <p:cNvSpPr/>
          <p:nvPr/>
        </p:nvSpPr>
        <p:spPr>
          <a:xfrm>
            <a:off x="1930799" y="3923734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c0c338455d_3_341"/>
          <p:cNvSpPr txBox="1"/>
          <p:nvPr/>
        </p:nvSpPr>
        <p:spPr>
          <a:xfrm>
            <a:off x="1982574" y="4364386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오분류 분석 + 보강</a:t>
            </a:r>
            <a:endParaRPr b="0" i="0" sz="14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97" name="Google Shape;297;g3c0c338455d_3_341"/>
          <p:cNvSpPr txBox="1"/>
          <p:nvPr/>
        </p:nvSpPr>
        <p:spPr>
          <a:xfrm>
            <a:off x="1982574" y="4730146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98건 타겟 보강 재학습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 F1 +1.80%p (0.8604→0.8784)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doc_qa +7.9%p 최대 개선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→ 틀리는 패턴 분석 → 타겟 보강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g3c0c338455d_3_341"/>
          <p:cNvSpPr/>
          <p:nvPr/>
        </p:nvSpPr>
        <p:spPr>
          <a:xfrm>
            <a:off x="4655783" y="3814006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c0c338455d_3_341"/>
          <p:cNvSpPr/>
          <p:nvPr/>
        </p:nvSpPr>
        <p:spPr>
          <a:xfrm>
            <a:off x="4765514" y="3923734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c0c338455d_3_341"/>
          <p:cNvSpPr txBox="1"/>
          <p:nvPr/>
        </p:nvSpPr>
        <p:spPr>
          <a:xfrm>
            <a:off x="4765514" y="4364386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Label Smoothing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01" name="Google Shape;301;g3c0c338455d_3_341"/>
          <p:cNvSpPr txBox="1"/>
          <p:nvPr/>
        </p:nvSpPr>
        <p:spPr>
          <a:xfrm>
            <a:off x="4765514" y="4730146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LS 0.1 → 과신뢰 66.7%→23.2%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오답 confidence 분리 가능 (thr 0.85)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 F1 0.8758 (최종 채택 모델)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→ 확신 있게 틀리는 것이 가장 위험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g3c0c338455d_3_341"/>
          <p:cNvSpPr/>
          <p:nvPr/>
        </p:nvSpPr>
        <p:spPr>
          <a:xfrm>
            <a:off x="7490499" y="3814006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c0c338455d_3_341"/>
          <p:cNvSpPr/>
          <p:nvPr/>
        </p:nvSpPr>
        <p:spPr>
          <a:xfrm>
            <a:off x="7600230" y="3923734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c0c338455d_3_341"/>
          <p:cNvSpPr txBox="1"/>
          <p:nvPr/>
        </p:nvSpPr>
        <p:spPr>
          <a:xfrm>
            <a:off x="7600230" y="4364386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라벨 리뷰 + 검증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05" name="Google Shape;305;g3c0c338455d_3_341"/>
          <p:cNvSpPr txBox="1"/>
          <p:nvPr/>
        </p:nvSpPr>
        <p:spPr>
          <a:xfrm>
            <a:off x="7600230" y="4730146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 오류 36%가 라벨 문제 확인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25건 소량 보강 → 효과 없음 (한계)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시나리오 100문장 확장 → 85%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        → 모델 탓 전에 라벨을 의심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g3c0c338455d_3_341"/>
          <p:cNvSpPr txBox="1"/>
          <p:nvPr/>
        </p:nvSpPr>
        <p:spPr>
          <a:xfrm>
            <a:off x="762000" y="571500"/>
            <a:ext cx="52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7-Stage 실험 파이프라인</a:t>
            </a:r>
            <a:endParaRPr b="0"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07" name="Google Shape;307;g3c0c338455d_3_341"/>
          <p:cNvSpPr txBox="1"/>
          <p:nvPr/>
        </p:nvSpPr>
        <p:spPr>
          <a:xfrm>
            <a:off x="3320125" y="6295633"/>
            <a:ext cx="599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"데이터 품질 &gt; 하이퍼파라미터 &gt; 모델 아키텍처"</a:t>
            </a:r>
            <a:endParaRPr b="1" i="0" sz="15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8" name="Google Shape;308;g3c0c338455d_3_341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09b11e3f6_18_182"/>
          <p:cNvSpPr/>
          <p:nvPr/>
        </p:nvSpPr>
        <p:spPr>
          <a:xfrm>
            <a:off x="580913" y="1183871"/>
            <a:ext cx="5303400" cy="25602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2700">
            <a:solidFill>
              <a:srgbClr val="3340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c09b11e3f6_18_182"/>
          <p:cNvSpPr txBox="1"/>
          <p:nvPr/>
        </p:nvSpPr>
        <p:spPr>
          <a:xfrm>
            <a:off x="763798" y="1412471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모델 성능 (Stage 6)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5" name="Google Shape;315;g3c09b11e3f6_18_182"/>
          <p:cNvSpPr/>
          <p:nvPr/>
        </p:nvSpPr>
        <p:spPr>
          <a:xfrm>
            <a:off x="763798" y="1869671"/>
            <a:ext cx="1554600" cy="8229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c09b11e3f6_18_182"/>
          <p:cNvSpPr txBox="1"/>
          <p:nvPr/>
        </p:nvSpPr>
        <p:spPr>
          <a:xfrm>
            <a:off x="763798" y="1942823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Val F1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17" name="Google Shape;317;g3c09b11e3f6_18_182"/>
          <p:cNvSpPr txBox="1"/>
          <p:nvPr/>
        </p:nvSpPr>
        <p:spPr>
          <a:xfrm>
            <a:off x="763798" y="2111899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0.9894</a:t>
            </a:r>
            <a:endParaRPr/>
          </a:p>
        </p:txBody>
      </p:sp>
      <p:sp>
        <p:nvSpPr>
          <p:cNvPr id="318" name="Google Shape;318;g3c09b11e3f6_18_182"/>
          <p:cNvSpPr txBox="1"/>
          <p:nvPr/>
        </p:nvSpPr>
        <p:spPr>
          <a:xfrm>
            <a:off x="763798" y="2464031"/>
            <a:ext cx="155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학습 데이터 검증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19" name="Google Shape;319;g3c09b11e3f6_18_182"/>
          <p:cNvSpPr/>
          <p:nvPr/>
        </p:nvSpPr>
        <p:spPr>
          <a:xfrm>
            <a:off x="2455483" y="1869671"/>
            <a:ext cx="1554600" cy="8229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c09b11e3f6_18_182"/>
          <p:cNvSpPr txBox="1"/>
          <p:nvPr/>
        </p:nvSpPr>
        <p:spPr>
          <a:xfrm>
            <a:off x="2455483" y="1942823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Test F1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21" name="Google Shape;321;g3c09b11e3f6_18_182"/>
          <p:cNvSpPr txBox="1"/>
          <p:nvPr/>
        </p:nvSpPr>
        <p:spPr>
          <a:xfrm>
            <a:off x="2455483" y="2111899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C7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0.9788</a:t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322" name="Google Shape;322;g3c09b11e3f6_18_182"/>
          <p:cNvSpPr txBox="1"/>
          <p:nvPr/>
        </p:nvSpPr>
        <p:spPr>
          <a:xfrm>
            <a:off x="2455483" y="2464031"/>
            <a:ext cx="155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미지 데이터 일반화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23" name="Google Shape;323;g3c09b11e3f6_18_182"/>
          <p:cNvSpPr/>
          <p:nvPr/>
        </p:nvSpPr>
        <p:spPr>
          <a:xfrm>
            <a:off x="4147169" y="1869671"/>
            <a:ext cx="1554600" cy="8229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c09b11e3f6_18_182"/>
          <p:cNvSpPr txBox="1"/>
          <p:nvPr/>
        </p:nvSpPr>
        <p:spPr>
          <a:xfrm>
            <a:off x="4147169" y="1942823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Adv F1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25" name="Google Shape;325;g3c09b11e3f6_18_182"/>
          <p:cNvSpPr txBox="1"/>
          <p:nvPr/>
        </p:nvSpPr>
        <p:spPr>
          <a:xfrm>
            <a:off x="4147169" y="2111899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74EA7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0.8758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326" name="Google Shape;326;g3c09b11e3f6_18_182"/>
          <p:cNvSpPr txBox="1"/>
          <p:nvPr/>
        </p:nvSpPr>
        <p:spPr>
          <a:xfrm>
            <a:off x="4147169" y="2464031"/>
            <a:ext cx="155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적대적 스트레스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27" name="Google Shape;327;g3c09b11e3f6_18_182"/>
          <p:cNvSpPr txBox="1"/>
          <p:nvPr/>
        </p:nvSpPr>
        <p:spPr>
          <a:xfrm>
            <a:off x="763798" y="2875511"/>
            <a:ext cx="49377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KoELECTRA-base-v3  |  112.9M params  |  431MB  |  추론 7.9ms  | </a:t>
            </a:r>
            <a:b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Config: ep10/lr3e-5/bs16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 Smoothing 0.1 적용  |  Threshold 0.85 (clarify)  |  Fallback 0.4 (general)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8" name="Google Shape;328;g3c09b11e3f6_18_182"/>
          <p:cNvSpPr/>
          <p:nvPr/>
        </p:nvSpPr>
        <p:spPr>
          <a:xfrm>
            <a:off x="568526" y="3889966"/>
            <a:ext cx="5303400" cy="25602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2700">
            <a:solidFill>
              <a:srgbClr val="3340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c09b11e3f6_18_182"/>
          <p:cNvSpPr txBox="1"/>
          <p:nvPr/>
        </p:nvSpPr>
        <p:spPr>
          <a:xfrm>
            <a:off x="763798" y="4052138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시나리오 테스트 (100문장)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0" name="Google Shape;330;g3c09b11e3f6_18_182"/>
          <p:cNvSpPr txBox="1"/>
          <p:nvPr/>
        </p:nvSpPr>
        <p:spPr>
          <a:xfrm>
            <a:off x="763798" y="4491050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normal (표준)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1" name="Google Shape;331;g3c09b11e3f6_18_182"/>
          <p:cNvSpPr/>
          <p:nvPr/>
        </p:nvSpPr>
        <p:spPr>
          <a:xfrm>
            <a:off x="1860620" y="4496979"/>
            <a:ext cx="34746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c09b11e3f6_18_182"/>
          <p:cNvSpPr txBox="1"/>
          <p:nvPr/>
        </p:nvSpPr>
        <p:spPr>
          <a:xfrm>
            <a:off x="5350653" y="4509338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AA84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100%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33" name="Google Shape;333;g3c09b11e3f6_18_182"/>
          <p:cNvSpPr txBox="1"/>
          <p:nvPr/>
        </p:nvSpPr>
        <p:spPr>
          <a:xfrm>
            <a:off x="763798" y="4875098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short (초단문)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4" name="Google Shape;334;g3c09b11e3f6_18_182"/>
          <p:cNvSpPr/>
          <p:nvPr/>
        </p:nvSpPr>
        <p:spPr>
          <a:xfrm>
            <a:off x="1860625" y="4893386"/>
            <a:ext cx="3241800" cy="255900"/>
          </a:xfrm>
          <a:prstGeom prst="roundRect">
            <a:avLst>
              <a:gd fmla="val 30000" name="adj"/>
            </a:avLst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c09b11e3f6_18_182"/>
          <p:cNvSpPr txBox="1"/>
          <p:nvPr/>
        </p:nvSpPr>
        <p:spPr>
          <a:xfrm>
            <a:off x="5131720" y="4893386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93.3%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6" name="Google Shape;336;g3c09b11e3f6_18_182"/>
          <p:cNvSpPr txBox="1"/>
          <p:nvPr/>
        </p:nvSpPr>
        <p:spPr>
          <a:xfrm>
            <a:off x="763798" y="5259146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boundary (경계)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7" name="Google Shape;337;g3c09b11e3f6_18_182"/>
          <p:cNvSpPr/>
          <p:nvPr/>
        </p:nvSpPr>
        <p:spPr>
          <a:xfrm>
            <a:off x="1860625" y="5277434"/>
            <a:ext cx="2738100" cy="255900"/>
          </a:xfrm>
          <a:prstGeom prst="roundRect">
            <a:avLst>
              <a:gd fmla="val 3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c09b11e3f6_18_182"/>
          <p:cNvSpPr txBox="1"/>
          <p:nvPr/>
        </p:nvSpPr>
        <p:spPr>
          <a:xfrm>
            <a:off x="4651605" y="5303178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78.8%</a:t>
            </a:r>
            <a:endParaRPr/>
          </a:p>
        </p:txBody>
      </p:sp>
      <p:sp>
        <p:nvSpPr>
          <p:cNvPr id="339" name="Google Shape;339;g3c09b11e3f6_18_182"/>
          <p:cNvSpPr txBox="1"/>
          <p:nvPr/>
        </p:nvSpPr>
        <p:spPr>
          <a:xfrm>
            <a:off x="763798" y="5643194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informal (비속어)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0" name="Google Shape;340;g3c09b11e3f6_18_182"/>
          <p:cNvSpPr/>
          <p:nvPr/>
        </p:nvSpPr>
        <p:spPr>
          <a:xfrm>
            <a:off x="1860625" y="5661482"/>
            <a:ext cx="2640900" cy="255900"/>
          </a:xfrm>
          <a:prstGeom prst="roundRect">
            <a:avLst>
              <a:gd fmla="val 30000" name="adj"/>
            </a:avLst>
          </a:prstGeom>
          <a:solidFill>
            <a:srgbClr val="E066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c09b11e3f6_18_182"/>
          <p:cNvSpPr txBox="1"/>
          <p:nvPr/>
        </p:nvSpPr>
        <p:spPr>
          <a:xfrm>
            <a:off x="4554310" y="5687226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76.0%</a:t>
            </a:r>
            <a:endParaRPr>
              <a:solidFill>
                <a:srgbClr val="EA9999"/>
              </a:solidFill>
            </a:endParaRPr>
          </a:p>
        </p:txBody>
      </p:sp>
      <p:sp>
        <p:nvSpPr>
          <p:cNvPr id="342" name="Google Shape;342;g3c09b11e3f6_18_182"/>
          <p:cNvSpPr txBox="1"/>
          <p:nvPr/>
        </p:nvSpPr>
        <p:spPr>
          <a:xfrm>
            <a:off x="763798" y="6018098"/>
            <a:ext cx="457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Accuracy 85.0%  |  Macro F1 0.8497</a:t>
            </a:r>
            <a:endParaRPr>
              <a:solidFill>
                <a:srgbClr val="475569"/>
              </a:solidFill>
            </a:endParaRPr>
          </a:p>
        </p:txBody>
      </p:sp>
      <p:sp>
        <p:nvSpPr>
          <p:cNvPr id="343" name="Google Shape;343;g3c09b11e3f6_18_182"/>
          <p:cNvSpPr/>
          <p:nvPr/>
        </p:nvSpPr>
        <p:spPr>
          <a:xfrm>
            <a:off x="6341787" y="1183871"/>
            <a:ext cx="5303400" cy="51207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2700">
            <a:solidFill>
              <a:srgbClr val="3340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c09b11e3f6_18_182"/>
          <p:cNvSpPr txBox="1"/>
          <p:nvPr/>
        </p:nvSpPr>
        <p:spPr>
          <a:xfrm>
            <a:off x="6576438" y="1412471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인사이트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5" name="Google Shape;345;g3c09b11e3f6_18_182"/>
          <p:cNvSpPr txBox="1"/>
          <p:nvPr/>
        </p:nvSpPr>
        <p:spPr>
          <a:xfrm>
            <a:off x="6576438" y="1823951"/>
            <a:ext cx="4937700" cy="4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과신뢰 해소 (Stage 6 최대 성과)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오분류 중 과신뢰: 66.7% → 23.2% (-69%)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Threshold 0.85로 정답/오답 분리 가능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→ clarify 라우팅으로 안전하게 처리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데이터 품질 &gt; HP &gt; 모델 아키텍처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Grid Search +0.72%p vs 보강 98건 +1.80%p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소량(25건) 보강은 효과 없음 → 임계량 ~100건+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doc_qa 라벨 리뷰 결과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오류 27건 중 63%가 모델 문제 아님 (라벨 애매/오류)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Adjusted F1 ~85% (raw 76.6% → 실질 85%)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doc 4종 모두 Document Agent 라우팅 → 실영향 미미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모델 선택: KoELECTRA 근거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ELECTRA RTD → 짧은 한국어 구분에 유리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Adv F1 최고 + 추론 24% 빠름 (vs BERT)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Seed 안정성: 0.9874 ± 0.0033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6" name="Google Shape;346;g3c09b11e3f6_18_182"/>
          <p:cNvSpPr txBox="1"/>
          <p:nvPr/>
        </p:nvSpPr>
        <p:spPr>
          <a:xfrm>
            <a:off x="762000" y="571500"/>
            <a:ext cx="52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최종 결과 &amp; 인사이트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7" name="Google Shape;347;g3c09b11e3f6_18_182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g3c09b11e3f6_2_5" title="답변-removebg-preview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9750" y="993475"/>
            <a:ext cx="3314024" cy="106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3c09b11e3f6_2_5" title="답변-removebg-preview (5).png"/>
          <p:cNvPicPr preferRelativeResize="0"/>
          <p:nvPr/>
        </p:nvPicPr>
        <p:blipFill rotWithShape="1">
          <a:blip r:embed="rId4">
            <a:alphaModFix/>
          </a:blip>
          <a:srcRect b="41469" l="0" r="0" t="0"/>
          <a:stretch/>
        </p:blipFill>
        <p:spPr>
          <a:xfrm>
            <a:off x="491626" y="1473174"/>
            <a:ext cx="2022650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g3c09b11e3f6_2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7882" y="5978825"/>
            <a:ext cx="8295892" cy="58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3c09b11e3f6_2_5" title="image-removebg-preview (2).png"/>
          <p:cNvPicPr preferRelativeResize="0"/>
          <p:nvPr/>
        </p:nvPicPr>
        <p:blipFill rotWithShape="1">
          <a:blip r:embed="rId6">
            <a:alphaModFix/>
          </a:blip>
          <a:srcRect b="24854" l="43803" r="3140" t="11790"/>
          <a:stretch/>
        </p:blipFill>
        <p:spPr>
          <a:xfrm>
            <a:off x="10467280" y="5317825"/>
            <a:ext cx="1246495" cy="66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g3c09b11e3f6_2_5"/>
          <p:cNvPicPr preferRelativeResize="0"/>
          <p:nvPr/>
        </p:nvPicPr>
        <p:blipFill rotWithShape="1">
          <a:blip r:embed="rId7">
            <a:alphaModFix/>
          </a:blip>
          <a:srcRect b="0" l="0" r="1874" t="0"/>
          <a:stretch/>
        </p:blipFill>
        <p:spPr>
          <a:xfrm>
            <a:off x="912275" y="2008375"/>
            <a:ext cx="9780326" cy="33094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g3c09b11e3f6_2_5"/>
          <p:cNvGrpSpPr/>
          <p:nvPr/>
        </p:nvGrpSpPr>
        <p:grpSpPr>
          <a:xfrm>
            <a:off x="914400" y="723900"/>
            <a:ext cx="3486394" cy="415500"/>
            <a:chOff x="914400" y="723900"/>
            <a:chExt cx="3486394" cy="415500"/>
          </a:xfrm>
        </p:grpSpPr>
        <p:sp>
          <p:nvSpPr>
            <p:cNvPr id="358" name="Google Shape;358;g3c09b11e3f6_2_5"/>
            <p:cNvSpPr txBox="1"/>
            <p:nvPr/>
          </p:nvSpPr>
          <p:spPr>
            <a:xfrm>
              <a:off x="2317594" y="777743"/>
              <a:ext cx="2083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Judgement</a:t>
              </a:r>
              <a:endParaRPr i="0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59" name="Google Shape;359;g3c09b11e3f6_2_5"/>
            <p:cNvSpPr txBox="1"/>
            <p:nvPr/>
          </p:nvSpPr>
          <p:spPr>
            <a:xfrm>
              <a:off x="914400" y="723900"/>
              <a:ext cx="2500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규정 판단</a:t>
              </a:r>
              <a:endParaRPr i="0" sz="14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sp>
        <p:nvSpPr>
          <p:cNvPr id="360" name="Google Shape;360;g3c09b11e3f6_2_5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0c338455d_2_48"/>
          <p:cNvSpPr/>
          <p:nvPr/>
        </p:nvSpPr>
        <p:spPr>
          <a:xfrm>
            <a:off x="457200" y="2657282"/>
            <a:ext cx="7132200" cy="4389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g3c0c338455d_2_48"/>
          <p:cNvSpPr/>
          <p:nvPr/>
        </p:nvSpPr>
        <p:spPr>
          <a:xfrm>
            <a:off x="4389059" y="2746025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c0c338455d_2_48"/>
          <p:cNvSpPr txBox="1"/>
          <p:nvPr/>
        </p:nvSpPr>
        <p:spPr>
          <a:xfrm>
            <a:off x="548640" y="714877"/>
            <a:ext cx="731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Confidence 가중치 </a:t>
            </a:r>
            <a:r>
              <a:rPr b="1" i="0" lang="en-US" sz="2700" u="none" cap="none" strike="noStrike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Ablation Study</a:t>
            </a:r>
            <a:endParaRPr b="1" sz="900">
              <a:solidFill>
                <a:srgbClr val="2D58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g3c0c338455d_2_48"/>
          <p:cNvSpPr txBox="1"/>
          <p:nvPr/>
        </p:nvSpPr>
        <p:spPr>
          <a:xfrm>
            <a:off x="548640" y="1217797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10개 시나리오 x 7개 가중치 조합 = 70개 실험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g3c0c338455d_2_48"/>
          <p:cNvSpPr txBox="1"/>
          <p:nvPr/>
        </p:nvSpPr>
        <p:spPr>
          <a:xfrm>
            <a:off x="548640" y="1870898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가중치 조합별 종합 순위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g3c0c338455d_2_48"/>
          <p:cNvSpPr txBox="1"/>
          <p:nvPr/>
        </p:nvSpPr>
        <p:spPr>
          <a:xfrm>
            <a:off x="548640" y="2328098"/>
            <a:ext cx="54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순위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c0c338455d_2_48"/>
          <p:cNvSpPr txBox="1"/>
          <p:nvPr/>
        </p:nvSpPr>
        <p:spPr>
          <a:xfrm>
            <a:off x="1188720" y="2328098"/>
            <a:ext cx="3108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가중치 조합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g3c0c338455d_2_48"/>
          <p:cNvSpPr txBox="1"/>
          <p:nvPr/>
        </p:nvSpPr>
        <p:spPr>
          <a:xfrm>
            <a:off x="4389120" y="2328098"/>
            <a:ext cx="100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방향 정확도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g3c0c338455d_2_48"/>
          <p:cNvSpPr txBox="1"/>
          <p:nvPr/>
        </p:nvSpPr>
        <p:spPr>
          <a:xfrm>
            <a:off x="5486400" y="2328098"/>
            <a:ext cx="100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범위 적합도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g3c0c338455d_2_48"/>
          <p:cNvSpPr txBox="1"/>
          <p:nvPr/>
        </p:nvSpPr>
        <p:spPr>
          <a:xfrm>
            <a:off x="6583680" y="2328098"/>
            <a:ext cx="914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종합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g3c0c338455d_2_48"/>
          <p:cNvSpPr/>
          <p:nvPr/>
        </p:nvSpPr>
        <p:spPr>
          <a:xfrm>
            <a:off x="548640" y="2620706"/>
            <a:ext cx="6949500" cy="255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g3c0c338455d_2_48"/>
          <p:cNvSpPr txBox="1"/>
          <p:nvPr/>
        </p:nvSpPr>
        <p:spPr>
          <a:xfrm>
            <a:off x="548640" y="2712146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g3c0c338455d_2_48"/>
          <p:cNvSpPr txBox="1"/>
          <p:nvPr/>
        </p:nvSpPr>
        <p:spPr>
          <a:xfrm>
            <a:off x="1188720" y="2712146"/>
            <a:ext cx="310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60% + RAG 25% + Cov 15% ★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g3c0c338455d_2_48"/>
          <p:cNvSpPr txBox="1"/>
          <p:nvPr/>
        </p:nvSpPr>
        <p:spPr>
          <a:xfrm>
            <a:off x="4389125" y="2726823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g3c0c338455d_2_48"/>
          <p:cNvSpPr txBox="1"/>
          <p:nvPr/>
        </p:nvSpPr>
        <p:spPr>
          <a:xfrm>
            <a:off x="5486400" y="2712146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g3c0c338455d_2_48"/>
          <p:cNvSpPr txBox="1"/>
          <p:nvPr/>
        </p:nvSpPr>
        <p:spPr>
          <a:xfrm>
            <a:off x="6583680" y="2712146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g3c0c338455d_2_48"/>
          <p:cNvSpPr txBox="1"/>
          <p:nvPr/>
        </p:nvSpPr>
        <p:spPr>
          <a:xfrm>
            <a:off x="548640" y="3187634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g3c0c338455d_2_48"/>
          <p:cNvSpPr txBox="1"/>
          <p:nvPr/>
        </p:nvSpPr>
        <p:spPr>
          <a:xfrm>
            <a:off x="1188720" y="3187634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70% + RAG 20% + Cov 10%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g3c0c338455d_2_48"/>
          <p:cNvSpPr txBox="1"/>
          <p:nvPr/>
        </p:nvSpPr>
        <p:spPr>
          <a:xfrm>
            <a:off x="4389120" y="3187634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g3c0c338455d_2_48"/>
          <p:cNvSpPr txBox="1"/>
          <p:nvPr/>
        </p:nvSpPr>
        <p:spPr>
          <a:xfrm>
            <a:off x="5486400" y="3187634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90.0%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g3c0c338455d_2_48"/>
          <p:cNvSpPr txBox="1"/>
          <p:nvPr/>
        </p:nvSpPr>
        <p:spPr>
          <a:xfrm>
            <a:off x="6583680" y="3187634"/>
            <a:ext cx="91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95.0%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g3c0c338455d_2_48"/>
          <p:cNvSpPr txBox="1"/>
          <p:nvPr/>
        </p:nvSpPr>
        <p:spPr>
          <a:xfrm>
            <a:off x="548640" y="3663122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3c0c338455d_2_48"/>
          <p:cNvSpPr txBox="1"/>
          <p:nvPr/>
        </p:nvSpPr>
        <p:spPr>
          <a:xfrm>
            <a:off x="1188720" y="3663122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50% + RAG 30% + Cov 20%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g3c0c338455d_2_48"/>
          <p:cNvSpPr txBox="1"/>
          <p:nvPr/>
        </p:nvSpPr>
        <p:spPr>
          <a:xfrm>
            <a:off x="4389120" y="3663122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g3c0c338455d_2_48"/>
          <p:cNvSpPr txBox="1"/>
          <p:nvPr/>
        </p:nvSpPr>
        <p:spPr>
          <a:xfrm>
            <a:off x="5486400" y="3663122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90.0%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g3c0c338455d_2_48"/>
          <p:cNvSpPr txBox="1"/>
          <p:nvPr/>
        </p:nvSpPr>
        <p:spPr>
          <a:xfrm>
            <a:off x="6583680" y="3663122"/>
            <a:ext cx="91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95.0%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g3c0c338455d_2_48"/>
          <p:cNvSpPr txBox="1"/>
          <p:nvPr/>
        </p:nvSpPr>
        <p:spPr>
          <a:xfrm>
            <a:off x="548640" y="413861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g3c0c338455d_2_48"/>
          <p:cNvSpPr txBox="1"/>
          <p:nvPr/>
        </p:nvSpPr>
        <p:spPr>
          <a:xfrm>
            <a:off x="1188720" y="4138610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40% + RAG 40% + Cov 20%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g3c0c338455d_2_48"/>
          <p:cNvSpPr txBox="1"/>
          <p:nvPr/>
        </p:nvSpPr>
        <p:spPr>
          <a:xfrm>
            <a:off x="4389120" y="4138610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g3c0c338455d_2_48"/>
          <p:cNvSpPr txBox="1"/>
          <p:nvPr/>
        </p:nvSpPr>
        <p:spPr>
          <a:xfrm>
            <a:off x="5486400" y="4138610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90.0%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g3c0c338455d_2_48"/>
          <p:cNvSpPr txBox="1"/>
          <p:nvPr/>
        </p:nvSpPr>
        <p:spPr>
          <a:xfrm>
            <a:off x="6583680" y="4138610"/>
            <a:ext cx="91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95.0%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g3c0c338455d_2_48"/>
          <p:cNvSpPr txBox="1"/>
          <p:nvPr/>
        </p:nvSpPr>
        <p:spPr>
          <a:xfrm>
            <a:off x="548640" y="4614098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g3c0c338455d_2_48"/>
          <p:cNvSpPr txBox="1"/>
          <p:nvPr/>
        </p:nvSpPr>
        <p:spPr>
          <a:xfrm>
            <a:off x="1188720" y="4614098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80% + RAG 15% + Cov 5%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g3c0c338455d_2_48"/>
          <p:cNvSpPr txBox="1"/>
          <p:nvPr/>
        </p:nvSpPr>
        <p:spPr>
          <a:xfrm>
            <a:off x="4389120" y="4614098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g3c0c338455d_2_48"/>
          <p:cNvSpPr txBox="1"/>
          <p:nvPr/>
        </p:nvSpPr>
        <p:spPr>
          <a:xfrm>
            <a:off x="5486400" y="4614098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70.0%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g3c0c338455d_2_48"/>
          <p:cNvSpPr txBox="1"/>
          <p:nvPr/>
        </p:nvSpPr>
        <p:spPr>
          <a:xfrm>
            <a:off x="6583680" y="4614098"/>
            <a:ext cx="91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85.0%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g3c0c338455d_2_48"/>
          <p:cNvSpPr txBox="1"/>
          <p:nvPr/>
        </p:nvSpPr>
        <p:spPr>
          <a:xfrm>
            <a:off x="548640" y="5089586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g3c0c338455d_2_48"/>
          <p:cNvSpPr txBox="1"/>
          <p:nvPr/>
        </p:nvSpPr>
        <p:spPr>
          <a:xfrm>
            <a:off x="1188720" y="5089586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33% + RAG 33% + Cov 34%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g3c0c338455d_2_48"/>
          <p:cNvSpPr txBox="1"/>
          <p:nvPr/>
        </p:nvSpPr>
        <p:spPr>
          <a:xfrm>
            <a:off x="4389120" y="5089586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90.0%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g3c0c338455d_2_48"/>
          <p:cNvSpPr txBox="1"/>
          <p:nvPr/>
        </p:nvSpPr>
        <p:spPr>
          <a:xfrm>
            <a:off x="5486400" y="5089586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80.0%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g3c0c338455d_2_48"/>
          <p:cNvSpPr txBox="1"/>
          <p:nvPr/>
        </p:nvSpPr>
        <p:spPr>
          <a:xfrm>
            <a:off x="6583680" y="5089586"/>
            <a:ext cx="91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85.0%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g3c0c338455d_2_48"/>
          <p:cNvSpPr txBox="1"/>
          <p:nvPr/>
        </p:nvSpPr>
        <p:spPr>
          <a:xfrm>
            <a:off x="548640" y="5565074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g3c0c338455d_2_48"/>
          <p:cNvSpPr txBox="1"/>
          <p:nvPr/>
        </p:nvSpPr>
        <p:spPr>
          <a:xfrm>
            <a:off x="1188720" y="5565074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100% (보정 없음)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g3c0c338455d_2_48"/>
          <p:cNvSpPr txBox="1"/>
          <p:nvPr/>
        </p:nvSpPr>
        <p:spPr>
          <a:xfrm>
            <a:off x="4389120" y="5565074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50.0%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g3c0c338455d_2_48"/>
          <p:cNvSpPr txBox="1"/>
          <p:nvPr/>
        </p:nvSpPr>
        <p:spPr>
          <a:xfrm>
            <a:off x="5486400" y="5565074"/>
            <a:ext cx="10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60.0%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g3c0c338455d_2_48"/>
          <p:cNvSpPr txBox="1"/>
          <p:nvPr/>
        </p:nvSpPr>
        <p:spPr>
          <a:xfrm>
            <a:off x="6583680" y="5565074"/>
            <a:ext cx="91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55.0%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g3c0c338455d_2_48"/>
          <p:cNvSpPr txBox="1"/>
          <p:nvPr/>
        </p:nvSpPr>
        <p:spPr>
          <a:xfrm>
            <a:off x="7863840" y="1371600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핵심 인사이트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g3c0c338455d_2_48"/>
          <p:cNvSpPr/>
          <p:nvPr/>
        </p:nvSpPr>
        <p:spPr>
          <a:xfrm>
            <a:off x="7863840" y="1828800"/>
            <a:ext cx="3840600" cy="146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g3c0c338455d_2_48"/>
          <p:cNvSpPr txBox="1"/>
          <p:nvPr/>
        </p:nvSpPr>
        <p:spPr>
          <a:xfrm>
            <a:off x="8138160" y="1920240"/>
            <a:ext cx="329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60/25/15가 유일한 만점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g3c0c338455d_2_48"/>
          <p:cNvSpPr txBox="1"/>
          <p:nvPr/>
        </p:nvSpPr>
        <p:spPr>
          <a:xfrm>
            <a:off x="8138160" y="2137483"/>
            <a:ext cx="3291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g3c0c338455d_2_48"/>
          <p:cNvSpPr txBox="1"/>
          <p:nvPr/>
        </p:nvSpPr>
        <p:spPr>
          <a:xfrm>
            <a:off x="8138160" y="2775899"/>
            <a:ext cx="3291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방향 정확도 100% + 범위 적합도 100%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10개 시나리오 모두 기대 범위 내 보정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g3c0c338455d_2_48"/>
          <p:cNvSpPr/>
          <p:nvPr/>
        </p:nvSpPr>
        <p:spPr>
          <a:xfrm>
            <a:off x="7863840" y="3474720"/>
            <a:ext cx="3840600" cy="1280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g3c0c338455d_2_48"/>
          <p:cNvSpPr txBox="1"/>
          <p:nvPr/>
        </p:nvSpPr>
        <p:spPr>
          <a:xfrm>
            <a:off x="8138160" y="3566160"/>
            <a:ext cx="329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100% 신뢰 시 위험성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g3c0c338455d_2_48"/>
          <p:cNvSpPr txBox="1"/>
          <p:nvPr/>
        </p:nvSpPr>
        <p:spPr>
          <a:xfrm>
            <a:off x="8138160" y="3845472"/>
            <a:ext cx="109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55%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g3c0c338455d_2_48"/>
          <p:cNvSpPr txBox="1"/>
          <p:nvPr/>
        </p:nvSpPr>
        <p:spPr>
          <a:xfrm>
            <a:off x="8138160" y="4394113"/>
            <a:ext cx="109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LLM 100%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g3c0c338455d_2_48"/>
          <p:cNvSpPr txBox="1"/>
          <p:nvPr/>
        </p:nvSpPr>
        <p:spPr>
          <a:xfrm>
            <a:off x="9326880" y="4028353"/>
            <a:ext cx="54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g3c0c338455d_2_48"/>
          <p:cNvSpPr txBox="1"/>
          <p:nvPr/>
        </p:nvSpPr>
        <p:spPr>
          <a:xfrm>
            <a:off x="9966946" y="3845483"/>
            <a:ext cx="146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g3c0c338455d_2_48"/>
          <p:cNvSpPr txBox="1"/>
          <p:nvPr/>
        </p:nvSpPr>
        <p:spPr>
          <a:xfrm>
            <a:off x="9966960" y="4394113"/>
            <a:ext cx="109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60/25/15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g3c0c338455d_2_48"/>
          <p:cNvSpPr/>
          <p:nvPr/>
        </p:nvSpPr>
        <p:spPr>
          <a:xfrm>
            <a:off x="7863840" y="4937760"/>
            <a:ext cx="3840600" cy="1371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g3c0c338455d_2_48"/>
          <p:cNvSpPr txBox="1"/>
          <p:nvPr/>
        </p:nvSpPr>
        <p:spPr>
          <a:xfrm>
            <a:off x="8138160" y="5029200"/>
            <a:ext cx="329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균등 배분(33/33/34)의 문제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g3c0c338455d_2_48"/>
          <p:cNvSpPr txBox="1"/>
          <p:nvPr/>
        </p:nvSpPr>
        <p:spPr>
          <a:xfrm>
            <a:off x="8138160" y="5394960"/>
            <a:ext cx="13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방향 90%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g3c0c338455d_2_48"/>
          <p:cNvSpPr txBox="1"/>
          <p:nvPr/>
        </p:nvSpPr>
        <p:spPr>
          <a:xfrm>
            <a:off x="9601200" y="5394960"/>
            <a:ext cx="13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범위 80%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g3c0c338455d_2_48"/>
          <p:cNvSpPr txBox="1"/>
          <p:nvPr/>
        </p:nvSpPr>
        <p:spPr>
          <a:xfrm>
            <a:off x="8138160" y="5808104"/>
            <a:ext cx="32919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 비중이 낮으면 '중간 조건'에서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과도한 상향 보정 발생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g3c0c338455d_2_48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0c338455d_2_128"/>
          <p:cNvSpPr txBox="1"/>
          <p:nvPr/>
        </p:nvSpPr>
        <p:spPr>
          <a:xfrm>
            <a:off x="54864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D58B8"/>
                </a:solidFill>
                <a:latin typeface="Roboto Black"/>
                <a:ea typeface="Roboto Black"/>
                <a:cs typeface="Roboto Black"/>
                <a:sym typeface="Roboto Black"/>
              </a:rPr>
              <a:t>60 / 25 / 15 </a:t>
            </a:r>
            <a:r>
              <a:rPr b="1" i="0" lang="en-US" sz="3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가중치 설계 근거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g3c0c338455d_2_128"/>
          <p:cNvSpPr txBox="1"/>
          <p:nvPr/>
        </p:nvSpPr>
        <p:spPr>
          <a:xfrm>
            <a:off x="548640" y="812715"/>
            <a:ext cx="822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각 가중치는 벤치마크 데이터, E2E 실험, Ablation Study에 기반합니다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g3c0c338455d_2_128"/>
          <p:cNvSpPr/>
          <p:nvPr/>
        </p:nvSpPr>
        <p:spPr>
          <a:xfrm>
            <a:off x="548640" y="1223158"/>
            <a:ext cx="3566100" cy="4846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g3c0c338455d_2_128"/>
          <p:cNvSpPr txBox="1"/>
          <p:nvPr/>
        </p:nvSpPr>
        <p:spPr>
          <a:xfrm>
            <a:off x="777255" y="1236167"/>
            <a:ext cx="212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60%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g3c0c338455d_2_128"/>
          <p:cNvSpPr txBox="1"/>
          <p:nvPr/>
        </p:nvSpPr>
        <p:spPr>
          <a:xfrm>
            <a:off x="777240" y="1908958"/>
            <a:ext cx="18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LLM 판단값</a:t>
            </a:r>
            <a:endParaRPr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g3c0c338455d_2_128"/>
          <p:cNvSpPr/>
          <p:nvPr/>
        </p:nvSpPr>
        <p:spPr>
          <a:xfrm>
            <a:off x="685800" y="2320438"/>
            <a:ext cx="3291900" cy="14172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g3c0c338455d_2_128"/>
          <p:cNvSpPr txBox="1"/>
          <p:nvPr/>
        </p:nvSpPr>
        <p:spPr>
          <a:xfrm>
            <a:off x="744518" y="2399776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근거: 벤치마크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g3c0c338455d_2_128"/>
          <p:cNvSpPr txBox="1"/>
          <p:nvPr/>
        </p:nvSpPr>
        <p:spPr>
          <a:xfrm>
            <a:off x="733312" y="2587676"/>
            <a:ext cx="30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66.7%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g3c0c338455d_2_128"/>
          <p:cNvSpPr txBox="1"/>
          <p:nvPr/>
        </p:nvSpPr>
        <p:spPr>
          <a:xfrm>
            <a:off x="766930" y="3096782"/>
            <a:ext cx="301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베이스 모델 판단 정확도</a:t>
            </a:r>
            <a:b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87개 테스트셋 기준</a:t>
            </a:r>
            <a:b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3번 중 1번은 오답 → 100% 신뢰 불가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42" name="Google Shape;442;g3c0c338455d_2_128"/>
          <p:cNvSpPr txBox="1"/>
          <p:nvPr/>
        </p:nvSpPr>
        <p:spPr>
          <a:xfrm>
            <a:off x="777240" y="3829197"/>
            <a:ext cx="301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Ablation: LLM 100%의 문제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g3c0c338455d_2_128"/>
          <p:cNvSpPr txBox="1"/>
          <p:nvPr/>
        </p:nvSpPr>
        <p:spPr>
          <a:xfrm>
            <a:off x="822959" y="4103518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 과신 (raw 0.95)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g3c0c338455d_2_128"/>
          <p:cNvSpPr txBox="1"/>
          <p:nvPr/>
        </p:nvSpPr>
        <p:spPr>
          <a:xfrm>
            <a:off x="2286000" y="4103518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0.95 그대로 (보정 실패)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g3c0c338455d_2_128"/>
          <p:cNvSpPr txBox="1"/>
          <p:nvPr/>
        </p:nvSpPr>
        <p:spPr>
          <a:xfrm>
            <a:off x="822959" y="4396126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보수적 LLM (raw 0.50)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g3c0c338455d_2_128"/>
          <p:cNvSpPr txBox="1"/>
          <p:nvPr/>
        </p:nvSpPr>
        <p:spPr>
          <a:xfrm>
            <a:off x="2286000" y="4396126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0.50 그대로 (보완 실패)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g3c0c338455d_2_128"/>
          <p:cNvSpPr txBox="1"/>
          <p:nvPr/>
        </p:nvSpPr>
        <p:spPr>
          <a:xfrm>
            <a:off x="822959" y="4688734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종합 점수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g3c0c338455d_2_128"/>
          <p:cNvSpPr txBox="1"/>
          <p:nvPr/>
        </p:nvSpPr>
        <p:spPr>
          <a:xfrm>
            <a:off x="2286000" y="4688734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55.0% (최하위)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g3c0c338455d_2_128"/>
          <p:cNvSpPr/>
          <p:nvPr/>
        </p:nvSpPr>
        <p:spPr>
          <a:xfrm>
            <a:off x="685800" y="5200798"/>
            <a:ext cx="3291900" cy="7773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g3c0c338455d_2_128"/>
          <p:cNvSpPr txBox="1"/>
          <p:nvPr/>
        </p:nvSpPr>
        <p:spPr>
          <a:xfrm>
            <a:off x="822959" y="5228230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결론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g3c0c338455d_2_128"/>
          <p:cNvSpPr txBox="1"/>
          <p:nvPr/>
        </p:nvSpPr>
        <p:spPr>
          <a:xfrm>
            <a:off x="822959" y="5429398"/>
            <a:ext cx="301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과반(60%)은 배분하되, 지배적이지 않게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LLM이 아무리 과신해도 최대 기여 = 0.6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g3c0c338455d_2_128"/>
          <p:cNvSpPr/>
          <p:nvPr/>
        </p:nvSpPr>
        <p:spPr>
          <a:xfrm>
            <a:off x="4389120" y="1223158"/>
            <a:ext cx="3566100" cy="4846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g3c0c338455d_2_128"/>
          <p:cNvSpPr txBox="1"/>
          <p:nvPr/>
        </p:nvSpPr>
        <p:spPr>
          <a:xfrm>
            <a:off x="4617727" y="1236167"/>
            <a:ext cx="2020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25%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g3c0c338455d_2_128"/>
          <p:cNvSpPr txBox="1"/>
          <p:nvPr/>
        </p:nvSpPr>
        <p:spPr>
          <a:xfrm>
            <a:off x="4617720" y="1908958"/>
            <a:ext cx="18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RAG 검색 품질</a:t>
            </a:r>
            <a:endParaRPr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g3c0c338455d_2_128"/>
          <p:cNvSpPr/>
          <p:nvPr/>
        </p:nvSpPr>
        <p:spPr>
          <a:xfrm>
            <a:off x="4526280" y="2320438"/>
            <a:ext cx="3291900" cy="14172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g3c0c338455d_2_128"/>
          <p:cNvSpPr txBox="1"/>
          <p:nvPr/>
        </p:nvSpPr>
        <p:spPr>
          <a:xfrm>
            <a:off x="4584999" y="2399776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근거: E2E 실험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g3c0c338455d_2_128"/>
          <p:cNvSpPr txBox="1"/>
          <p:nvPr/>
        </p:nvSpPr>
        <p:spPr>
          <a:xfrm>
            <a:off x="4573793" y="2587676"/>
            <a:ext cx="30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50%→100%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g3c0c338455d_2_128"/>
          <p:cNvSpPr txBox="1"/>
          <p:nvPr/>
        </p:nvSpPr>
        <p:spPr>
          <a:xfrm>
            <a:off x="4607411" y="3096782"/>
            <a:ext cx="3017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RAG 청크 품질 개선만으로</a:t>
            </a:r>
            <a:b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판단 정답률이 2배 상승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9" name="Google Shape;459;g3c0c338455d_2_128"/>
          <p:cNvSpPr txBox="1"/>
          <p:nvPr/>
        </p:nvSpPr>
        <p:spPr>
          <a:xfrm>
            <a:off x="4617720" y="3829197"/>
            <a:ext cx="301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RAG 품질 = 판단 품질 (실증)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g3c0c338455d_2_128"/>
          <p:cNvSpPr txBox="1"/>
          <p:nvPr/>
        </p:nvSpPr>
        <p:spPr>
          <a:xfrm>
            <a:off x="4663440" y="4103518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연차 (12청크)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g3c0c338455d_2_128"/>
          <p:cNvSpPr txBox="1"/>
          <p:nvPr/>
        </p:nvSpPr>
        <p:spPr>
          <a:xfrm>
            <a:off x="6126479" y="4103518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no_regulation 0.46 ✗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g3c0c338455d_2_128"/>
          <p:cNvSpPr txBox="1"/>
          <p:nvPr/>
        </p:nvSpPr>
        <p:spPr>
          <a:xfrm>
            <a:off x="4663440" y="4396126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연차 (44청크)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g3c0c338455d_2_128"/>
          <p:cNvSpPr txBox="1"/>
          <p:nvPr/>
        </p:nvSpPr>
        <p:spPr>
          <a:xfrm>
            <a:off x="6126479" y="4396126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conditional 0.70 ✓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g3c0c338455d_2_128"/>
          <p:cNvSpPr txBox="1"/>
          <p:nvPr/>
        </p:nvSpPr>
        <p:spPr>
          <a:xfrm>
            <a:off x="4663440" y="4688734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클라우드 (12청크)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g3c0c338455d_2_128"/>
          <p:cNvSpPr txBox="1"/>
          <p:nvPr/>
        </p:nvSpPr>
        <p:spPr>
          <a:xfrm>
            <a:off x="6126479" y="4688734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no_regulation 0.40 ✗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g3c0c338455d_2_128"/>
          <p:cNvSpPr txBox="1"/>
          <p:nvPr/>
        </p:nvSpPr>
        <p:spPr>
          <a:xfrm>
            <a:off x="4663440" y="4981342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클라우드 (44청크)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g3c0c338455d_2_128"/>
          <p:cNvSpPr txBox="1"/>
          <p:nvPr/>
        </p:nvSpPr>
        <p:spPr>
          <a:xfrm>
            <a:off x="6126479" y="4981342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no 0.70 ✓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g3c0c338455d_2_128"/>
          <p:cNvSpPr/>
          <p:nvPr/>
        </p:nvSpPr>
        <p:spPr>
          <a:xfrm>
            <a:off x="4526280" y="5200798"/>
            <a:ext cx="3291900" cy="7773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g3c0c338455d_2_128"/>
          <p:cNvSpPr txBox="1"/>
          <p:nvPr/>
        </p:nvSpPr>
        <p:spPr>
          <a:xfrm>
            <a:off x="4663440" y="5228230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결론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g3c0c338455d_2_128"/>
          <p:cNvSpPr txBox="1"/>
          <p:nvPr/>
        </p:nvSpPr>
        <p:spPr>
          <a:xfrm>
            <a:off x="4663440" y="5429398"/>
            <a:ext cx="301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Garbage In = Garbage Out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근거 품질이 판단 정확도를 직접 결정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나머지 40% 중 가장 큰 비중(25%) 배분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g3c0c338455d_2_128"/>
          <p:cNvSpPr/>
          <p:nvPr/>
        </p:nvSpPr>
        <p:spPr>
          <a:xfrm>
            <a:off x="8229600" y="1223158"/>
            <a:ext cx="3566100" cy="4846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g3c0c338455d_2_128"/>
          <p:cNvSpPr txBox="1"/>
          <p:nvPr/>
        </p:nvSpPr>
        <p:spPr>
          <a:xfrm>
            <a:off x="8458200" y="1236167"/>
            <a:ext cx="1954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15%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g3c0c338455d_2_128"/>
          <p:cNvSpPr txBox="1"/>
          <p:nvPr/>
        </p:nvSpPr>
        <p:spPr>
          <a:xfrm>
            <a:off x="8458200" y="1908958"/>
            <a:ext cx="18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규정 커버리지</a:t>
            </a:r>
            <a:endParaRPr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g3c0c338455d_2_128"/>
          <p:cNvSpPr/>
          <p:nvPr/>
        </p:nvSpPr>
        <p:spPr>
          <a:xfrm>
            <a:off x="8366760" y="2320438"/>
            <a:ext cx="3291900" cy="14172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g3c0c338455d_2_128"/>
          <p:cNvSpPr txBox="1"/>
          <p:nvPr/>
        </p:nvSpPr>
        <p:spPr>
          <a:xfrm>
            <a:off x="8425479" y="2399776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근거: 교차 검증 효과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g3c0c338455d_2_128"/>
          <p:cNvSpPr txBox="1"/>
          <p:nvPr/>
        </p:nvSpPr>
        <p:spPr>
          <a:xfrm>
            <a:off x="8414273" y="2587676"/>
            <a:ext cx="30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+0.075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g3c0c338455d_2_128"/>
          <p:cNvSpPr txBox="1"/>
          <p:nvPr/>
        </p:nvSpPr>
        <p:spPr>
          <a:xfrm>
            <a:off x="8447891" y="3096782"/>
            <a:ext cx="301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복수 규정 교차 확인 시</a:t>
            </a:r>
            <a:b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최대 추가 보정 점수</a:t>
            </a:r>
            <a:b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보조 신호 — 보너스 수준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8" name="Google Shape;478;g3c0c338455d_2_128"/>
          <p:cNvSpPr txBox="1"/>
          <p:nvPr/>
        </p:nvSpPr>
        <p:spPr>
          <a:xfrm>
            <a:off x="8458200" y="3829197"/>
            <a:ext cx="301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왜 15%인가?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g3c0c338455d_2_128"/>
          <p:cNvSpPr txBox="1"/>
          <p:nvPr/>
        </p:nvSpPr>
        <p:spPr>
          <a:xfrm>
            <a:off x="8503920" y="4103518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커버리지 단독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g3c0c338455d_2_128"/>
          <p:cNvSpPr txBox="1"/>
          <p:nvPr/>
        </p:nvSpPr>
        <p:spPr>
          <a:xfrm>
            <a:off x="9966960" y="4103518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판단 불가 → 보조 역할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g3c0c338455d_2_128"/>
          <p:cNvSpPr txBox="1"/>
          <p:nvPr/>
        </p:nvSpPr>
        <p:spPr>
          <a:xfrm>
            <a:off x="8503920" y="4396126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있으면 좋고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g3c0c338455d_2_128"/>
          <p:cNvSpPr txBox="1"/>
          <p:nvPr/>
        </p:nvSpPr>
        <p:spPr>
          <a:xfrm>
            <a:off x="9966960" y="4396126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없어도 치명적이지 않음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g3c0c338455d_2_128"/>
          <p:cNvSpPr txBox="1"/>
          <p:nvPr/>
        </p:nvSpPr>
        <p:spPr>
          <a:xfrm>
            <a:off x="8503920" y="4688734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20%로 올리면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g3c0c338455d_2_128"/>
          <p:cNvSpPr txBox="1"/>
          <p:nvPr/>
        </p:nvSpPr>
        <p:spPr>
          <a:xfrm>
            <a:off x="9966960" y="4688734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범위 적합도 90%로 하락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g3c0c338455d_2_128"/>
          <p:cNvSpPr/>
          <p:nvPr/>
        </p:nvSpPr>
        <p:spPr>
          <a:xfrm>
            <a:off x="8366760" y="5200798"/>
            <a:ext cx="3291900" cy="7773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g3c0c338455d_2_128"/>
          <p:cNvSpPr txBox="1"/>
          <p:nvPr/>
        </p:nvSpPr>
        <p:spPr>
          <a:xfrm>
            <a:off x="8503920" y="5228230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결론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g3c0c338455d_2_128"/>
          <p:cNvSpPr txBox="1"/>
          <p:nvPr/>
        </p:nvSpPr>
        <p:spPr>
          <a:xfrm>
            <a:off x="8503920" y="5429398"/>
            <a:ext cx="301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60 + 25 + 15 = 100%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감점 없이 최적 조건 → confidence = 1.0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g3c0c338455d_2_128"/>
          <p:cNvSpPr/>
          <p:nvPr/>
        </p:nvSpPr>
        <p:spPr>
          <a:xfrm>
            <a:off x="548640" y="6309360"/>
            <a:ext cx="11155800" cy="411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g3c0c338455d_2_128"/>
          <p:cNvSpPr txBox="1"/>
          <p:nvPr/>
        </p:nvSpPr>
        <p:spPr>
          <a:xfrm>
            <a:off x="731520" y="6336792"/>
            <a:ext cx="107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최종 </a:t>
            </a:r>
            <a:r>
              <a:rPr b="1" i="0" lang="en-US" sz="1600" u="none" cap="none" strike="noStrike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Confidence</a:t>
            </a:r>
            <a:r>
              <a:rPr b="1" i="0" lang="en-US" sz="16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=  LLM판단 x 0.6  +  RAG품질 x 0.25  +  커버리지 x 0.15  -  감점(충돌/환각/미존재)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g3c0c338455d_2_128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0c338455d_2_124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496" name="Google Shape;496;g3c0c338455d_2_124"/>
          <p:cNvSpPr txBox="1"/>
          <p:nvPr/>
        </p:nvSpPr>
        <p:spPr>
          <a:xfrm>
            <a:off x="54864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시나리오 보정 효과 검증</a:t>
            </a:r>
            <a:endParaRPr/>
          </a:p>
        </p:txBody>
      </p:sp>
      <p:sp>
        <p:nvSpPr>
          <p:cNvPr id="497" name="Google Shape;497;g3c0c338455d_2_124"/>
          <p:cNvSpPr txBox="1"/>
          <p:nvPr/>
        </p:nvSpPr>
        <p:spPr>
          <a:xfrm>
            <a:off x="548640" y="77724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60/25/15 가중치가 실제로 어떤 상황에서 왜 작동하는지</a:t>
            </a:r>
            <a:endParaRPr/>
          </a:p>
        </p:txBody>
      </p:sp>
      <p:sp>
        <p:nvSpPr>
          <p:cNvPr id="498" name="Google Shape;498;g3c0c338455d_2_124"/>
          <p:cNvSpPr/>
          <p:nvPr/>
        </p:nvSpPr>
        <p:spPr>
          <a:xfrm>
            <a:off x="548640" y="1371600"/>
            <a:ext cx="68580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c0c338455d_2_124"/>
          <p:cNvSpPr txBox="1"/>
          <p:nvPr/>
        </p:nvSpPr>
        <p:spPr>
          <a:xfrm>
            <a:off x="822960" y="1463040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과신 방지</a:t>
            </a:r>
            <a:endParaRPr/>
          </a:p>
        </p:txBody>
      </p:sp>
      <p:sp>
        <p:nvSpPr>
          <p:cNvPr id="500" name="Google Shape;500;g3c0c338455d_2_124"/>
          <p:cNvSpPr txBox="1"/>
          <p:nvPr/>
        </p:nvSpPr>
        <p:spPr>
          <a:xfrm>
            <a:off x="822960" y="1828800"/>
            <a:ext cx="3840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LLM이 0.95 확신 → 하지만 RAG 점수 0.25로 매우 낮음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근거가 약한데 높은 확신 = 사용자에게 잘못된 신뢰를 줌</a:t>
            </a:r>
            <a:endParaRPr/>
          </a:p>
        </p:txBody>
      </p:sp>
      <p:sp>
        <p:nvSpPr>
          <p:cNvPr id="501" name="Google Shape;501;g3c0c338455d_2_124"/>
          <p:cNvSpPr/>
          <p:nvPr/>
        </p:nvSpPr>
        <p:spPr>
          <a:xfrm>
            <a:off x="822960" y="2395728"/>
            <a:ext cx="2011800" cy="2742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c0c338455d_2_124"/>
          <p:cNvSpPr txBox="1"/>
          <p:nvPr/>
        </p:nvSpPr>
        <p:spPr>
          <a:xfrm>
            <a:off x="868680" y="2404872"/>
            <a:ext cx="1920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과신 위험 (Overconfidence)</a:t>
            </a:r>
            <a:endParaRPr/>
          </a:p>
        </p:txBody>
      </p:sp>
      <p:sp>
        <p:nvSpPr>
          <p:cNvPr id="503" name="Google Shape;503;g3c0c338455d_2_124"/>
          <p:cNvSpPr/>
          <p:nvPr/>
        </p:nvSpPr>
        <p:spPr>
          <a:xfrm>
            <a:off x="5029200" y="1600200"/>
            <a:ext cx="914400" cy="6402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c0c338455d_2_124"/>
          <p:cNvSpPr txBox="1"/>
          <p:nvPr/>
        </p:nvSpPr>
        <p:spPr>
          <a:xfrm>
            <a:off x="5029200" y="1627632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0.95</a:t>
            </a:r>
            <a:endParaRPr/>
          </a:p>
        </p:txBody>
      </p:sp>
      <p:sp>
        <p:nvSpPr>
          <p:cNvPr id="505" name="Google Shape;505;g3c0c338455d_2_124"/>
          <p:cNvSpPr txBox="1"/>
          <p:nvPr/>
        </p:nvSpPr>
        <p:spPr>
          <a:xfrm>
            <a:off x="5029200" y="1965960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raw</a:t>
            </a:r>
            <a:endParaRPr/>
          </a:p>
        </p:txBody>
      </p:sp>
      <p:sp>
        <p:nvSpPr>
          <p:cNvPr id="506" name="Google Shape;506;g3c0c338455d_2_124"/>
          <p:cNvSpPr txBox="1"/>
          <p:nvPr/>
        </p:nvSpPr>
        <p:spPr>
          <a:xfrm>
            <a:off x="6035040" y="1645920"/>
            <a:ext cx="4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507" name="Google Shape;507;g3c0c338455d_2_124"/>
          <p:cNvSpPr/>
          <p:nvPr/>
        </p:nvSpPr>
        <p:spPr>
          <a:xfrm>
            <a:off x="6492240" y="1600200"/>
            <a:ext cx="914400" cy="6402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c0c338455d_2_124"/>
          <p:cNvSpPr txBox="1"/>
          <p:nvPr/>
        </p:nvSpPr>
        <p:spPr>
          <a:xfrm>
            <a:off x="6492240" y="1627632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0.72</a:t>
            </a:r>
            <a:endParaRPr/>
          </a:p>
        </p:txBody>
      </p:sp>
      <p:sp>
        <p:nvSpPr>
          <p:cNvPr id="509" name="Google Shape;509;g3c0c338455d_2_124"/>
          <p:cNvSpPr txBox="1"/>
          <p:nvPr/>
        </p:nvSpPr>
        <p:spPr>
          <a:xfrm>
            <a:off x="6492240" y="1965960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보정 후</a:t>
            </a:r>
            <a:endParaRPr/>
          </a:p>
        </p:txBody>
      </p:sp>
      <p:sp>
        <p:nvSpPr>
          <p:cNvPr id="510" name="Google Shape;510;g3c0c338455d_2_124"/>
          <p:cNvSpPr txBox="1"/>
          <p:nvPr/>
        </p:nvSpPr>
        <p:spPr>
          <a:xfrm>
            <a:off x="5029200" y="2331720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-0.227 하향 보정</a:t>
            </a:r>
            <a:endParaRPr/>
          </a:p>
        </p:txBody>
      </p:sp>
      <p:sp>
        <p:nvSpPr>
          <p:cNvPr id="511" name="Google Shape;511;g3c0c338455d_2_124"/>
          <p:cNvSpPr/>
          <p:nvPr/>
        </p:nvSpPr>
        <p:spPr>
          <a:xfrm>
            <a:off x="548640" y="2971800"/>
            <a:ext cx="68580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c0c338455d_2_124"/>
          <p:cNvSpPr txBox="1"/>
          <p:nvPr/>
        </p:nvSpPr>
        <p:spPr>
          <a:xfrm>
            <a:off x="822960" y="3063240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환각 완전 차단</a:t>
            </a:r>
            <a:endParaRPr/>
          </a:p>
        </p:txBody>
      </p:sp>
      <p:sp>
        <p:nvSpPr>
          <p:cNvPr id="513" name="Google Shape;513;g3c0c338455d_2_124"/>
          <p:cNvSpPr txBox="1"/>
          <p:nvPr/>
        </p:nvSpPr>
        <p:spPr>
          <a:xfrm>
            <a:off x="822960" y="3429000"/>
            <a:ext cx="3840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규정 문서가 아예 없는데 LLM이 0.80 확신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없는 판단은 절대 신뢰하지 않는다 → 강제 0.3 캡</a:t>
            </a:r>
            <a:endParaRPr/>
          </a:p>
        </p:txBody>
      </p:sp>
      <p:sp>
        <p:nvSpPr>
          <p:cNvPr id="514" name="Google Shape;514;g3c0c338455d_2_124"/>
          <p:cNvSpPr/>
          <p:nvPr/>
        </p:nvSpPr>
        <p:spPr>
          <a:xfrm>
            <a:off x="822960" y="3995928"/>
            <a:ext cx="2011800" cy="274200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c0c338455d_2_124"/>
          <p:cNvSpPr txBox="1"/>
          <p:nvPr/>
        </p:nvSpPr>
        <p:spPr>
          <a:xfrm>
            <a:off x="868680" y="4005072"/>
            <a:ext cx="1920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환각 위험 (Hallucination)</a:t>
            </a:r>
            <a:endParaRPr/>
          </a:p>
        </p:txBody>
      </p:sp>
      <p:sp>
        <p:nvSpPr>
          <p:cNvPr id="516" name="Google Shape;516;g3c0c338455d_2_124"/>
          <p:cNvSpPr/>
          <p:nvPr/>
        </p:nvSpPr>
        <p:spPr>
          <a:xfrm>
            <a:off x="5029200" y="3200400"/>
            <a:ext cx="914400" cy="6402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c0c338455d_2_124"/>
          <p:cNvSpPr txBox="1"/>
          <p:nvPr/>
        </p:nvSpPr>
        <p:spPr>
          <a:xfrm>
            <a:off x="5029200" y="3227832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0.80</a:t>
            </a:r>
            <a:endParaRPr/>
          </a:p>
        </p:txBody>
      </p:sp>
      <p:sp>
        <p:nvSpPr>
          <p:cNvPr id="518" name="Google Shape;518;g3c0c338455d_2_124"/>
          <p:cNvSpPr txBox="1"/>
          <p:nvPr/>
        </p:nvSpPr>
        <p:spPr>
          <a:xfrm>
            <a:off x="5029200" y="3566160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raw</a:t>
            </a:r>
            <a:endParaRPr/>
          </a:p>
        </p:txBody>
      </p:sp>
      <p:sp>
        <p:nvSpPr>
          <p:cNvPr id="519" name="Google Shape;519;g3c0c338455d_2_124"/>
          <p:cNvSpPr txBox="1"/>
          <p:nvPr/>
        </p:nvSpPr>
        <p:spPr>
          <a:xfrm>
            <a:off x="6035040" y="3246120"/>
            <a:ext cx="4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520" name="Google Shape;520;g3c0c338455d_2_124"/>
          <p:cNvSpPr/>
          <p:nvPr/>
        </p:nvSpPr>
        <p:spPr>
          <a:xfrm>
            <a:off x="6492240" y="3200400"/>
            <a:ext cx="914400" cy="6402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c0c338455d_2_124"/>
          <p:cNvSpPr txBox="1"/>
          <p:nvPr/>
        </p:nvSpPr>
        <p:spPr>
          <a:xfrm>
            <a:off x="6492240" y="3227832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0.30</a:t>
            </a:r>
            <a:endParaRPr/>
          </a:p>
        </p:txBody>
      </p:sp>
      <p:sp>
        <p:nvSpPr>
          <p:cNvPr id="522" name="Google Shape;522;g3c0c338455d_2_124"/>
          <p:cNvSpPr txBox="1"/>
          <p:nvPr/>
        </p:nvSpPr>
        <p:spPr>
          <a:xfrm>
            <a:off x="6492240" y="3566160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보정 후</a:t>
            </a:r>
            <a:endParaRPr/>
          </a:p>
        </p:txBody>
      </p:sp>
      <p:sp>
        <p:nvSpPr>
          <p:cNvPr id="523" name="Google Shape;523;g3c0c338455d_2_124"/>
          <p:cNvSpPr txBox="1"/>
          <p:nvPr/>
        </p:nvSpPr>
        <p:spPr>
          <a:xfrm>
            <a:off x="5029200" y="3931920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-0.500 대폭 하향</a:t>
            </a:r>
            <a:endParaRPr/>
          </a:p>
        </p:txBody>
      </p:sp>
      <p:sp>
        <p:nvSpPr>
          <p:cNvPr id="524" name="Google Shape;524;g3c0c338455d_2_124"/>
          <p:cNvSpPr/>
          <p:nvPr/>
        </p:nvSpPr>
        <p:spPr>
          <a:xfrm>
            <a:off x="548640" y="4572000"/>
            <a:ext cx="68580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c0c338455d_2_124"/>
          <p:cNvSpPr txBox="1"/>
          <p:nvPr/>
        </p:nvSpPr>
        <p:spPr>
          <a:xfrm>
            <a:off x="822960" y="4663440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보수적 LLM 보완</a:t>
            </a:r>
            <a:endParaRPr/>
          </a:p>
        </p:txBody>
      </p:sp>
      <p:sp>
        <p:nvSpPr>
          <p:cNvPr id="526" name="Google Shape;526;g3c0c338455d_2_124"/>
          <p:cNvSpPr txBox="1"/>
          <p:nvPr/>
        </p:nvSpPr>
        <p:spPr>
          <a:xfrm>
            <a:off x="822960" y="5029200"/>
            <a:ext cx="384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LLM이 0.50으로 불확실 → 하지만 RAG 점수 0.92로 매우 높음</a:t>
            </a:r>
            <a:br>
              <a:rPr b="0" i="0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좋은 근거가 있으면 신뢰도를 올려준다</a:t>
            </a:r>
            <a:endParaRPr/>
          </a:p>
        </p:txBody>
      </p:sp>
      <p:sp>
        <p:nvSpPr>
          <p:cNvPr id="527" name="Google Shape;527;g3c0c338455d_2_124"/>
          <p:cNvSpPr/>
          <p:nvPr/>
        </p:nvSpPr>
        <p:spPr>
          <a:xfrm>
            <a:off x="822960" y="5596128"/>
            <a:ext cx="2011800" cy="2742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c0c338455d_2_124"/>
          <p:cNvSpPr txBox="1"/>
          <p:nvPr/>
        </p:nvSpPr>
        <p:spPr>
          <a:xfrm>
            <a:off x="868680" y="5605272"/>
            <a:ext cx="1920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보완 효과 (Complementary)</a:t>
            </a:r>
            <a:endParaRPr/>
          </a:p>
        </p:txBody>
      </p:sp>
      <p:sp>
        <p:nvSpPr>
          <p:cNvPr id="529" name="Google Shape;529;g3c0c338455d_2_124"/>
          <p:cNvSpPr/>
          <p:nvPr/>
        </p:nvSpPr>
        <p:spPr>
          <a:xfrm>
            <a:off x="5029200" y="4800600"/>
            <a:ext cx="914400" cy="6402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c0c338455d_2_124"/>
          <p:cNvSpPr txBox="1"/>
          <p:nvPr/>
        </p:nvSpPr>
        <p:spPr>
          <a:xfrm>
            <a:off x="5029200" y="4828032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0.50</a:t>
            </a:r>
            <a:endParaRPr/>
          </a:p>
        </p:txBody>
      </p:sp>
      <p:sp>
        <p:nvSpPr>
          <p:cNvPr id="531" name="Google Shape;531;g3c0c338455d_2_124"/>
          <p:cNvSpPr txBox="1"/>
          <p:nvPr/>
        </p:nvSpPr>
        <p:spPr>
          <a:xfrm>
            <a:off x="5029200" y="5166360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raw</a:t>
            </a:r>
            <a:endParaRPr/>
          </a:p>
        </p:txBody>
      </p:sp>
      <p:sp>
        <p:nvSpPr>
          <p:cNvPr id="532" name="Google Shape;532;g3c0c338455d_2_124"/>
          <p:cNvSpPr txBox="1"/>
          <p:nvPr/>
        </p:nvSpPr>
        <p:spPr>
          <a:xfrm>
            <a:off x="6035040" y="4846320"/>
            <a:ext cx="4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533" name="Google Shape;533;g3c0c338455d_2_124"/>
          <p:cNvSpPr/>
          <p:nvPr/>
        </p:nvSpPr>
        <p:spPr>
          <a:xfrm>
            <a:off x="6492240" y="4800600"/>
            <a:ext cx="914400" cy="6402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c0c338455d_2_124"/>
          <p:cNvSpPr txBox="1"/>
          <p:nvPr/>
        </p:nvSpPr>
        <p:spPr>
          <a:xfrm>
            <a:off x="6492240" y="4828032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6A34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0.70</a:t>
            </a:r>
            <a:endParaRPr/>
          </a:p>
        </p:txBody>
      </p:sp>
      <p:sp>
        <p:nvSpPr>
          <p:cNvPr id="535" name="Google Shape;535;g3c0c338455d_2_124"/>
          <p:cNvSpPr txBox="1"/>
          <p:nvPr/>
        </p:nvSpPr>
        <p:spPr>
          <a:xfrm>
            <a:off x="6492240" y="5166360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보정 후</a:t>
            </a:r>
            <a:endParaRPr/>
          </a:p>
        </p:txBody>
      </p:sp>
      <p:sp>
        <p:nvSpPr>
          <p:cNvPr id="536" name="Google Shape;536;g3c0c338455d_2_124"/>
          <p:cNvSpPr txBox="1"/>
          <p:nvPr/>
        </p:nvSpPr>
        <p:spPr>
          <a:xfrm>
            <a:off x="5029200" y="5532120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Malgun Gothic"/>
                <a:ea typeface="Malgun Gothic"/>
                <a:cs typeface="Malgun Gothic"/>
                <a:sym typeface="Malgun Gothic"/>
              </a:rPr>
              <a:t>+0.200 상향 보정</a:t>
            </a:r>
            <a:endParaRPr/>
          </a:p>
        </p:txBody>
      </p:sp>
      <p:sp>
        <p:nvSpPr>
          <p:cNvPr id="537" name="Google Shape;537;g3c0c338455d_2_124"/>
          <p:cNvSpPr txBox="1"/>
          <p:nvPr/>
        </p:nvSpPr>
        <p:spPr>
          <a:xfrm>
            <a:off x="7772400" y="1371600"/>
            <a:ext cx="411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가중치별 보정값 히트맵</a:t>
            </a:r>
            <a:endParaRPr/>
          </a:p>
        </p:txBody>
      </p:sp>
      <p:sp>
        <p:nvSpPr>
          <p:cNvPr id="538" name="Google Shape;538;g3c0c338455d_2_124"/>
          <p:cNvSpPr txBox="1"/>
          <p:nvPr/>
        </p:nvSpPr>
        <p:spPr>
          <a:xfrm>
            <a:off x="7772400" y="1737360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rgbClr val="94A3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9" name="Google Shape;539;g3c0c338455d_2_124"/>
          <p:cNvSpPr txBox="1"/>
          <p:nvPr/>
        </p:nvSpPr>
        <p:spPr>
          <a:xfrm>
            <a:off x="8961120" y="1737360"/>
            <a:ext cx="5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이상적</a:t>
            </a:r>
            <a:endParaRPr/>
          </a:p>
        </p:txBody>
      </p:sp>
      <p:sp>
        <p:nvSpPr>
          <p:cNvPr id="540" name="Google Shape;540;g3c0c338455d_2_124"/>
          <p:cNvSpPr txBox="1"/>
          <p:nvPr/>
        </p:nvSpPr>
        <p:spPr>
          <a:xfrm>
            <a:off x="9509760" y="1737360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과신</a:t>
            </a:r>
            <a:endParaRPr/>
          </a:p>
        </p:txBody>
      </p:sp>
      <p:sp>
        <p:nvSpPr>
          <p:cNvPr id="541" name="Google Shape;541;g3c0c338455d_2_124"/>
          <p:cNvSpPr txBox="1"/>
          <p:nvPr/>
        </p:nvSpPr>
        <p:spPr>
          <a:xfrm>
            <a:off x="10058400" y="1737360"/>
            <a:ext cx="5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근거없음</a:t>
            </a:r>
            <a:endParaRPr/>
          </a:p>
        </p:txBody>
      </p:sp>
      <p:sp>
        <p:nvSpPr>
          <p:cNvPr id="542" name="Google Shape;542;g3c0c338455d_2_124"/>
          <p:cNvSpPr txBox="1"/>
          <p:nvPr/>
        </p:nvSpPr>
        <p:spPr>
          <a:xfrm>
            <a:off x="10607040" y="1737360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충돌</a:t>
            </a:r>
            <a:endParaRPr/>
          </a:p>
        </p:txBody>
      </p:sp>
      <p:sp>
        <p:nvSpPr>
          <p:cNvPr id="543" name="Google Shape;543;g3c0c338455d_2_124"/>
          <p:cNvSpPr txBox="1"/>
          <p:nvPr/>
        </p:nvSpPr>
        <p:spPr>
          <a:xfrm>
            <a:off x="11155680" y="1737360"/>
            <a:ext cx="5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보수적</a:t>
            </a:r>
            <a:endParaRPr/>
          </a:p>
        </p:txBody>
      </p:sp>
      <p:sp>
        <p:nvSpPr>
          <p:cNvPr id="544" name="Google Shape;544;g3c0c338455d_2_124"/>
          <p:cNvSpPr txBox="1"/>
          <p:nvPr/>
        </p:nvSpPr>
        <p:spPr>
          <a:xfrm>
            <a:off x="7772400" y="2011680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기대범위</a:t>
            </a:r>
            <a:endParaRPr/>
          </a:p>
        </p:txBody>
      </p:sp>
      <p:sp>
        <p:nvSpPr>
          <p:cNvPr id="545" name="Google Shape;545;g3c0c338455d_2_124"/>
          <p:cNvSpPr txBox="1"/>
          <p:nvPr/>
        </p:nvSpPr>
        <p:spPr>
          <a:xfrm>
            <a:off x="8961120" y="2011680"/>
            <a:ext cx="5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.85~1.0</a:t>
            </a:r>
            <a:endParaRPr/>
          </a:p>
        </p:txBody>
      </p:sp>
      <p:sp>
        <p:nvSpPr>
          <p:cNvPr id="546" name="Google Shape;546;g3c0c338455d_2_124"/>
          <p:cNvSpPr txBox="1"/>
          <p:nvPr/>
        </p:nvSpPr>
        <p:spPr>
          <a:xfrm>
            <a:off x="9509760" y="2011680"/>
            <a:ext cx="5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.50~.80</a:t>
            </a:r>
            <a:endParaRPr/>
          </a:p>
        </p:txBody>
      </p:sp>
      <p:sp>
        <p:nvSpPr>
          <p:cNvPr id="547" name="Google Shape;547;g3c0c338455d_2_124"/>
          <p:cNvSpPr txBox="1"/>
          <p:nvPr/>
        </p:nvSpPr>
        <p:spPr>
          <a:xfrm>
            <a:off x="10058400" y="2011680"/>
            <a:ext cx="5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.00~.35</a:t>
            </a:r>
            <a:endParaRPr/>
          </a:p>
        </p:txBody>
      </p:sp>
      <p:sp>
        <p:nvSpPr>
          <p:cNvPr id="548" name="Google Shape;548;g3c0c338455d_2_124"/>
          <p:cNvSpPr txBox="1"/>
          <p:nvPr/>
        </p:nvSpPr>
        <p:spPr>
          <a:xfrm>
            <a:off x="10607040" y="2011680"/>
            <a:ext cx="5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.40~.75</a:t>
            </a:r>
            <a:endParaRPr/>
          </a:p>
        </p:txBody>
      </p:sp>
      <p:sp>
        <p:nvSpPr>
          <p:cNvPr id="549" name="Google Shape;549;g3c0c338455d_2_124"/>
          <p:cNvSpPr txBox="1"/>
          <p:nvPr/>
        </p:nvSpPr>
        <p:spPr>
          <a:xfrm>
            <a:off x="11155680" y="2011680"/>
            <a:ext cx="5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.60~.85</a:t>
            </a:r>
            <a:endParaRPr/>
          </a:p>
        </p:txBody>
      </p:sp>
      <p:sp>
        <p:nvSpPr>
          <p:cNvPr id="550" name="Google Shape;550;g3c0c338455d_2_124"/>
          <p:cNvSpPr txBox="1"/>
          <p:nvPr/>
        </p:nvSpPr>
        <p:spPr>
          <a:xfrm>
            <a:off x="7772400" y="2359152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100%</a:t>
            </a:r>
            <a:endParaRPr/>
          </a:p>
        </p:txBody>
      </p:sp>
      <p:sp>
        <p:nvSpPr>
          <p:cNvPr id="551" name="Google Shape;551;g3c0c338455d_2_124"/>
          <p:cNvSpPr txBox="1"/>
          <p:nvPr/>
        </p:nvSpPr>
        <p:spPr>
          <a:xfrm>
            <a:off x="8961120" y="2359152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.900</a:t>
            </a:r>
            <a:endParaRPr/>
          </a:p>
        </p:txBody>
      </p:sp>
      <p:sp>
        <p:nvSpPr>
          <p:cNvPr id="552" name="Google Shape;552;g3c0c338455d_2_124"/>
          <p:cNvSpPr txBox="1"/>
          <p:nvPr/>
        </p:nvSpPr>
        <p:spPr>
          <a:xfrm>
            <a:off x="9509760" y="2359152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.950</a:t>
            </a:r>
            <a:endParaRPr/>
          </a:p>
        </p:txBody>
      </p:sp>
      <p:sp>
        <p:nvSpPr>
          <p:cNvPr id="553" name="Google Shape;553;g3c0c338455d_2_124"/>
          <p:cNvSpPr txBox="1"/>
          <p:nvPr/>
        </p:nvSpPr>
        <p:spPr>
          <a:xfrm>
            <a:off x="10058400" y="2359152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.300</a:t>
            </a:r>
            <a:endParaRPr/>
          </a:p>
        </p:txBody>
      </p:sp>
      <p:sp>
        <p:nvSpPr>
          <p:cNvPr id="554" name="Google Shape;554;g3c0c338455d_2_124"/>
          <p:cNvSpPr txBox="1"/>
          <p:nvPr/>
        </p:nvSpPr>
        <p:spPr>
          <a:xfrm>
            <a:off x="10607040" y="2359152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.650</a:t>
            </a:r>
            <a:endParaRPr/>
          </a:p>
        </p:txBody>
      </p:sp>
      <p:sp>
        <p:nvSpPr>
          <p:cNvPr id="555" name="Google Shape;555;g3c0c338455d_2_124"/>
          <p:cNvSpPr txBox="1"/>
          <p:nvPr/>
        </p:nvSpPr>
        <p:spPr>
          <a:xfrm>
            <a:off x="11155680" y="2359152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.500</a:t>
            </a:r>
            <a:endParaRPr/>
          </a:p>
        </p:txBody>
      </p:sp>
      <p:sp>
        <p:nvSpPr>
          <p:cNvPr id="556" name="Google Shape;556;g3c0c338455d_2_124"/>
          <p:cNvSpPr txBox="1"/>
          <p:nvPr/>
        </p:nvSpPr>
        <p:spPr>
          <a:xfrm>
            <a:off x="7772400" y="2706624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80/15/5</a:t>
            </a:r>
            <a:endParaRPr/>
          </a:p>
        </p:txBody>
      </p:sp>
      <p:sp>
        <p:nvSpPr>
          <p:cNvPr id="557" name="Google Shape;557;g3c0c338455d_2_124"/>
          <p:cNvSpPr txBox="1"/>
          <p:nvPr/>
        </p:nvSpPr>
        <p:spPr>
          <a:xfrm>
            <a:off x="8961120" y="270662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.920</a:t>
            </a:r>
            <a:endParaRPr/>
          </a:p>
        </p:txBody>
      </p:sp>
      <p:sp>
        <p:nvSpPr>
          <p:cNvPr id="558" name="Google Shape;558;g3c0c338455d_2_124"/>
          <p:cNvSpPr txBox="1"/>
          <p:nvPr/>
        </p:nvSpPr>
        <p:spPr>
          <a:xfrm>
            <a:off x="9509760" y="270662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.832</a:t>
            </a:r>
            <a:endParaRPr/>
          </a:p>
        </p:txBody>
      </p:sp>
      <p:sp>
        <p:nvSpPr>
          <p:cNvPr id="559" name="Google Shape;559;g3c0c338455d_2_124"/>
          <p:cNvSpPr txBox="1"/>
          <p:nvPr/>
        </p:nvSpPr>
        <p:spPr>
          <a:xfrm>
            <a:off x="10058400" y="270662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.300</a:t>
            </a:r>
            <a:endParaRPr/>
          </a:p>
        </p:txBody>
      </p:sp>
      <p:sp>
        <p:nvSpPr>
          <p:cNvPr id="560" name="Google Shape;560;g3c0c338455d_2_124"/>
          <p:cNvSpPr txBox="1"/>
          <p:nvPr/>
        </p:nvSpPr>
        <p:spPr>
          <a:xfrm>
            <a:off x="10607040" y="270662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.675</a:t>
            </a:r>
            <a:endParaRPr/>
          </a:p>
        </p:txBody>
      </p:sp>
      <p:sp>
        <p:nvSpPr>
          <p:cNvPr id="561" name="Google Shape;561;g3c0c338455d_2_124"/>
          <p:cNvSpPr txBox="1"/>
          <p:nvPr/>
        </p:nvSpPr>
        <p:spPr>
          <a:xfrm>
            <a:off x="11155680" y="270662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.600</a:t>
            </a:r>
            <a:endParaRPr/>
          </a:p>
        </p:txBody>
      </p:sp>
      <p:sp>
        <p:nvSpPr>
          <p:cNvPr id="562" name="Google Shape;562;g3c0c338455d_2_124"/>
          <p:cNvSpPr txBox="1"/>
          <p:nvPr/>
        </p:nvSpPr>
        <p:spPr>
          <a:xfrm>
            <a:off x="7772400" y="3054096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70/20/10</a:t>
            </a:r>
            <a:endParaRPr/>
          </a:p>
        </p:txBody>
      </p:sp>
      <p:sp>
        <p:nvSpPr>
          <p:cNvPr id="563" name="Google Shape;563;g3c0c338455d_2_124"/>
          <p:cNvSpPr txBox="1"/>
          <p:nvPr/>
        </p:nvSpPr>
        <p:spPr>
          <a:xfrm>
            <a:off x="8961120" y="305409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.930</a:t>
            </a:r>
            <a:endParaRPr/>
          </a:p>
        </p:txBody>
      </p:sp>
      <p:sp>
        <p:nvSpPr>
          <p:cNvPr id="564" name="Google Shape;564;g3c0c338455d_2_124"/>
          <p:cNvSpPr txBox="1"/>
          <p:nvPr/>
        </p:nvSpPr>
        <p:spPr>
          <a:xfrm>
            <a:off x="9509760" y="305409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.777</a:t>
            </a:r>
            <a:endParaRPr/>
          </a:p>
        </p:txBody>
      </p:sp>
      <p:sp>
        <p:nvSpPr>
          <p:cNvPr id="565" name="Google Shape;565;g3c0c338455d_2_124"/>
          <p:cNvSpPr txBox="1"/>
          <p:nvPr/>
        </p:nvSpPr>
        <p:spPr>
          <a:xfrm>
            <a:off x="10058400" y="305409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.300</a:t>
            </a:r>
            <a:endParaRPr/>
          </a:p>
        </p:txBody>
      </p:sp>
      <p:sp>
        <p:nvSpPr>
          <p:cNvPr id="566" name="Google Shape;566;g3c0c338455d_2_124"/>
          <p:cNvSpPr txBox="1"/>
          <p:nvPr/>
        </p:nvSpPr>
        <p:spPr>
          <a:xfrm>
            <a:off x="10607040" y="305409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.689</a:t>
            </a:r>
            <a:endParaRPr/>
          </a:p>
        </p:txBody>
      </p:sp>
      <p:sp>
        <p:nvSpPr>
          <p:cNvPr id="567" name="Google Shape;567;g3c0c338455d_2_124"/>
          <p:cNvSpPr txBox="1"/>
          <p:nvPr/>
        </p:nvSpPr>
        <p:spPr>
          <a:xfrm>
            <a:off x="11155680" y="305409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.650</a:t>
            </a:r>
            <a:endParaRPr/>
          </a:p>
        </p:txBody>
      </p:sp>
      <p:sp>
        <p:nvSpPr>
          <p:cNvPr id="568" name="Google Shape;568;g3c0c338455d_2_124"/>
          <p:cNvSpPr/>
          <p:nvPr/>
        </p:nvSpPr>
        <p:spPr>
          <a:xfrm>
            <a:off x="7680960" y="3374136"/>
            <a:ext cx="4114800" cy="329100"/>
          </a:xfrm>
          <a:prstGeom prst="rect">
            <a:avLst/>
          </a:prstGeom>
          <a:solidFill>
            <a:srgbClr val="DCFCE7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c0c338455d_2_124"/>
          <p:cNvSpPr txBox="1"/>
          <p:nvPr/>
        </p:nvSpPr>
        <p:spPr>
          <a:xfrm>
            <a:off x="7772400" y="3401568"/>
            <a:ext cx="109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60/25/15 ★</a:t>
            </a:r>
            <a:endParaRPr/>
          </a:p>
        </p:txBody>
      </p:sp>
      <p:sp>
        <p:nvSpPr>
          <p:cNvPr id="570" name="Google Shape;570;g3c0c338455d_2_124"/>
          <p:cNvSpPr txBox="1"/>
          <p:nvPr/>
        </p:nvSpPr>
        <p:spPr>
          <a:xfrm>
            <a:off x="8961120" y="3401568"/>
            <a:ext cx="5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.940</a:t>
            </a:r>
            <a:endParaRPr/>
          </a:p>
        </p:txBody>
      </p:sp>
      <p:sp>
        <p:nvSpPr>
          <p:cNvPr id="571" name="Google Shape;571;g3c0c338455d_2_124"/>
          <p:cNvSpPr txBox="1"/>
          <p:nvPr/>
        </p:nvSpPr>
        <p:spPr>
          <a:xfrm>
            <a:off x="9509760" y="3401568"/>
            <a:ext cx="5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.723</a:t>
            </a:r>
            <a:endParaRPr/>
          </a:p>
        </p:txBody>
      </p:sp>
      <p:sp>
        <p:nvSpPr>
          <p:cNvPr id="572" name="Google Shape;572;g3c0c338455d_2_124"/>
          <p:cNvSpPr txBox="1"/>
          <p:nvPr/>
        </p:nvSpPr>
        <p:spPr>
          <a:xfrm>
            <a:off x="10058400" y="3401568"/>
            <a:ext cx="5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.300</a:t>
            </a:r>
            <a:endParaRPr/>
          </a:p>
        </p:txBody>
      </p:sp>
      <p:sp>
        <p:nvSpPr>
          <p:cNvPr id="573" name="Google Shape;573;g3c0c338455d_2_124"/>
          <p:cNvSpPr txBox="1"/>
          <p:nvPr/>
        </p:nvSpPr>
        <p:spPr>
          <a:xfrm>
            <a:off x="10607040" y="3401568"/>
            <a:ext cx="5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.702</a:t>
            </a:r>
            <a:endParaRPr/>
          </a:p>
        </p:txBody>
      </p:sp>
      <p:sp>
        <p:nvSpPr>
          <p:cNvPr id="574" name="Google Shape;574;g3c0c338455d_2_124"/>
          <p:cNvSpPr txBox="1"/>
          <p:nvPr/>
        </p:nvSpPr>
        <p:spPr>
          <a:xfrm>
            <a:off x="11155680" y="3401568"/>
            <a:ext cx="5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.700</a:t>
            </a:r>
            <a:endParaRPr/>
          </a:p>
        </p:txBody>
      </p:sp>
      <p:sp>
        <p:nvSpPr>
          <p:cNvPr id="575" name="Google Shape;575;g3c0c338455d_2_124"/>
          <p:cNvSpPr txBox="1"/>
          <p:nvPr/>
        </p:nvSpPr>
        <p:spPr>
          <a:xfrm>
            <a:off x="7772400" y="3749039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50/30/20</a:t>
            </a:r>
            <a:endParaRPr/>
          </a:p>
        </p:txBody>
      </p:sp>
      <p:sp>
        <p:nvSpPr>
          <p:cNvPr id="576" name="Google Shape;576;g3c0c338455d_2_124"/>
          <p:cNvSpPr txBox="1"/>
          <p:nvPr/>
        </p:nvSpPr>
        <p:spPr>
          <a:xfrm>
            <a:off x="8961120" y="3749039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.950</a:t>
            </a:r>
            <a:endParaRPr/>
          </a:p>
        </p:txBody>
      </p:sp>
      <p:sp>
        <p:nvSpPr>
          <p:cNvPr id="577" name="Google Shape;577;g3c0c338455d_2_124"/>
          <p:cNvSpPr txBox="1"/>
          <p:nvPr/>
        </p:nvSpPr>
        <p:spPr>
          <a:xfrm>
            <a:off x="9509760" y="3749039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.669</a:t>
            </a:r>
            <a:endParaRPr/>
          </a:p>
        </p:txBody>
      </p:sp>
      <p:sp>
        <p:nvSpPr>
          <p:cNvPr id="578" name="Google Shape;578;g3c0c338455d_2_124"/>
          <p:cNvSpPr txBox="1"/>
          <p:nvPr/>
        </p:nvSpPr>
        <p:spPr>
          <a:xfrm>
            <a:off x="10058400" y="3749039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.300</a:t>
            </a:r>
            <a:endParaRPr/>
          </a:p>
        </p:txBody>
      </p:sp>
      <p:sp>
        <p:nvSpPr>
          <p:cNvPr id="579" name="Google Shape;579;g3c0c338455d_2_124"/>
          <p:cNvSpPr txBox="1"/>
          <p:nvPr/>
        </p:nvSpPr>
        <p:spPr>
          <a:xfrm>
            <a:off x="10607040" y="3749039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.716</a:t>
            </a:r>
            <a:endParaRPr/>
          </a:p>
        </p:txBody>
      </p:sp>
      <p:sp>
        <p:nvSpPr>
          <p:cNvPr id="580" name="Google Shape;580;g3c0c338455d_2_124"/>
          <p:cNvSpPr txBox="1"/>
          <p:nvPr/>
        </p:nvSpPr>
        <p:spPr>
          <a:xfrm>
            <a:off x="11155680" y="3749039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.750</a:t>
            </a:r>
            <a:endParaRPr/>
          </a:p>
        </p:txBody>
      </p:sp>
      <p:sp>
        <p:nvSpPr>
          <p:cNvPr id="581" name="Google Shape;581;g3c0c338455d_2_124"/>
          <p:cNvSpPr txBox="1"/>
          <p:nvPr/>
        </p:nvSpPr>
        <p:spPr>
          <a:xfrm>
            <a:off x="7772400" y="4096512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40/40/20</a:t>
            </a:r>
            <a:endParaRPr/>
          </a:p>
        </p:txBody>
      </p:sp>
      <p:sp>
        <p:nvSpPr>
          <p:cNvPr id="582" name="Google Shape;582;g3c0c338455d_2_124"/>
          <p:cNvSpPr txBox="1"/>
          <p:nvPr/>
        </p:nvSpPr>
        <p:spPr>
          <a:xfrm>
            <a:off x="8961120" y="4096512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.960</a:t>
            </a:r>
            <a:endParaRPr/>
          </a:p>
        </p:txBody>
      </p:sp>
      <p:sp>
        <p:nvSpPr>
          <p:cNvPr id="583" name="Google Shape;583;g3c0c338455d_2_124"/>
          <p:cNvSpPr txBox="1"/>
          <p:nvPr/>
        </p:nvSpPr>
        <p:spPr>
          <a:xfrm>
            <a:off x="9509760" y="4096512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.605</a:t>
            </a:r>
            <a:endParaRPr/>
          </a:p>
        </p:txBody>
      </p:sp>
      <p:sp>
        <p:nvSpPr>
          <p:cNvPr id="584" name="Google Shape;584;g3c0c338455d_2_124"/>
          <p:cNvSpPr txBox="1"/>
          <p:nvPr/>
        </p:nvSpPr>
        <p:spPr>
          <a:xfrm>
            <a:off x="10058400" y="4096512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.300</a:t>
            </a:r>
            <a:endParaRPr/>
          </a:p>
        </p:txBody>
      </p:sp>
      <p:sp>
        <p:nvSpPr>
          <p:cNvPr id="585" name="Google Shape;585;g3c0c338455d_2_124"/>
          <p:cNvSpPr txBox="1"/>
          <p:nvPr/>
        </p:nvSpPr>
        <p:spPr>
          <a:xfrm>
            <a:off x="10607040" y="4096512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.728</a:t>
            </a:r>
            <a:endParaRPr/>
          </a:p>
        </p:txBody>
      </p:sp>
      <p:sp>
        <p:nvSpPr>
          <p:cNvPr id="586" name="Google Shape;586;g3c0c338455d_2_124"/>
          <p:cNvSpPr txBox="1"/>
          <p:nvPr/>
        </p:nvSpPr>
        <p:spPr>
          <a:xfrm>
            <a:off x="11155680" y="4096512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.800</a:t>
            </a:r>
            <a:endParaRPr/>
          </a:p>
        </p:txBody>
      </p:sp>
      <p:sp>
        <p:nvSpPr>
          <p:cNvPr id="587" name="Google Shape;587;g3c0c338455d_2_124"/>
          <p:cNvSpPr txBox="1"/>
          <p:nvPr/>
        </p:nvSpPr>
        <p:spPr>
          <a:xfrm>
            <a:off x="7772400" y="4443984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33/33/34</a:t>
            </a:r>
            <a:endParaRPr/>
          </a:p>
        </p:txBody>
      </p:sp>
      <p:sp>
        <p:nvSpPr>
          <p:cNvPr id="588" name="Google Shape;588;g3c0c338455d_2_124"/>
          <p:cNvSpPr txBox="1"/>
          <p:nvPr/>
        </p:nvSpPr>
        <p:spPr>
          <a:xfrm>
            <a:off x="8961120" y="444398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.967</a:t>
            </a:r>
            <a:endParaRPr/>
          </a:p>
        </p:txBody>
      </p:sp>
      <p:sp>
        <p:nvSpPr>
          <p:cNvPr id="589" name="Google Shape;589;g3c0c338455d_2_124"/>
          <p:cNvSpPr txBox="1"/>
          <p:nvPr/>
        </p:nvSpPr>
        <p:spPr>
          <a:xfrm>
            <a:off x="9509760" y="444398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.587</a:t>
            </a:r>
            <a:endParaRPr/>
          </a:p>
        </p:txBody>
      </p:sp>
      <p:sp>
        <p:nvSpPr>
          <p:cNvPr id="590" name="Google Shape;590;g3c0c338455d_2_124"/>
          <p:cNvSpPr txBox="1"/>
          <p:nvPr/>
        </p:nvSpPr>
        <p:spPr>
          <a:xfrm>
            <a:off x="10058400" y="444398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.300</a:t>
            </a:r>
            <a:endParaRPr/>
          </a:p>
        </p:txBody>
      </p:sp>
      <p:sp>
        <p:nvSpPr>
          <p:cNvPr id="591" name="Google Shape;591;g3c0c338455d_2_124"/>
          <p:cNvSpPr txBox="1"/>
          <p:nvPr/>
        </p:nvSpPr>
        <p:spPr>
          <a:xfrm>
            <a:off x="10607040" y="444398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.740</a:t>
            </a:r>
            <a:endParaRPr/>
          </a:p>
        </p:txBody>
      </p:sp>
      <p:sp>
        <p:nvSpPr>
          <p:cNvPr id="592" name="Google Shape;592;g3c0c338455d_2_124"/>
          <p:cNvSpPr txBox="1"/>
          <p:nvPr/>
        </p:nvSpPr>
        <p:spPr>
          <a:xfrm>
            <a:off x="11155680" y="444398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.835</a:t>
            </a:r>
            <a:endParaRPr/>
          </a:p>
        </p:txBody>
      </p:sp>
      <p:sp>
        <p:nvSpPr>
          <p:cNvPr id="593" name="Google Shape;593;g3c0c338455d_2_124"/>
          <p:cNvSpPr txBox="1"/>
          <p:nvPr/>
        </p:nvSpPr>
        <p:spPr>
          <a:xfrm>
            <a:off x="7772400" y="4937760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60/25/15가 유일한 만점인 이유</a:t>
            </a:r>
            <a:endParaRPr/>
          </a:p>
        </p:txBody>
      </p:sp>
      <p:sp>
        <p:nvSpPr>
          <p:cNvPr id="594" name="Google Shape;594;g3c0c338455d_2_124"/>
          <p:cNvSpPr txBox="1"/>
          <p:nvPr/>
        </p:nvSpPr>
        <p:spPr>
          <a:xfrm>
            <a:off x="7772400" y="525780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rgbClr val="94A3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5" name="Google Shape;595;g3c0c338455d_2_124"/>
          <p:cNvSpPr txBox="1"/>
          <p:nvPr/>
        </p:nvSpPr>
        <p:spPr>
          <a:xfrm>
            <a:off x="8778240" y="525780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극도 과신</a:t>
            </a:r>
            <a:endParaRPr/>
          </a:p>
        </p:txBody>
      </p:sp>
      <p:sp>
        <p:nvSpPr>
          <p:cNvPr id="596" name="Google Shape;596;g3c0c338455d_2_124"/>
          <p:cNvSpPr txBox="1"/>
          <p:nvPr/>
        </p:nvSpPr>
        <p:spPr>
          <a:xfrm>
            <a:off x="9784080" y="525780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극도 불확실</a:t>
            </a:r>
            <a:endParaRPr/>
          </a:p>
        </p:txBody>
      </p:sp>
      <p:sp>
        <p:nvSpPr>
          <p:cNvPr id="597" name="Google Shape;597;g3c0c338455d_2_124"/>
          <p:cNvSpPr txBox="1"/>
          <p:nvPr/>
        </p:nvSpPr>
        <p:spPr>
          <a:xfrm>
            <a:off x="10789920" y="525780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모든것 중간</a:t>
            </a:r>
            <a:endParaRPr/>
          </a:p>
        </p:txBody>
      </p:sp>
      <p:sp>
        <p:nvSpPr>
          <p:cNvPr id="598" name="Google Shape;598;g3c0c338455d_2_124"/>
          <p:cNvSpPr txBox="1"/>
          <p:nvPr/>
        </p:nvSpPr>
        <p:spPr>
          <a:xfrm>
            <a:off x="7772400" y="550468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기대범위</a:t>
            </a:r>
            <a:endParaRPr/>
          </a:p>
        </p:txBody>
      </p:sp>
      <p:sp>
        <p:nvSpPr>
          <p:cNvPr id="599" name="Google Shape;599;g3c0c338455d_2_124"/>
          <p:cNvSpPr txBox="1"/>
          <p:nvPr/>
        </p:nvSpPr>
        <p:spPr>
          <a:xfrm>
            <a:off x="8778240" y="550468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.40~.75</a:t>
            </a:r>
            <a:endParaRPr/>
          </a:p>
        </p:txBody>
      </p:sp>
      <p:sp>
        <p:nvSpPr>
          <p:cNvPr id="600" name="Google Shape;600;g3c0c338455d_2_124"/>
          <p:cNvSpPr txBox="1"/>
          <p:nvPr/>
        </p:nvSpPr>
        <p:spPr>
          <a:xfrm>
            <a:off x="9784080" y="550468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.45~.75</a:t>
            </a:r>
            <a:endParaRPr/>
          </a:p>
        </p:txBody>
      </p:sp>
      <p:sp>
        <p:nvSpPr>
          <p:cNvPr id="601" name="Google Shape;601;g3c0c338455d_2_124"/>
          <p:cNvSpPr txBox="1"/>
          <p:nvPr/>
        </p:nvSpPr>
        <p:spPr>
          <a:xfrm>
            <a:off x="10789920" y="550468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.45~.70</a:t>
            </a:r>
            <a:endParaRPr/>
          </a:p>
        </p:txBody>
      </p:sp>
      <p:sp>
        <p:nvSpPr>
          <p:cNvPr id="602" name="Google Shape;602;g3c0c338455d_2_124"/>
          <p:cNvSpPr txBox="1"/>
          <p:nvPr/>
        </p:nvSpPr>
        <p:spPr>
          <a:xfrm>
            <a:off x="7772400" y="5779007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80/15/5</a:t>
            </a:r>
            <a:endParaRPr/>
          </a:p>
        </p:txBody>
      </p:sp>
      <p:sp>
        <p:nvSpPr>
          <p:cNvPr id="603" name="Google Shape;603;g3c0c338455d_2_124"/>
          <p:cNvSpPr txBox="1"/>
          <p:nvPr/>
        </p:nvSpPr>
        <p:spPr>
          <a:xfrm>
            <a:off x="8778240" y="5779007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.845 ✗</a:t>
            </a:r>
            <a:endParaRPr/>
          </a:p>
        </p:txBody>
      </p:sp>
      <p:sp>
        <p:nvSpPr>
          <p:cNvPr id="604" name="Google Shape;604;g3c0c338455d_2_124"/>
          <p:cNvSpPr txBox="1"/>
          <p:nvPr/>
        </p:nvSpPr>
        <p:spPr>
          <a:xfrm>
            <a:off x="9784080" y="5779007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.440 ✗</a:t>
            </a:r>
            <a:endParaRPr/>
          </a:p>
        </p:txBody>
      </p:sp>
      <p:sp>
        <p:nvSpPr>
          <p:cNvPr id="605" name="Google Shape;605;g3c0c338455d_2_124"/>
          <p:cNvSpPr txBox="1"/>
          <p:nvPr/>
        </p:nvSpPr>
        <p:spPr>
          <a:xfrm>
            <a:off x="10789920" y="5779007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.638</a:t>
            </a:r>
            <a:endParaRPr/>
          </a:p>
        </p:txBody>
      </p:sp>
      <p:sp>
        <p:nvSpPr>
          <p:cNvPr id="606" name="Google Shape;606;g3c0c338455d_2_124"/>
          <p:cNvSpPr/>
          <p:nvPr/>
        </p:nvSpPr>
        <p:spPr>
          <a:xfrm>
            <a:off x="7680960" y="6035040"/>
            <a:ext cx="4114800" cy="2559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c0c338455d_2_124"/>
          <p:cNvSpPr txBox="1"/>
          <p:nvPr/>
        </p:nvSpPr>
        <p:spPr>
          <a:xfrm>
            <a:off x="7772400" y="6053327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60/25/15 ★</a:t>
            </a:r>
            <a:endParaRPr/>
          </a:p>
        </p:txBody>
      </p:sp>
      <p:sp>
        <p:nvSpPr>
          <p:cNvPr id="608" name="Google Shape;608;g3c0c338455d_2_124"/>
          <p:cNvSpPr txBox="1"/>
          <p:nvPr/>
        </p:nvSpPr>
        <p:spPr>
          <a:xfrm>
            <a:off x="8778240" y="6053327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Malgun Gothic"/>
                <a:ea typeface="Malgun Gothic"/>
                <a:cs typeface="Malgun Gothic"/>
                <a:sym typeface="Malgun Gothic"/>
              </a:rPr>
              <a:t>.716 ✓</a:t>
            </a:r>
            <a:endParaRPr/>
          </a:p>
        </p:txBody>
      </p:sp>
      <p:sp>
        <p:nvSpPr>
          <p:cNvPr id="609" name="Google Shape;609;g3c0c338455d_2_124"/>
          <p:cNvSpPr txBox="1"/>
          <p:nvPr/>
        </p:nvSpPr>
        <p:spPr>
          <a:xfrm>
            <a:off x="9784080" y="6053327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Malgun Gothic"/>
                <a:ea typeface="Malgun Gothic"/>
                <a:cs typeface="Malgun Gothic"/>
                <a:sym typeface="Malgun Gothic"/>
              </a:rPr>
              <a:t>.580 ✓</a:t>
            </a:r>
            <a:endParaRPr/>
          </a:p>
        </p:txBody>
      </p:sp>
      <p:sp>
        <p:nvSpPr>
          <p:cNvPr id="610" name="Google Shape;610;g3c0c338455d_2_124"/>
          <p:cNvSpPr txBox="1"/>
          <p:nvPr/>
        </p:nvSpPr>
        <p:spPr>
          <a:xfrm>
            <a:off x="10789920" y="6053327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Malgun Gothic"/>
                <a:ea typeface="Malgun Gothic"/>
                <a:cs typeface="Malgun Gothic"/>
                <a:sym typeface="Malgun Gothic"/>
              </a:rPr>
              <a:t>.690 ✓</a:t>
            </a:r>
            <a:endParaRPr/>
          </a:p>
        </p:txBody>
      </p:sp>
      <p:sp>
        <p:nvSpPr>
          <p:cNvPr id="611" name="Google Shape;611;g3c0c338455d_2_124"/>
          <p:cNvSpPr txBox="1"/>
          <p:nvPr/>
        </p:nvSpPr>
        <p:spPr>
          <a:xfrm>
            <a:off x="7772400" y="632764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50/30/20</a:t>
            </a:r>
            <a:endParaRPr/>
          </a:p>
        </p:txBody>
      </p:sp>
      <p:sp>
        <p:nvSpPr>
          <p:cNvPr id="612" name="Google Shape;612;g3c0c338455d_2_124"/>
          <p:cNvSpPr txBox="1"/>
          <p:nvPr/>
        </p:nvSpPr>
        <p:spPr>
          <a:xfrm>
            <a:off x="8778240" y="632764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.651</a:t>
            </a:r>
            <a:endParaRPr/>
          </a:p>
        </p:txBody>
      </p:sp>
      <p:sp>
        <p:nvSpPr>
          <p:cNvPr id="613" name="Google Shape;613;g3c0c338455d_2_124"/>
          <p:cNvSpPr txBox="1"/>
          <p:nvPr/>
        </p:nvSpPr>
        <p:spPr>
          <a:xfrm>
            <a:off x="9784080" y="632764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.650</a:t>
            </a:r>
            <a:endParaRPr/>
          </a:p>
        </p:txBody>
      </p:sp>
      <p:sp>
        <p:nvSpPr>
          <p:cNvPr id="614" name="Google Shape;614;g3c0c338455d_2_124"/>
          <p:cNvSpPr txBox="1"/>
          <p:nvPr/>
        </p:nvSpPr>
        <p:spPr>
          <a:xfrm>
            <a:off x="10789920" y="632764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.716 ✗</a:t>
            </a:r>
            <a:endParaRPr/>
          </a:p>
        </p:txBody>
      </p:sp>
      <p:sp>
        <p:nvSpPr>
          <p:cNvPr id="615" name="Google Shape;615;g3c0c338455d_2_124"/>
          <p:cNvSpPr txBox="1"/>
          <p:nvPr/>
        </p:nvSpPr>
        <p:spPr>
          <a:xfrm>
            <a:off x="7772400" y="660196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33/33/34</a:t>
            </a:r>
            <a:endParaRPr/>
          </a:p>
        </p:txBody>
      </p:sp>
      <p:sp>
        <p:nvSpPr>
          <p:cNvPr id="616" name="Google Shape;616;g3c0c338455d_2_124"/>
          <p:cNvSpPr txBox="1"/>
          <p:nvPr/>
        </p:nvSpPr>
        <p:spPr>
          <a:xfrm>
            <a:off x="8778240" y="660196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.559</a:t>
            </a:r>
            <a:endParaRPr/>
          </a:p>
        </p:txBody>
      </p:sp>
      <p:sp>
        <p:nvSpPr>
          <p:cNvPr id="617" name="Google Shape;617;g3c0c338455d_2_124"/>
          <p:cNvSpPr txBox="1"/>
          <p:nvPr/>
        </p:nvSpPr>
        <p:spPr>
          <a:xfrm>
            <a:off x="9784080" y="660196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.769 ✗</a:t>
            </a:r>
            <a:endParaRPr/>
          </a:p>
        </p:txBody>
      </p:sp>
      <p:sp>
        <p:nvSpPr>
          <p:cNvPr id="618" name="Google Shape;618;g3c0c338455d_2_124"/>
          <p:cNvSpPr txBox="1"/>
          <p:nvPr/>
        </p:nvSpPr>
        <p:spPr>
          <a:xfrm>
            <a:off x="10789920" y="660196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.775 ✗</a:t>
            </a:r>
            <a:endParaRPr/>
          </a:p>
        </p:txBody>
      </p:sp>
      <p:sp>
        <p:nvSpPr>
          <p:cNvPr id="619" name="Google Shape;619;g3c0c338455d_2_124"/>
          <p:cNvSpPr/>
          <p:nvPr/>
        </p:nvSpPr>
        <p:spPr>
          <a:xfrm>
            <a:off x="548640" y="6309360"/>
            <a:ext cx="11155800" cy="411600"/>
          </a:xfrm>
          <a:prstGeom prst="rect">
            <a:avLst/>
          </a:prstGeom>
          <a:solidFill>
            <a:srgbClr val="DCFCE7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c0c338455d_2_124"/>
          <p:cNvSpPr txBox="1"/>
          <p:nvPr/>
        </p:nvSpPr>
        <p:spPr>
          <a:xfrm>
            <a:off x="731520" y="6336792"/>
            <a:ext cx="107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Malgun Gothic"/>
                <a:ea typeface="Malgun Gothic"/>
                <a:cs typeface="Malgun Gothic"/>
                <a:sym typeface="Malgun Gothic"/>
              </a:rPr>
              <a:t>60/25/15는 10개 시나리오 모두에서 기대 방향 + 합리적 범위를 만족하는 유일한 조합입니다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c0c338455d_2_0"/>
          <p:cNvSpPr/>
          <p:nvPr/>
        </p:nvSpPr>
        <p:spPr>
          <a:xfrm>
            <a:off x="7138640" y="1985770"/>
            <a:ext cx="4626000" cy="2880300"/>
          </a:xfrm>
          <a:prstGeom prst="roundRect">
            <a:avLst>
              <a:gd fmla="val 10198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c0c338455d_2_0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627" name="Google Shape;627;g3c0c338455d_2_0"/>
          <p:cNvSpPr txBox="1"/>
          <p:nvPr/>
        </p:nvSpPr>
        <p:spPr>
          <a:xfrm>
            <a:off x="955422" y="778967"/>
            <a:ext cx="984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rtl="0" algn="ctr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Confidence</a:t>
            </a:r>
            <a:r>
              <a:rPr lang="en-US" sz="2200">
                <a:solidFill>
                  <a:schemeClr val="dk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보정 공식 가중치 설계 근거</a:t>
            </a:r>
            <a:endParaRPr sz="2200">
              <a:solidFill>
                <a:schemeClr val="dk2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id="628" name="Google Shape;628;g3c0c338455d_2_0"/>
          <p:cNvPicPr preferRelativeResize="0"/>
          <p:nvPr/>
        </p:nvPicPr>
        <p:blipFill rotWithShape="1">
          <a:blip r:embed="rId4">
            <a:alphaModFix/>
          </a:blip>
          <a:srcRect b="0" l="0" r="0" t="5159"/>
          <a:stretch/>
        </p:blipFill>
        <p:spPr>
          <a:xfrm>
            <a:off x="368138" y="2021398"/>
            <a:ext cx="6581775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3c0c338455d_2_0"/>
          <p:cNvSpPr txBox="1"/>
          <p:nvPr/>
        </p:nvSpPr>
        <p:spPr>
          <a:xfrm>
            <a:off x="7435238" y="2275515"/>
            <a:ext cx="19377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714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최종</a:t>
            </a:r>
            <a:r>
              <a:rPr b="1" lang="en-US" sz="1714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 Confidence</a:t>
            </a:r>
            <a:r>
              <a:rPr b="1" lang="en-US" sz="171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endParaRPr b="1" i="0" sz="1714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g3c0c338455d_2_0"/>
          <p:cNvSpPr txBox="1"/>
          <p:nvPr/>
        </p:nvSpPr>
        <p:spPr>
          <a:xfrm>
            <a:off x="9219070" y="2275515"/>
            <a:ext cx="2685900" cy="27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59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None/>
            </a:pPr>
            <a:r>
              <a:rPr lang="en-US" sz="1714">
                <a:solidFill>
                  <a:srgbClr val="2D58B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 LLM 판단값 × 0.6 </a:t>
            </a:r>
            <a:endParaRPr sz="1714">
              <a:solidFill>
                <a:srgbClr val="2D58B8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559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None/>
            </a:pPr>
            <a:r>
              <a:rPr lang="en-US" sz="1714">
                <a:solidFill>
                  <a:srgbClr val="2D58B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+ RAG 검색 품질 × 0.25</a:t>
            </a:r>
            <a:endParaRPr sz="1714">
              <a:solidFill>
                <a:srgbClr val="2D58B8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559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None/>
            </a:pPr>
            <a:r>
              <a:rPr lang="en-US" sz="1714">
                <a:solidFill>
                  <a:srgbClr val="2D58B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+ 규정 커버리지 × 0.15 </a:t>
            </a:r>
            <a:endParaRPr sz="1714">
              <a:solidFill>
                <a:srgbClr val="2D58B8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559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14">
                <a:solidFill>
                  <a:srgbClr val="CC4125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en-US" sz="1714">
                <a:solidFill>
                  <a:srgbClr val="CC4125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충돌 감점 </a:t>
            </a:r>
            <a:endParaRPr sz="1714">
              <a:solidFill>
                <a:srgbClr val="CC4125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559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None/>
            </a:pPr>
            <a:r>
              <a:rPr lang="en-US" sz="1714">
                <a:solidFill>
                  <a:srgbClr val="CC4125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- 환각 감점 </a:t>
            </a:r>
            <a:endParaRPr sz="1714">
              <a:solidFill>
                <a:srgbClr val="CC4125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559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None/>
            </a:pPr>
            <a:r>
              <a:rPr lang="en-US" sz="1714">
                <a:solidFill>
                  <a:srgbClr val="CC4125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- 조항 미존재 감점 </a:t>
            </a:r>
            <a:endParaRPr sz="1714">
              <a:solidFill>
                <a:srgbClr val="CC4125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299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714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31" name="Google Shape;631;g3c0c338455d_2_0"/>
          <p:cNvSpPr txBox="1"/>
          <p:nvPr/>
        </p:nvSpPr>
        <p:spPr>
          <a:xfrm>
            <a:off x="1095310" y="1383004"/>
            <a:ext cx="100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LLM의 판단은 주된 신호이지만, 단독으로 신뢰해서는 안 된다</a:t>
            </a:r>
            <a:endParaRPr b="1" i="0" sz="18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g3c0c338455d_2_0"/>
          <p:cNvSpPr/>
          <p:nvPr/>
        </p:nvSpPr>
        <p:spPr>
          <a:xfrm>
            <a:off x="456875" y="3715950"/>
            <a:ext cx="6373500" cy="115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c0c338455d_2_0"/>
          <p:cNvSpPr/>
          <p:nvPr/>
        </p:nvSpPr>
        <p:spPr>
          <a:xfrm>
            <a:off x="632475" y="3568425"/>
            <a:ext cx="3099300" cy="590700"/>
          </a:xfrm>
          <a:prstGeom prst="roundRect">
            <a:avLst>
              <a:gd fmla="val 16667" name="adj"/>
            </a:avLst>
          </a:prstGeom>
          <a:solidFill>
            <a:srgbClr val="EAB30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c0c338455d_2_0"/>
          <p:cNvSpPr txBox="1"/>
          <p:nvPr/>
        </p:nvSpPr>
        <p:spPr>
          <a:xfrm>
            <a:off x="735258" y="3686785"/>
            <a:ext cx="3939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b="1"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1차 정보원</a:t>
            </a:r>
            <a:r>
              <a:rPr lang="en-US" sz="17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: LLM </a:t>
            </a:r>
            <a:r>
              <a:rPr lang="en-US" sz="17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판단</a:t>
            </a:r>
            <a:r>
              <a:rPr lang="en-US" sz="17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(60%)</a:t>
            </a:r>
            <a:endParaRPr i="0" sz="1300" u="none" cap="none" strike="noStrik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"/>
          <p:cNvSpPr/>
          <p:nvPr/>
        </p:nvSpPr>
        <p:spPr>
          <a:xfrm>
            <a:off x="1304825" y="2800281"/>
            <a:ext cx="9525000" cy="632700"/>
          </a:xfrm>
          <a:prstGeom prst="roundRect">
            <a:avLst>
              <a:gd fmla="val 7561" name="adj"/>
            </a:avLst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6"/>
          <p:cNvSpPr txBox="1"/>
          <p:nvPr/>
        </p:nvSpPr>
        <p:spPr>
          <a:xfrm>
            <a:off x="1904925" y="2984177"/>
            <a:ext cx="87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1: 키워드 </a:t>
            </a:r>
            <a:r>
              <a:rPr lang="en-US" sz="135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</a:t>
            </a: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Cross-Check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LLM이 "제8조" 등을 인용했을 때, RAG 검색 결과 텍스트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내에  해당 단어가 존재하는지 대조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41" name="Google Shape;641;p6"/>
          <p:cNvSpPr/>
          <p:nvPr/>
        </p:nvSpPr>
        <p:spPr>
          <a:xfrm>
            <a:off x="1304825" y="3558359"/>
            <a:ext cx="9525000" cy="632700"/>
          </a:xfrm>
          <a:prstGeom prst="roundRect">
            <a:avLst>
              <a:gd fmla="val 7561" name="adj"/>
            </a:avLst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6"/>
          <p:cNvSpPr txBox="1"/>
          <p:nvPr/>
        </p:nvSpPr>
        <p:spPr>
          <a:xfrm>
            <a:off x="1876313" y="3770767"/>
            <a:ext cx="87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2: 조항 존재 검증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RAG 검색으로 가져온 문서 내에서 LLM이 인용한 조항이 실제 존재하는지 텍스트 대조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43" name="Google Shape;643;p6"/>
          <p:cNvSpPr/>
          <p:nvPr/>
        </p:nvSpPr>
        <p:spPr>
          <a:xfrm>
            <a:off x="1304825" y="4316434"/>
            <a:ext cx="9525000" cy="632700"/>
          </a:xfrm>
          <a:prstGeom prst="roundRect">
            <a:avLst>
              <a:gd fmla="val 7561" name="adj"/>
            </a:avLst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6"/>
          <p:cNvSpPr txBox="1"/>
          <p:nvPr/>
        </p:nvSpPr>
        <p:spPr>
          <a:xfrm>
            <a:off x="1876326" y="4550476"/>
            <a:ext cx="9151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3: 카테고리 제한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판단 결과가 미리 정의된 4가지 (yes / no / conditional / no_regulation) 범주를 벗어나면 자동 Reject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45" name="Google Shape;645;p6"/>
          <p:cNvSpPr/>
          <p:nvPr/>
        </p:nvSpPr>
        <p:spPr>
          <a:xfrm>
            <a:off x="1333500" y="5074508"/>
            <a:ext cx="9525000" cy="632700"/>
          </a:xfrm>
          <a:prstGeom prst="roundRect">
            <a:avLst>
              <a:gd fmla="val 7561" name="adj"/>
            </a:avLst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6"/>
          <p:cNvSpPr txBox="1"/>
          <p:nvPr/>
        </p:nvSpPr>
        <p:spPr>
          <a:xfrm>
            <a:off x="1886554" y="5323048"/>
            <a:ext cx="87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4: Confidence 보정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</a:t>
            </a:r>
            <a:r>
              <a:rPr i="0" lang="en-US" sz="1350" u="none" cap="none" strike="noStrike">
                <a:solidFill>
                  <a:srgbClr val="2563E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LLM(60%) + RAG 검색점수(25%) + 커버리지(15%)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가중 합산 및 환각 감점 처리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647" name="Google Shape;6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1075" y="29834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8" name="Google Shape;6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463" y="3748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9" name="Google Shape;6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6750" y="45408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0" name="Google Shape;65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7063" y="5301139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6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652" name="Google Shape;652;p6"/>
          <p:cNvSpPr txBox="1"/>
          <p:nvPr/>
        </p:nvSpPr>
        <p:spPr>
          <a:xfrm>
            <a:off x="1072903" y="1263580"/>
            <a:ext cx="984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Hybrid Search (BM25 + Qdrant Vector) RRF 랭킹 합산 Top K 추출</a:t>
            </a:r>
            <a:endParaRPr sz="2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53" name="Google Shape;653;p6"/>
          <p:cNvSpPr txBox="1"/>
          <p:nvPr/>
        </p:nvSpPr>
        <p:spPr>
          <a:xfrm>
            <a:off x="1095310" y="2176006"/>
            <a:ext cx="100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환각 방지 시스템</a:t>
            </a:r>
            <a:endParaRPr b="1" i="0" sz="18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8" name="Google Shape;658;g3c0c338455d_9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94703"/>
            <a:ext cx="5095875" cy="4297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9" name="Google Shape;659;g3c0c338455d_9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525" y="2425164"/>
            <a:ext cx="4314825" cy="64383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3c0c338455d_9_0"/>
          <p:cNvSpPr txBox="1"/>
          <p:nvPr/>
        </p:nvSpPr>
        <p:spPr>
          <a:xfrm>
            <a:off x="1235351" y="1999043"/>
            <a:ext cx="326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i="0" lang="en-US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일정 관리 (Schedule Agent)</a:t>
            </a:r>
            <a:endParaRPr i="0" sz="14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661" name="Google Shape;661;g3c0c338455d_9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201380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3c0c338455d_9_0"/>
          <p:cNvSpPr txBox="1"/>
          <p:nvPr/>
        </p:nvSpPr>
        <p:spPr>
          <a:xfrm>
            <a:off x="2167001" y="2666600"/>
            <a:ext cx="192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"내일 오후 3시 팀 회의 잡아줘"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663" name="Google Shape;663;g3c0c338455d_9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750" y="3449994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4" name="Google Shape;664;g3c0c338455d_9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76475" y="344999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5" name="Google Shape;665;g3c0c338455d_9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33725" y="344999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6" name="Google Shape;666;g3c0c338455d_9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29075" y="344999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7" name="Google Shape;667;g3c0c338455d_9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86325" y="344999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g3c0c338455d_9_0"/>
          <p:cNvSpPr txBox="1"/>
          <p:nvPr/>
        </p:nvSpPr>
        <p:spPr>
          <a:xfrm>
            <a:off x="1285875" y="4096741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c0c338455d_9_0"/>
          <p:cNvSpPr txBox="1"/>
          <p:nvPr/>
        </p:nvSpPr>
        <p:spPr>
          <a:xfrm>
            <a:off x="1343025" y="4097694"/>
            <a:ext cx="41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Google Calendar 일정 등록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g3c0c338455d_9_0"/>
          <p:cNvSpPr txBox="1"/>
          <p:nvPr/>
        </p:nvSpPr>
        <p:spPr>
          <a:xfrm>
            <a:off x="1285875" y="437103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c0c338455d_9_0"/>
          <p:cNvSpPr txBox="1"/>
          <p:nvPr/>
        </p:nvSpPr>
        <p:spPr>
          <a:xfrm>
            <a:off x="1343025" y="4371984"/>
            <a:ext cx="41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Meet 화상회의 링크 자동 생성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g3c0c338455d_9_0"/>
          <p:cNvSpPr txBox="1"/>
          <p:nvPr/>
        </p:nvSpPr>
        <p:spPr>
          <a:xfrm>
            <a:off x="1285875" y="464532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3c0c338455d_9_0"/>
          <p:cNvSpPr txBox="1"/>
          <p:nvPr/>
        </p:nvSpPr>
        <p:spPr>
          <a:xfrm>
            <a:off x="1343025" y="4646274"/>
            <a:ext cx="41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참석자에게 초대 메일 (Gmail) 발송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g3c0c338455d_9_0"/>
          <p:cNvSpPr/>
          <p:nvPr/>
        </p:nvSpPr>
        <p:spPr>
          <a:xfrm>
            <a:off x="1133138" y="5193889"/>
            <a:ext cx="4353600" cy="415500"/>
          </a:xfrm>
          <a:prstGeom prst="rect">
            <a:avLst/>
          </a:prstGeom>
          <a:solidFill>
            <a:srgbClr val="E3EB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Google 서비스 API 통합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75" name="Google Shape;675;g3c0c338455d_9_0"/>
          <p:cNvGrpSpPr/>
          <p:nvPr/>
        </p:nvGrpSpPr>
        <p:grpSpPr>
          <a:xfrm>
            <a:off x="834475" y="409800"/>
            <a:ext cx="5662992" cy="415500"/>
            <a:chOff x="762000" y="571500"/>
            <a:chExt cx="5662992" cy="415500"/>
          </a:xfrm>
        </p:grpSpPr>
        <p:sp>
          <p:nvSpPr>
            <p:cNvPr id="676" name="Google Shape;676;g3c0c338455d_9_0"/>
            <p:cNvSpPr txBox="1"/>
            <p:nvPr/>
          </p:nvSpPr>
          <p:spPr>
            <a:xfrm>
              <a:off x="2203992" y="625340"/>
              <a:ext cx="4221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Schedule</a:t>
              </a:r>
              <a:endParaRPr i="0" sz="7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677" name="Google Shape;677;g3c0c338455d_9_0"/>
            <p:cNvSpPr txBox="1"/>
            <p:nvPr/>
          </p:nvSpPr>
          <p:spPr>
            <a:xfrm>
              <a:off x="762000" y="571500"/>
              <a:ext cx="2500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일정 관리</a:t>
              </a:r>
              <a:endParaRPr i="0" sz="14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sp>
        <p:nvSpPr>
          <p:cNvPr id="678" name="Google Shape;678;g3c0c338455d_9_0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679" name="Google Shape;679;g3c0c338455d_9_0" title="일정추가 + 메일 확인.gif"/>
          <p:cNvSpPr/>
          <p:nvPr/>
        </p:nvSpPr>
        <p:spPr>
          <a:xfrm>
            <a:off x="2662150" y="813505"/>
            <a:ext cx="9164807" cy="585982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4" name="Google Shape;684;g3c0c338455d_9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94703"/>
            <a:ext cx="5095875" cy="4297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5" name="Google Shape;685;g3c0c338455d_9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525" y="2425164"/>
            <a:ext cx="4314825" cy="64383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g3c0c338455d_9_27"/>
          <p:cNvSpPr txBox="1"/>
          <p:nvPr/>
        </p:nvSpPr>
        <p:spPr>
          <a:xfrm>
            <a:off x="1235351" y="1999043"/>
            <a:ext cx="326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i="0" lang="en-US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일정 관리 (Schedule Agent)</a:t>
            </a:r>
            <a:endParaRPr i="0" sz="14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687" name="Google Shape;687;g3c0c338455d_9_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201380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g3c0c338455d_9_27"/>
          <p:cNvSpPr txBox="1"/>
          <p:nvPr/>
        </p:nvSpPr>
        <p:spPr>
          <a:xfrm>
            <a:off x="2167001" y="2666600"/>
            <a:ext cx="192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"내일 오후 3시 팀 회의 잡아줘"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689" name="Google Shape;689;g3c0c338455d_9_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750" y="3449994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0" name="Google Shape;690;g3c0c338455d_9_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76475" y="344999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1" name="Google Shape;691;g3c0c338455d_9_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33725" y="344999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2" name="Google Shape;692;g3c0c338455d_9_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29075" y="344999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3" name="Google Shape;693;g3c0c338455d_9_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86325" y="344999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c0c338455d_9_27"/>
          <p:cNvSpPr txBox="1"/>
          <p:nvPr/>
        </p:nvSpPr>
        <p:spPr>
          <a:xfrm>
            <a:off x="1285875" y="4096741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c0c338455d_9_27"/>
          <p:cNvSpPr txBox="1"/>
          <p:nvPr/>
        </p:nvSpPr>
        <p:spPr>
          <a:xfrm>
            <a:off x="1343025" y="4097694"/>
            <a:ext cx="41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Google Calendar 일정 등록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g3c0c338455d_9_27"/>
          <p:cNvSpPr txBox="1"/>
          <p:nvPr/>
        </p:nvSpPr>
        <p:spPr>
          <a:xfrm>
            <a:off x="1285875" y="437103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c0c338455d_9_27"/>
          <p:cNvSpPr txBox="1"/>
          <p:nvPr/>
        </p:nvSpPr>
        <p:spPr>
          <a:xfrm>
            <a:off x="1343025" y="4371984"/>
            <a:ext cx="41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Meet 화상회의 링크 자동 생성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g3c0c338455d_9_27"/>
          <p:cNvSpPr txBox="1"/>
          <p:nvPr/>
        </p:nvSpPr>
        <p:spPr>
          <a:xfrm>
            <a:off x="1285875" y="464532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c0c338455d_9_27"/>
          <p:cNvSpPr txBox="1"/>
          <p:nvPr/>
        </p:nvSpPr>
        <p:spPr>
          <a:xfrm>
            <a:off x="1343025" y="4646274"/>
            <a:ext cx="41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참석자에게 초대 메일 (Gmail) 발송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g3c0c338455d_9_27"/>
          <p:cNvSpPr/>
          <p:nvPr/>
        </p:nvSpPr>
        <p:spPr>
          <a:xfrm>
            <a:off x="1133138" y="5193889"/>
            <a:ext cx="4353600" cy="415500"/>
          </a:xfrm>
          <a:prstGeom prst="rect">
            <a:avLst/>
          </a:prstGeom>
          <a:solidFill>
            <a:srgbClr val="E3EB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Google 서비스 API 통합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01" name="Google Shape;701;g3c0c338455d_9_27"/>
          <p:cNvGrpSpPr/>
          <p:nvPr/>
        </p:nvGrpSpPr>
        <p:grpSpPr>
          <a:xfrm>
            <a:off x="834475" y="409800"/>
            <a:ext cx="5662992" cy="415500"/>
            <a:chOff x="762000" y="571500"/>
            <a:chExt cx="5662992" cy="415500"/>
          </a:xfrm>
        </p:grpSpPr>
        <p:sp>
          <p:nvSpPr>
            <p:cNvPr id="702" name="Google Shape;702;g3c0c338455d_9_27"/>
            <p:cNvSpPr txBox="1"/>
            <p:nvPr/>
          </p:nvSpPr>
          <p:spPr>
            <a:xfrm>
              <a:off x="2203992" y="625340"/>
              <a:ext cx="4221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Schedule</a:t>
              </a:r>
              <a:endParaRPr i="0" sz="7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703" name="Google Shape;703;g3c0c338455d_9_27"/>
            <p:cNvSpPr txBox="1"/>
            <p:nvPr/>
          </p:nvSpPr>
          <p:spPr>
            <a:xfrm>
              <a:off x="762000" y="571500"/>
              <a:ext cx="2500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일정 관리</a:t>
              </a:r>
              <a:endParaRPr i="0" sz="14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sp>
        <p:nvSpPr>
          <p:cNvPr id="704" name="Google Shape;704;g3c0c338455d_9_27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pic>
        <p:nvPicPr>
          <p:cNvPr id="705" name="Google Shape;705;g3c0c338455d_9_27" title="일정추가+메일확인.mov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34500" y="980325"/>
            <a:ext cx="8815974" cy="563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g3c0c338455d_3_219" title="답변-removebg-preview (5).png"/>
          <p:cNvPicPr preferRelativeResize="0"/>
          <p:nvPr/>
        </p:nvPicPr>
        <p:blipFill rotWithShape="1">
          <a:blip r:embed="rId3">
            <a:alphaModFix/>
          </a:blip>
          <a:srcRect b="41469" l="0" r="0" t="0"/>
          <a:stretch/>
        </p:blipFill>
        <p:spPr>
          <a:xfrm>
            <a:off x="946851" y="2935574"/>
            <a:ext cx="2022650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g3c0c338455d_3_219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c0c338455d_3_219"/>
          <p:cNvSpPr txBox="1"/>
          <p:nvPr/>
        </p:nvSpPr>
        <p:spPr>
          <a:xfrm>
            <a:off x="914400" y="365760"/>
            <a:ext cx="7315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2A40"/>
                </a:solidFill>
                <a:latin typeface="Roboto Black"/>
                <a:ea typeface="Roboto Black"/>
                <a:cs typeface="Roboto Black"/>
                <a:sym typeface="Roboto Black"/>
              </a:rPr>
              <a:t>Schedule Agent 연쇄 동작 플로우</a:t>
            </a:r>
            <a:endParaRPr/>
          </a:p>
        </p:txBody>
      </p:sp>
      <p:sp>
        <p:nvSpPr>
          <p:cNvPr id="713" name="Google Shape;713;g3c0c338455d_3_219"/>
          <p:cNvSpPr txBox="1"/>
          <p:nvPr/>
        </p:nvSpPr>
        <p:spPr>
          <a:xfrm>
            <a:off x="914400" y="1696713"/>
            <a:ext cx="548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"내일 3시 팀 회의 잡아줘"</a:t>
            </a:r>
            <a:endParaRPr/>
          </a:p>
        </p:txBody>
      </p:sp>
      <p:sp>
        <p:nvSpPr>
          <p:cNvPr id="714" name="Google Shape;714;g3c0c338455d_3_219"/>
          <p:cNvSpPr/>
          <p:nvPr/>
        </p:nvSpPr>
        <p:spPr>
          <a:xfrm>
            <a:off x="1003865" y="2879720"/>
            <a:ext cx="1828800" cy="14172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g3c0c338455d_3_219"/>
          <p:cNvSpPr/>
          <p:nvPr/>
        </p:nvSpPr>
        <p:spPr>
          <a:xfrm>
            <a:off x="1077017" y="2952872"/>
            <a:ext cx="320100" cy="228600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716" name="Google Shape;716;g3c0c338455d_3_219"/>
          <p:cNvSpPr txBox="1"/>
          <p:nvPr/>
        </p:nvSpPr>
        <p:spPr>
          <a:xfrm>
            <a:off x="1077017" y="3227192"/>
            <a:ext cx="1682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Schedule Agent</a:t>
            </a:r>
            <a:endParaRPr/>
          </a:p>
        </p:txBody>
      </p:sp>
      <p:sp>
        <p:nvSpPr>
          <p:cNvPr id="717" name="Google Shape;717;g3c0c338455d_3_219"/>
          <p:cNvSpPr txBox="1"/>
          <p:nvPr/>
        </p:nvSpPr>
        <p:spPr>
          <a:xfrm>
            <a:off x="1077017" y="3410072"/>
            <a:ext cx="168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자연어 파싱</a:t>
            </a:r>
            <a:endParaRPr/>
          </a:p>
        </p:txBody>
      </p:sp>
      <p:sp>
        <p:nvSpPr>
          <p:cNvPr id="718" name="Google Shape;718;g3c0c338455d_3_219"/>
          <p:cNvSpPr txBox="1"/>
          <p:nvPr/>
        </p:nvSpPr>
        <p:spPr>
          <a:xfrm>
            <a:off x="1077017" y="3656960"/>
            <a:ext cx="168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날짜/시간/참석자 추출</a:t>
            </a:r>
            <a:b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NLP 기반 엔티티 인식</a:t>
            </a:r>
            <a:endParaRPr/>
          </a:p>
        </p:txBody>
      </p:sp>
      <p:sp>
        <p:nvSpPr>
          <p:cNvPr id="719" name="Google Shape;719;g3c0c338455d_3_219"/>
          <p:cNvSpPr txBox="1"/>
          <p:nvPr/>
        </p:nvSpPr>
        <p:spPr>
          <a:xfrm>
            <a:off x="2878385" y="3336919"/>
            <a:ext cx="228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/>
          </a:p>
        </p:txBody>
      </p:sp>
      <p:sp>
        <p:nvSpPr>
          <p:cNvPr id="720" name="Google Shape;720;g3c0c338455d_3_219"/>
          <p:cNvSpPr/>
          <p:nvPr/>
        </p:nvSpPr>
        <p:spPr>
          <a:xfrm>
            <a:off x="3106985" y="2879720"/>
            <a:ext cx="1828800" cy="14172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2700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c0c338455d_3_219"/>
          <p:cNvSpPr/>
          <p:nvPr/>
        </p:nvSpPr>
        <p:spPr>
          <a:xfrm>
            <a:off x="3180137" y="2952872"/>
            <a:ext cx="320100" cy="228600"/>
          </a:xfrm>
          <a:prstGeom prst="roundRect">
            <a:avLst>
              <a:gd fmla="val 16667" name="adj"/>
            </a:avLst>
          </a:prstGeom>
          <a:solidFill>
            <a:srgbClr val="0F9D5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722" name="Google Shape;722;g3c0c338455d_3_219"/>
          <p:cNvSpPr txBox="1"/>
          <p:nvPr/>
        </p:nvSpPr>
        <p:spPr>
          <a:xfrm>
            <a:off x="3180137" y="3227192"/>
            <a:ext cx="1682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9D58"/>
                </a:solidFill>
                <a:latin typeface="Roboto"/>
                <a:ea typeface="Roboto"/>
                <a:cs typeface="Roboto"/>
                <a:sym typeface="Roboto"/>
              </a:rPr>
              <a:t>Google Calendar</a:t>
            </a:r>
            <a:endParaRPr/>
          </a:p>
        </p:txBody>
      </p:sp>
      <p:sp>
        <p:nvSpPr>
          <p:cNvPr id="723" name="Google Shape;723;g3c0c338455d_3_219"/>
          <p:cNvSpPr txBox="1"/>
          <p:nvPr/>
        </p:nvSpPr>
        <p:spPr>
          <a:xfrm>
            <a:off x="3180137" y="3410072"/>
            <a:ext cx="168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Calendar 등록</a:t>
            </a:r>
            <a:endParaRPr/>
          </a:p>
        </p:txBody>
      </p:sp>
      <p:sp>
        <p:nvSpPr>
          <p:cNvPr id="724" name="Google Shape;724;g3c0c338455d_3_219"/>
          <p:cNvSpPr txBox="1"/>
          <p:nvPr/>
        </p:nvSpPr>
        <p:spPr>
          <a:xfrm>
            <a:off x="3180137" y="3656960"/>
            <a:ext cx="168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일정 자동 생성</a:t>
            </a:r>
            <a:b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recurrence 지원</a:t>
            </a:r>
            <a:endParaRPr/>
          </a:p>
        </p:txBody>
      </p:sp>
      <p:sp>
        <p:nvSpPr>
          <p:cNvPr id="725" name="Google Shape;725;g3c0c338455d_3_219"/>
          <p:cNvSpPr txBox="1"/>
          <p:nvPr/>
        </p:nvSpPr>
        <p:spPr>
          <a:xfrm>
            <a:off x="4981505" y="3336919"/>
            <a:ext cx="228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/>
          </a:p>
        </p:txBody>
      </p:sp>
      <p:sp>
        <p:nvSpPr>
          <p:cNvPr id="726" name="Google Shape;726;g3c0c338455d_3_219"/>
          <p:cNvSpPr/>
          <p:nvPr/>
        </p:nvSpPr>
        <p:spPr>
          <a:xfrm>
            <a:off x="5210104" y="2879720"/>
            <a:ext cx="1828800" cy="14172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c0c338455d_3_219"/>
          <p:cNvSpPr/>
          <p:nvPr/>
        </p:nvSpPr>
        <p:spPr>
          <a:xfrm>
            <a:off x="5283256" y="2952872"/>
            <a:ext cx="320100" cy="228600"/>
          </a:xfrm>
          <a:prstGeom prst="roundRect">
            <a:avLst>
              <a:gd fmla="val 16667" name="adj"/>
            </a:avLst>
          </a:prstGeom>
          <a:solidFill>
            <a:srgbClr val="00796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728" name="Google Shape;728;g3c0c338455d_3_219"/>
          <p:cNvSpPr txBox="1"/>
          <p:nvPr/>
        </p:nvSpPr>
        <p:spPr>
          <a:xfrm>
            <a:off x="5283256" y="3227192"/>
            <a:ext cx="1682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796B"/>
                </a:solidFill>
                <a:latin typeface="Roboto"/>
                <a:ea typeface="Roboto"/>
                <a:cs typeface="Roboto"/>
                <a:sym typeface="Roboto"/>
              </a:rPr>
              <a:t>Google Meet</a:t>
            </a:r>
            <a:endParaRPr/>
          </a:p>
        </p:txBody>
      </p:sp>
      <p:sp>
        <p:nvSpPr>
          <p:cNvPr id="729" name="Google Shape;729;g3c0c338455d_3_219"/>
          <p:cNvSpPr txBox="1"/>
          <p:nvPr/>
        </p:nvSpPr>
        <p:spPr>
          <a:xfrm>
            <a:off x="5283256" y="3410072"/>
            <a:ext cx="168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Meet 링크 생성</a:t>
            </a:r>
            <a:endParaRPr/>
          </a:p>
        </p:txBody>
      </p:sp>
      <p:sp>
        <p:nvSpPr>
          <p:cNvPr id="730" name="Google Shape;730;g3c0c338455d_3_219"/>
          <p:cNvSpPr txBox="1"/>
          <p:nvPr/>
        </p:nvSpPr>
        <p:spPr>
          <a:xfrm>
            <a:off x="5283256" y="3656960"/>
            <a:ext cx="168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화상회의 URL </a:t>
            </a: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</a:t>
            </a: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생성</a:t>
            </a:r>
            <a:b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Calendar 이벤트에 첨부</a:t>
            </a:r>
            <a:endParaRPr/>
          </a:p>
        </p:txBody>
      </p:sp>
      <p:sp>
        <p:nvSpPr>
          <p:cNvPr id="731" name="Google Shape;731;g3c0c338455d_3_219"/>
          <p:cNvSpPr txBox="1"/>
          <p:nvPr/>
        </p:nvSpPr>
        <p:spPr>
          <a:xfrm>
            <a:off x="7084624" y="3336919"/>
            <a:ext cx="228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/>
          </a:p>
        </p:txBody>
      </p:sp>
      <p:sp>
        <p:nvSpPr>
          <p:cNvPr id="732" name="Google Shape;732;g3c0c338455d_3_219"/>
          <p:cNvSpPr/>
          <p:nvPr/>
        </p:nvSpPr>
        <p:spPr>
          <a:xfrm>
            <a:off x="7313224" y="2879720"/>
            <a:ext cx="1828800" cy="14172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2700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c0c338455d_3_219"/>
          <p:cNvSpPr/>
          <p:nvPr/>
        </p:nvSpPr>
        <p:spPr>
          <a:xfrm>
            <a:off x="7386376" y="2952872"/>
            <a:ext cx="320100" cy="228600"/>
          </a:xfrm>
          <a:prstGeom prst="roundRect">
            <a:avLst>
              <a:gd fmla="val 16667" name="adj"/>
            </a:avLst>
          </a:prstGeom>
          <a:solidFill>
            <a:srgbClr val="DB443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734" name="Google Shape;734;g3c0c338455d_3_219"/>
          <p:cNvSpPr txBox="1"/>
          <p:nvPr/>
        </p:nvSpPr>
        <p:spPr>
          <a:xfrm>
            <a:off x="7386376" y="3227192"/>
            <a:ext cx="1682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Gmail API</a:t>
            </a:r>
            <a:endParaRPr/>
          </a:p>
        </p:txBody>
      </p:sp>
      <p:sp>
        <p:nvSpPr>
          <p:cNvPr id="735" name="Google Shape;735;g3c0c338455d_3_219"/>
          <p:cNvSpPr txBox="1"/>
          <p:nvPr/>
        </p:nvSpPr>
        <p:spPr>
          <a:xfrm>
            <a:off x="7386376" y="3410072"/>
            <a:ext cx="168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초대 메일 발송</a:t>
            </a:r>
            <a:endParaRPr/>
          </a:p>
        </p:txBody>
      </p:sp>
      <p:sp>
        <p:nvSpPr>
          <p:cNvPr id="736" name="Google Shape;736;g3c0c338455d_3_219"/>
          <p:cNvSpPr txBox="1"/>
          <p:nvPr/>
        </p:nvSpPr>
        <p:spPr>
          <a:xfrm>
            <a:off x="7386376" y="3656960"/>
            <a:ext cx="168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참석자에게 자동 발송</a:t>
            </a:r>
            <a:b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회의 정보 + Meet 링크 포함</a:t>
            </a:r>
            <a:endParaRPr/>
          </a:p>
        </p:txBody>
      </p:sp>
      <p:sp>
        <p:nvSpPr>
          <p:cNvPr id="737" name="Google Shape;737;g3c0c338455d_3_219"/>
          <p:cNvSpPr txBox="1"/>
          <p:nvPr/>
        </p:nvSpPr>
        <p:spPr>
          <a:xfrm>
            <a:off x="9187745" y="3336919"/>
            <a:ext cx="228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/>
          </a:p>
        </p:txBody>
      </p:sp>
      <p:sp>
        <p:nvSpPr>
          <p:cNvPr id="738" name="Google Shape;738;g3c0c338455d_3_219"/>
          <p:cNvSpPr/>
          <p:nvPr/>
        </p:nvSpPr>
        <p:spPr>
          <a:xfrm>
            <a:off x="9416344" y="2879720"/>
            <a:ext cx="1828800" cy="14172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c0c338455d_3_219"/>
          <p:cNvSpPr/>
          <p:nvPr/>
        </p:nvSpPr>
        <p:spPr>
          <a:xfrm>
            <a:off x="9489497" y="2952872"/>
            <a:ext cx="320100" cy="228600"/>
          </a:xfrm>
          <a:prstGeom prst="roundRect">
            <a:avLst>
              <a:gd fmla="val 16667" name="adj"/>
            </a:avLst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740" name="Google Shape;740;g3c0c338455d_3_219"/>
          <p:cNvSpPr txBox="1"/>
          <p:nvPr/>
        </p:nvSpPr>
        <p:spPr>
          <a:xfrm>
            <a:off x="9489497" y="3227192"/>
            <a:ext cx="1682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4B400"/>
                </a:solidFill>
                <a:latin typeface="Roboto"/>
                <a:ea typeface="Roboto"/>
                <a:cs typeface="Roboto"/>
                <a:sym typeface="Roboto"/>
              </a:rPr>
              <a:t>Google Tasks</a:t>
            </a:r>
            <a:endParaRPr/>
          </a:p>
        </p:txBody>
      </p:sp>
      <p:sp>
        <p:nvSpPr>
          <p:cNvPr id="741" name="Google Shape;741;g3c0c338455d_3_219"/>
          <p:cNvSpPr txBox="1"/>
          <p:nvPr/>
        </p:nvSpPr>
        <p:spPr>
          <a:xfrm>
            <a:off x="9489497" y="3410072"/>
            <a:ext cx="168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일 등록</a:t>
            </a:r>
            <a:endParaRPr/>
          </a:p>
        </p:txBody>
      </p:sp>
      <p:sp>
        <p:nvSpPr>
          <p:cNvPr id="742" name="Google Shape;742;g3c0c338455d_3_219"/>
          <p:cNvSpPr txBox="1"/>
          <p:nvPr/>
        </p:nvSpPr>
        <p:spPr>
          <a:xfrm>
            <a:off x="9489497" y="3656960"/>
            <a:ext cx="168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회의 관련 액션 아이템</a:t>
            </a:r>
            <a:b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rgbClr val="4455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Tasks에 자동 등록</a:t>
            </a:r>
            <a:endParaRPr/>
          </a:p>
        </p:txBody>
      </p:sp>
      <p:sp>
        <p:nvSpPr>
          <p:cNvPr id="743" name="Google Shape;743;g3c0c338455d_3_219"/>
          <p:cNvSpPr txBox="1"/>
          <p:nvPr/>
        </p:nvSpPr>
        <p:spPr>
          <a:xfrm>
            <a:off x="971415" y="5903625"/>
            <a:ext cx="1024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73E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마디 입력 -&gt; 5개 Google 서비스 자동 연쇄 처리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8" name="Google Shape;748;g3c0c338455d_3_109"/>
          <p:cNvGrpSpPr/>
          <p:nvPr/>
        </p:nvGrpSpPr>
        <p:grpSpPr>
          <a:xfrm>
            <a:off x="780965" y="1594703"/>
            <a:ext cx="5095875" cy="4297411"/>
            <a:chOff x="6283550" y="1594703"/>
            <a:chExt cx="5095875" cy="4297411"/>
          </a:xfrm>
        </p:grpSpPr>
        <p:pic>
          <p:nvPicPr>
            <p:cNvPr descr="image.png" id="749" name="Google Shape;749;g3c0c338455d_3_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83550" y="1594703"/>
              <a:ext cx="5095875" cy="42974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0" name="Google Shape;750;g3c0c338455d_3_109"/>
            <p:cNvSpPr txBox="1"/>
            <p:nvPr/>
          </p:nvSpPr>
          <p:spPr>
            <a:xfrm>
              <a:off x="6807476" y="1999043"/>
              <a:ext cx="3264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7145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문서 관리 (Document Agent)</a:t>
              </a:r>
              <a:endParaRPr b="0" i="0" sz="1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pic>
          <p:nvPicPr>
            <p:cNvPr descr="image.png" id="751" name="Google Shape;751;g3c0c338455d_3_10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24650" y="2013803"/>
              <a:ext cx="17145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2" name="Google Shape;752;g3c0c338455d_3_109"/>
            <p:cNvSpPr txBox="1"/>
            <p:nvPr/>
          </p:nvSpPr>
          <p:spPr>
            <a:xfrm>
              <a:off x="6858000" y="3685232"/>
              <a:ext cx="573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3c0c338455d_3_109"/>
            <p:cNvSpPr txBox="1"/>
            <p:nvPr/>
          </p:nvSpPr>
          <p:spPr>
            <a:xfrm>
              <a:off x="6915150" y="3686189"/>
              <a:ext cx="43149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5715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PDF, Docx 문서:</a:t>
              </a:r>
              <a:r>
                <a:rPr b="0" i="0" lang="en-US" sz="135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i="0" lang="en-US" sz="135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Docling, Python 라이브러리</a:t>
              </a:r>
              <a:r>
                <a:rPr b="0" i="0" lang="en-US" sz="13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 활용 파싱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4" name="Google Shape;754;g3c0c338455d_3_109"/>
            <p:cNvSpPr txBox="1"/>
            <p:nvPr/>
          </p:nvSpPr>
          <p:spPr>
            <a:xfrm>
              <a:off x="6858000" y="3955999"/>
              <a:ext cx="573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g3c0c338455d_3_109"/>
            <p:cNvSpPr txBox="1"/>
            <p:nvPr/>
          </p:nvSpPr>
          <p:spPr>
            <a:xfrm>
              <a:off x="6915150" y="3956952"/>
              <a:ext cx="41244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5715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문서 기반 검색, 요약, Q&amp;A 지원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image.png" id="756" name="Google Shape;756;g3c0c338455d_3_10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555706" y="2537876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7" name="Google Shape;757;g3c0c338455d_3_109"/>
            <p:cNvSpPr txBox="1"/>
            <p:nvPr/>
          </p:nvSpPr>
          <p:spPr>
            <a:xfrm>
              <a:off x="6877050" y="2937926"/>
              <a:ext cx="16620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PDF 업로드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.png" id="758" name="Google Shape;758;g3c0c338455d_3_10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834437" y="2708988"/>
              <a:ext cx="9525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759" name="Google Shape;759;g3c0c338455d_3_10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903618" y="2537876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0" name="Google Shape;760;g3c0c338455d_3_109"/>
            <p:cNvSpPr txBox="1"/>
            <p:nvPr/>
          </p:nvSpPr>
          <p:spPr>
            <a:xfrm>
              <a:off x="9224962" y="2937926"/>
              <a:ext cx="16620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자동 파싱/구조화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g3c0c338455d_3_109"/>
            <p:cNvSpPr/>
            <p:nvPr/>
          </p:nvSpPr>
          <p:spPr>
            <a:xfrm>
              <a:off x="6705238" y="5193876"/>
              <a:ext cx="4353600" cy="415500"/>
            </a:xfrm>
            <a:prstGeom prst="rect">
              <a:avLst/>
            </a:prstGeom>
            <a:solidFill>
              <a:srgbClr val="E3EBFA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업로드 즉시 RAG DB 편입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62" name="Google Shape;762;g3c0c338455d_3_109"/>
          <p:cNvSpPr txBox="1"/>
          <p:nvPr/>
        </p:nvSpPr>
        <p:spPr>
          <a:xfrm>
            <a:off x="2276467" y="463640"/>
            <a:ext cx="422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Document</a:t>
            </a:r>
            <a:endParaRPr b="0" i="0" sz="7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63" name="Google Shape;763;g3c0c338455d_3_109"/>
          <p:cNvSpPr txBox="1"/>
          <p:nvPr/>
        </p:nvSpPr>
        <p:spPr>
          <a:xfrm>
            <a:off x="824350" y="409800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문서 관리</a:t>
            </a:r>
            <a:endParaRPr b="0"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64" name="Google Shape;764;g3c0c338455d_3_109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3c0c338455d_3_109"/>
          <p:cNvSpPr/>
          <p:nvPr/>
        </p:nvSpPr>
        <p:spPr>
          <a:xfrm>
            <a:off x="6217920" y="1591056"/>
            <a:ext cx="5029200" cy="42978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3c0c338455d_3_109"/>
          <p:cNvSpPr txBox="1"/>
          <p:nvPr/>
        </p:nvSpPr>
        <p:spPr>
          <a:xfrm>
            <a:off x="6400800" y="1691640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Document Agent 4 Intent 처리</a:t>
            </a:r>
            <a:endParaRPr/>
          </a:p>
        </p:txBody>
      </p:sp>
      <p:sp>
        <p:nvSpPr>
          <p:cNvPr id="767" name="Google Shape;767;g3c0c338455d_3_109"/>
          <p:cNvSpPr/>
          <p:nvPr/>
        </p:nvSpPr>
        <p:spPr>
          <a:xfrm>
            <a:off x="6400800" y="2194560"/>
            <a:ext cx="1371600" cy="274200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doc_search</a:t>
            </a:r>
            <a:endParaRPr/>
          </a:p>
        </p:txBody>
      </p:sp>
      <p:sp>
        <p:nvSpPr>
          <p:cNvPr id="768" name="Google Shape;768;g3c0c338455d_3_109"/>
          <p:cNvSpPr txBox="1"/>
          <p:nvPr/>
        </p:nvSpPr>
        <p:spPr>
          <a:xfrm>
            <a:off x="7818120" y="2176272"/>
            <a:ext cx="27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/>
          </a:p>
        </p:txBody>
      </p:sp>
      <p:sp>
        <p:nvSpPr>
          <p:cNvPr id="769" name="Google Shape;769;g3c0c338455d_3_109"/>
          <p:cNvSpPr txBox="1"/>
          <p:nvPr/>
        </p:nvSpPr>
        <p:spPr>
          <a:xfrm>
            <a:off x="8092440" y="2212848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하이브리드 검색 -&gt; 출처 + 답변</a:t>
            </a:r>
            <a:endParaRPr/>
          </a:p>
        </p:txBody>
      </p:sp>
      <p:sp>
        <p:nvSpPr>
          <p:cNvPr id="770" name="Google Shape;770;g3c0c338455d_3_109"/>
          <p:cNvSpPr/>
          <p:nvPr/>
        </p:nvSpPr>
        <p:spPr>
          <a:xfrm>
            <a:off x="6400800" y="2971800"/>
            <a:ext cx="1371600" cy="274200"/>
          </a:xfrm>
          <a:prstGeom prst="roundRect">
            <a:avLst>
              <a:gd fmla="val 16667" name="adj"/>
            </a:avLst>
          </a:prstGeom>
          <a:solidFill>
            <a:srgbClr val="0F9D5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doc_generate</a:t>
            </a:r>
            <a:endParaRPr/>
          </a:p>
        </p:txBody>
      </p:sp>
      <p:sp>
        <p:nvSpPr>
          <p:cNvPr id="771" name="Google Shape;771;g3c0c338455d_3_109"/>
          <p:cNvSpPr txBox="1"/>
          <p:nvPr/>
        </p:nvSpPr>
        <p:spPr>
          <a:xfrm>
            <a:off x="7818120" y="2953512"/>
            <a:ext cx="27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/>
          </a:p>
        </p:txBody>
      </p:sp>
      <p:sp>
        <p:nvSpPr>
          <p:cNvPr id="772" name="Google Shape;772;g3c0c338455d_3_109"/>
          <p:cNvSpPr txBox="1"/>
          <p:nvPr/>
        </p:nvSpPr>
        <p:spPr>
          <a:xfrm>
            <a:off x="8092440" y="2990088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템플릿 판별 -&gt; LLM JSON -&gt; DOCX 렌더링</a:t>
            </a:r>
            <a:endParaRPr/>
          </a:p>
        </p:txBody>
      </p:sp>
      <p:sp>
        <p:nvSpPr>
          <p:cNvPr id="773" name="Google Shape;773;g3c0c338455d_3_109"/>
          <p:cNvSpPr/>
          <p:nvPr/>
        </p:nvSpPr>
        <p:spPr>
          <a:xfrm>
            <a:off x="6400800" y="3749039"/>
            <a:ext cx="1371600" cy="274200"/>
          </a:xfrm>
          <a:prstGeom prst="roundRect">
            <a:avLst>
              <a:gd fmla="val 16667" name="adj"/>
            </a:avLst>
          </a:prstGeom>
          <a:solidFill>
            <a:srgbClr val="7B1FA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doc_summary</a:t>
            </a:r>
            <a:endParaRPr/>
          </a:p>
        </p:txBody>
      </p:sp>
      <p:sp>
        <p:nvSpPr>
          <p:cNvPr id="774" name="Google Shape;774;g3c0c338455d_3_109"/>
          <p:cNvSpPr txBox="1"/>
          <p:nvPr/>
        </p:nvSpPr>
        <p:spPr>
          <a:xfrm>
            <a:off x="7818120" y="3730752"/>
            <a:ext cx="27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/>
          </a:p>
        </p:txBody>
      </p:sp>
      <p:sp>
        <p:nvSpPr>
          <p:cNvPr id="775" name="Google Shape;775;g3c0c338455d_3_109"/>
          <p:cNvSpPr txBox="1"/>
          <p:nvPr/>
        </p:nvSpPr>
        <p:spPr>
          <a:xfrm>
            <a:off x="8092440" y="3767327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선택 -&gt; LLM 요약 -&gt; SSE 스트리밍</a:t>
            </a:r>
            <a:endParaRPr/>
          </a:p>
        </p:txBody>
      </p:sp>
      <p:sp>
        <p:nvSpPr>
          <p:cNvPr id="776" name="Google Shape;776;g3c0c338455d_3_109"/>
          <p:cNvSpPr/>
          <p:nvPr/>
        </p:nvSpPr>
        <p:spPr>
          <a:xfrm>
            <a:off x="6400800" y="4526279"/>
            <a:ext cx="1371600" cy="274200"/>
          </a:xfrm>
          <a:prstGeom prst="roundRect">
            <a:avLst>
              <a:gd fmla="val 16667" name="adj"/>
            </a:avLst>
          </a:prstGeom>
          <a:solidFill>
            <a:srgbClr val="DB443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doc_qa</a:t>
            </a:r>
            <a:endParaRPr/>
          </a:p>
        </p:txBody>
      </p:sp>
      <p:sp>
        <p:nvSpPr>
          <p:cNvPr id="777" name="Google Shape;777;g3c0c338455d_3_109"/>
          <p:cNvSpPr txBox="1"/>
          <p:nvPr/>
        </p:nvSpPr>
        <p:spPr>
          <a:xfrm>
            <a:off x="7818120" y="4507992"/>
            <a:ext cx="27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/>
          </a:p>
        </p:txBody>
      </p:sp>
      <p:sp>
        <p:nvSpPr>
          <p:cNvPr id="778" name="Google Shape;778;g3c0c338455d_3_109"/>
          <p:cNvSpPr txBox="1"/>
          <p:nvPr/>
        </p:nvSpPr>
        <p:spPr>
          <a:xfrm>
            <a:off x="8092440" y="4544567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검색 -&gt; LLM 답변 -&gt; citations</a:t>
            </a:r>
            <a:endParaRPr/>
          </a:p>
        </p:txBody>
      </p:sp>
      <p:sp>
        <p:nvSpPr>
          <p:cNvPr id="779" name="Google Shape;779;g3c0c338455d_3_109"/>
          <p:cNvSpPr txBox="1"/>
          <p:nvPr/>
        </p:nvSpPr>
        <p:spPr>
          <a:xfrm>
            <a:off x="6400800" y="5394960"/>
            <a:ext cx="4663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템플릿: 회의록, 보고서, 제안서, (확장 </a:t>
            </a:r>
            <a:r>
              <a:rPr lang="en-US" sz="1000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예정)</a:t>
            </a:r>
            <a:r>
              <a:rPr b="0" i="0" lang="en-US" sz="10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SSE 스트리밍으로 실시간 응답 | DOCX 렌더링 후 다운로드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84" name="Google Shape;78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199" y="5707913"/>
            <a:ext cx="10668000" cy="855315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8"/>
          <p:cNvSpPr txBox="1"/>
          <p:nvPr/>
        </p:nvSpPr>
        <p:spPr>
          <a:xfrm>
            <a:off x="993689" y="5346199"/>
            <a:ext cx="289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i="0" lang="en-US" sz="1500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향후 계획: </a:t>
            </a:r>
            <a:r>
              <a:rPr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sLLM </a:t>
            </a:r>
            <a:r>
              <a:rPr i="0" lang="en-US" sz="1500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전환 로드맵</a:t>
            </a:r>
            <a:endParaRPr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786" name="Google Shape;786;p8"/>
          <p:cNvGraphicFramePr/>
          <p:nvPr/>
        </p:nvGraphicFramePr>
        <p:xfrm>
          <a:off x="762000" y="1398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{09F7BCA8-77A6-4D98-9364-8AF8E2040451}</a:tableStyleId>
              </a:tblPr>
              <a:tblGrid>
                <a:gridCol w="2133600"/>
                <a:gridCol w="4267200"/>
                <a:gridCol w="4267200"/>
              </a:tblGrid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항목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303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일반 RAG 챗봇</a:t>
                      </a:r>
                      <a:endParaRPr b="0" sz="1400" u="none" cap="none" strike="noStrike">
                        <a:solidFill>
                          <a:srgbClr val="2F303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2D58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WorkFlow Agent</a:t>
                      </a:r>
                      <a:endParaRPr sz="1400" u="none" cap="none" strike="noStrike">
                        <a:solidFill>
                          <a:srgbClr val="2D58B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Intent 분류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LLM API 의존 (속도 저하, 비용 발생)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KoELECTRA 파인튜닝 (7.9ms, 무료)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환각 방지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프롬프트 제어 ("환각하지 마")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4층 가드 시스템 (Cross-check 등)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규정 판단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단일 문서 기반 단순 검색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다중 규정 교차 판단 (충돌/보완 분석)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불확실 처리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잘못되더라도 그냥 답변 생성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Clarify 라우팅 (모르면 되묻기)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일정 관리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단일 캘린더 등록 수준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5대 Google 서비스 통합 연쇄 동작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787" name="Google Shape;78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6459" y="5349031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8" name="Google Shape;78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1670" y="604828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9" name="Google Shape;78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00915" y="605197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0" name="Google Shape;79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94802" y="6051971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8"/>
          <p:cNvSpPr/>
          <p:nvPr/>
        </p:nvSpPr>
        <p:spPr>
          <a:xfrm>
            <a:off x="762000" y="1991617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8"/>
          <p:cNvSpPr/>
          <p:nvPr/>
        </p:nvSpPr>
        <p:spPr>
          <a:xfrm>
            <a:off x="2895600" y="1991617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8"/>
          <p:cNvSpPr/>
          <p:nvPr/>
        </p:nvSpPr>
        <p:spPr>
          <a:xfrm>
            <a:off x="7162800" y="1991617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4" name="Google Shape;794;p8"/>
          <p:cNvGrpSpPr/>
          <p:nvPr/>
        </p:nvGrpSpPr>
        <p:grpSpPr>
          <a:xfrm>
            <a:off x="1429824" y="5910076"/>
            <a:ext cx="1184100" cy="428822"/>
            <a:chOff x="1236750" y="5932444"/>
            <a:chExt cx="1184100" cy="428822"/>
          </a:xfrm>
        </p:grpSpPr>
        <p:sp>
          <p:nvSpPr>
            <p:cNvPr id="795" name="Google Shape;795;p8"/>
            <p:cNvSpPr txBox="1"/>
            <p:nvPr/>
          </p:nvSpPr>
          <p:spPr>
            <a:xfrm>
              <a:off x="1236750" y="5932444"/>
              <a:ext cx="1184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현재 (LLM API)</a:t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6" name="Google Shape;796;p8"/>
            <p:cNvSpPr txBox="1"/>
            <p:nvPr/>
          </p:nvSpPr>
          <p:spPr>
            <a:xfrm>
              <a:off x="1349249" y="6199566"/>
              <a:ext cx="9591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i="0" lang="en-US" sz="10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GPT/Claude</a:t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7" name="Google Shape;797;p8"/>
          <p:cNvGrpSpPr/>
          <p:nvPr/>
        </p:nvGrpSpPr>
        <p:grpSpPr>
          <a:xfrm>
            <a:off x="3919827" y="5927338"/>
            <a:ext cx="1326300" cy="565947"/>
            <a:chOff x="4044253" y="5796969"/>
            <a:chExt cx="1326300" cy="565947"/>
          </a:xfrm>
        </p:grpSpPr>
        <p:sp>
          <p:nvSpPr>
            <p:cNvPr id="798" name="Google Shape;798;p8"/>
            <p:cNvSpPr txBox="1"/>
            <p:nvPr/>
          </p:nvSpPr>
          <p:spPr>
            <a:xfrm>
              <a:off x="4044253" y="5796969"/>
              <a:ext cx="13263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sLLM 파인튜닝</a:t>
              </a:r>
              <a:endParaRPr i="0" sz="14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9" name="Google Shape;799;p8"/>
            <p:cNvSpPr txBox="1"/>
            <p:nvPr/>
          </p:nvSpPr>
          <p:spPr>
            <a:xfrm>
              <a:off x="4044253" y="6039816"/>
              <a:ext cx="13263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i="0" lang="en-US" sz="10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LoRA 학습 (판단/문서)</a:t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0" name="Google Shape;800;p8"/>
          <p:cNvGrpSpPr/>
          <p:nvPr/>
        </p:nvGrpSpPr>
        <p:grpSpPr>
          <a:xfrm>
            <a:off x="6557084" y="5946222"/>
            <a:ext cx="1714913" cy="404865"/>
            <a:chOff x="6719898" y="5854481"/>
            <a:chExt cx="1714913" cy="404865"/>
          </a:xfrm>
        </p:grpSpPr>
        <p:sp>
          <p:nvSpPr>
            <p:cNvPr id="801" name="Google Shape;801;p8"/>
            <p:cNvSpPr txBox="1"/>
            <p:nvPr/>
          </p:nvSpPr>
          <p:spPr>
            <a:xfrm>
              <a:off x="6719898" y="5854481"/>
              <a:ext cx="16893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vLLM 교체</a:t>
              </a:r>
              <a:endParaRPr i="0" sz="14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2" name="Google Shape;802;p8"/>
            <p:cNvSpPr txBox="1"/>
            <p:nvPr/>
          </p:nvSpPr>
          <p:spPr>
            <a:xfrm>
              <a:off x="6745510" y="6097646"/>
              <a:ext cx="16893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i="0" lang="en-US" sz="10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Factory 패턴 (코드 1줄 변경)</a:t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3" name="Google Shape;803;p8"/>
          <p:cNvGrpSpPr/>
          <p:nvPr/>
        </p:nvGrpSpPr>
        <p:grpSpPr>
          <a:xfrm>
            <a:off x="9650947" y="5950764"/>
            <a:ext cx="1110300" cy="390099"/>
            <a:chOff x="10023723" y="5915769"/>
            <a:chExt cx="1110300" cy="390099"/>
          </a:xfrm>
        </p:grpSpPr>
        <p:sp>
          <p:nvSpPr>
            <p:cNvPr id="804" name="Google Shape;804;p8"/>
            <p:cNvSpPr txBox="1"/>
            <p:nvPr/>
          </p:nvSpPr>
          <p:spPr>
            <a:xfrm>
              <a:off x="10023723" y="5915769"/>
              <a:ext cx="11103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최종 배포</a:t>
              </a:r>
              <a:endParaRPr i="0" sz="14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5" name="Google Shape;805;p8"/>
            <p:cNvSpPr txBox="1"/>
            <p:nvPr/>
          </p:nvSpPr>
          <p:spPr>
            <a:xfrm>
              <a:off x="10023723" y="6144168"/>
              <a:ext cx="11103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i="0" lang="en-US" sz="1050" u="none" cap="none" strike="noStrike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AWS EC2 + CI/CD</a:t>
              </a:r>
              <a:endParaRPr i="0" sz="14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06" name="Google Shape;806;p8"/>
          <p:cNvSpPr/>
          <p:nvPr/>
        </p:nvSpPr>
        <p:spPr>
          <a:xfrm>
            <a:off x="762000" y="2580233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8"/>
          <p:cNvSpPr/>
          <p:nvPr/>
        </p:nvSpPr>
        <p:spPr>
          <a:xfrm>
            <a:off x="2895600" y="2580233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8"/>
          <p:cNvSpPr/>
          <p:nvPr/>
        </p:nvSpPr>
        <p:spPr>
          <a:xfrm>
            <a:off x="7162800" y="2580233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8"/>
          <p:cNvSpPr/>
          <p:nvPr/>
        </p:nvSpPr>
        <p:spPr>
          <a:xfrm>
            <a:off x="762000" y="3168848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8"/>
          <p:cNvSpPr/>
          <p:nvPr/>
        </p:nvSpPr>
        <p:spPr>
          <a:xfrm>
            <a:off x="2895600" y="3168848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8"/>
          <p:cNvSpPr/>
          <p:nvPr/>
        </p:nvSpPr>
        <p:spPr>
          <a:xfrm>
            <a:off x="7162800" y="3168848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8"/>
          <p:cNvSpPr/>
          <p:nvPr/>
        </p:nvSpPr>
        <p:spPr>
          <a:xfrm>
            <a:off x="762000" y="3757463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8"/>
          <p:cNvSpPr/>
          <p:nvPr/>
        </p:nvSpPr>
        <p:spPr>
          <a:xfrm>
            <a:off x="2895600" y="3757463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8"/>
          <p:cNvSpPr/>
          <p:nvPr/>
        </p:nvSpPr>
        <p:spPr>
          <a:xfrm>
            <a:off x="7162800" y="3757463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8"/>
          <p:cNvSpPr/>
          <p:nvPr/>
        </p:nvSpPr>
        <p:spPr>
          <a:xfrm>
            <a:off x="762000" y="4346078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8"/>
          <p:cNvSpPr/>
          <p:nvPr/>
        </p:nvSpPr>
        <p:spPr>
          <a:xfrm>
            <a:off x="2895600" y="4346078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8"/>
          <p:cNvSpPr/>
          <p:nvPr/>
        </p:nvSpPr>
        <p:spPr>
          <a:xfrm>
            <a:off x="7162800" y="4346078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8"/>
          <p:cNvSpPr txBox="1"/>
          <p:nvPr/>
        </p:nvSpPr>
        <p:spPr>
          <a:xfrm>
            <a:off x="762000" y="573175"/>
            <a:ext cx="1120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WorkFlow Agent</a:t>
            </a:r>
            <a:r>
              <a:rPr b="1" lang="en-US" sz="2700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27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vs </a:t>
            </a:r>
            <a:r>
              <a:rPr lang="en-US" sz="270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일반</a:t>
            </a:r>
            <a:r>
              <a:rPr b="1" lang="en-US" sz="27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챗봇</a:t>
            </a:r>
            <a:endParaRPr i="0" sz="27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19" name="Google Shape;819;p8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24" name="Google Shape;824;g3c0c338455d_3_7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778995"/>
            <a:ext cx="3365450" cy="3581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5" name="Google Shape;825;g3c0c338455d_3_7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1778995"/>
            <a:ext cx="3365450" cy="3581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6" name="Google Shape;826;g3c0c338455d_3_7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1778995"/>
            <a:ext cx="3365450" cy="3581102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g3c0c338455d_3_748"/>
          <p:cNvSpPr txBox="1"/>
          <p:nvPr/>
        </p:nvSpPr>
        <p:spPr>
          <a:xfrm>
            <a:off x="1057275" y="2757120"/>
            <a:ext cx="136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c0c338455d_3_748"/>
          <p:cNvSpPr txBox="1"/>
          <p:nvPr/>
        </p:nvSpPr>
        <p:spPr>
          <a:xfrm>
            <a:off x="4728100" y="2757120"/>
            <a:ext cx="132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3c0c338455d_3_748"/>
          <p:cNvSpPr txBox="1"/>
          <p:nvPr/>
        </p:nvSpPr>
        <p:spPr>
          <a:xfrm>
            <a:off x="8359625" y="2733395"/>
            <a:ext cx="129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30" name="Google Shape;830;g3c0c338455d_3_7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08379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g3c0c338455d_3_748"/>
          <p:cNvSpPr txBox="1"/>
          <p:nvPr/>
        </p:nvSpPr>
        <p:spPr>
          <a:xfrm>
            <a:off x="1070979" y="3410511"/>
            <a:ext cx="2775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12개 페이지, 63개 컴포넌트 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3c0c338455d_3_748"/>
          <p:cNvSpPr txBox="1"/>
          <p:nvPr/>
        </p:nvSpPr>
        <p:spPr>
          <a:xfrm>
            <a:off x="1145475" y="3810060"/>
            <a:ext cx="277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SSE 실시간 스트리밍 UI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3c0c338455d_3_748"/>
          <p:cNvSpPr txBox="1"/>
          <p:nvPr/>
        </p:nvSpPr>
        <p:spPr>
          <a:xfrm>
            <a:off x="1145475" y="4205833"/>
            <a:ext cx="277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Agent별 전용 응답 카드 레이아웃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c0c338455d_3_748"/>
          <p:cNvSpPr txBox="1"/>
          <p:nvPr/>
        </p:nvSpPr>
        <p:spPr>
          <a:xfrm>
            <a:off x="1145525" y="4601606"/>
            <a:ext cx="277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다크모드 및 세션 관리 완료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35" name="Google Shape;835;g3c0c338455d_3_7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8475" y="208379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g3c0c338455d_3_748"/>
          <p:cNvSpPr txBox="1"/>
          <p:nvPr/>
        </p:nvSpPr>
        <p:spPr>
          <a:xfrm>
            <a:off x="4708463" y="3384968"/>
            <a:ext cx="265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FastAPI 기반 51개 REST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3c0c338455d_3_748"/>
          <p:cNvSpPr txBox="1"/>
          <p:nvPr/>
        </p:nvSpPr>
        <p:spPr>
          <a:xfrm>
            <a:off x="4663400" y="3757421"/>
            <a:ext cx="265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PostgreSQL 12개 테이블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3c0c338455d_3_748"/>
          <p:cNvSpPr txBox="1"/>
          <p:nvPr/>
        </p:nvSpPr>
        <p:spPr>
          <a:xfrm>
            <a:off x="4663438" y="4106524"/>
            <a:ext cx="265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Google 5대 서비스 공통화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c0c338455d_3_748"/>
          <p:cNvSpPr txBox="1"/>
          <p:nvPr/>
        </p:nvSpPr>
        <p:spPr>
          <a:xfrm>
            <a:off x="4708500" y="4502301"/>
            <a:ext cx="265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JWT + OAuth 2.0 통합 인증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40" name="Google Shape;840;g3c0c338455d_3_7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9675" y="208379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g3c0c338455d_3_748"/>
          <p:cNvSpPr txBox="1"/>
          <p:nvPr/>
        </p:nvSpPr>
        <p:spPr>
          <a:xfrm>
            <a:off x="8359675" y="3363578"/>
            <a:ext cx="277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Intent 분류 7단계 실험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3c0c338455d_3_748"/>
          <p:cNvSpPr txBox="1"/>
          <p:nvPr/>
        </p:nvSpPr>
        <p:spPr>
          <a:xfrm>
            <a:off x="8359675" y="3781727"/>
            <a:ext cx="277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RAG 파이프라인 + 4층 가드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3c0c338455d_3_748"/>
          <p:cNvSpPr txBox="1"/>
          <p:nvPr/>
        </p:nvSpPr>
        <p:spPr>
          <a:xfrm>
            <a:off x="8359675" y="4144299"/>
            <a:ext cx="277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4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문서 파서 및 템플릿 엔진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c0c338455d_3_748"/>
          <p:cNvSpPr txBox="1"/>
          <p:nvPr/>
        </p:nvSpPr>
        <p:spPr>
          <a:xfrm>
            <a:off x="8359675" y="4506889"/>
            <a:ext cx="277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4개 Agent LLM API 연동 동작 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45" name="Google Shape;845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337500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6" name="Google Shape;846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379518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7" name="Google Shape;847;g3c0c338455d_3_7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80" y="415776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8" name="Google Shape;848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452035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g3c0c338455d_3_748"/>
          <p:cNvSpPr txBox="1"/>
          <p:nvPr/>
        </p:nvSpPr>
        <p:spPr>
          <a:xfrm>
            <a:off x="914400" y="723900"/>
            <a:ext cx="52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진행 현황</a:t>
            </a:r>
            <a:endParaRPr b="0"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50" name="Google Shape;850;g3c0c338455d_3_748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51" name="Google Shape;851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8950" y="34230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2" name="Google Shape;852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8950" y="378106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3" name="Google Shape;853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8950" y="453729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4" name="Google Shape;854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0698" y="344271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5" name="Google Shape;855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0698" y="382938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6" name="Google Shape;856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0701" y="460159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7" name="Google Shape;857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87768" y="414678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8" name="Google Shape;858;g3c0c338455d_3_7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0698" y="4219293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g3c0c338455d_3_748"/>
          <p:cNvSpPr/>
          <p:nvPr/>
        </p:nvSpPr>
        <p:spPr>
          <a:xfrm>
            <a:off x="457200" y="4709160"/>
            <a:ext cx="6126600" cy="19659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c0c338455d_3_748"/>
          <p:cNvSpPr txBox="1"/>
          <p:nvPr/>
        </p:nvSpPr>
        <p:spPr>
          <a:xfrm>
            <a:off x="594360" y="4754880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마일스톤 진행률</a:t>
            </a:r>
            <a:endParaRPr/>
          </a:p>
        </p:txBody>
      </p:sp>
      <p:sp>
        <p:nvSpPr>
          <p:cNvPr id="861" name="Google Shape;861;g3c0c338455d_3_748"/>
          <p:cNvSpPr/>
          <p:nvPr/>
        </p:nvSpPr>
        <p:spPr>
          <a:xfrm>
            <a:off x="4023360" y="4754880"/>
            <a:ext cx="1188600" cy="228600"/>
          </a:xfrm>
          <a:prstGeom prst="roundRect">
            <a:avLst>
              <a:gd fmla="val 16667" name="adj"/>
            </a:avLst>
          </a:prstGeom>
          <a:solidFill>
            <a:srgbClr val="0F9D5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36 / 45 이슈</a:t>
            </a:r>
            <a:endParaRPr/>
          </a:p>
        </p:txBody>
      </p:sp>
      <p:sp>
        <p:nvSpPr>
          <p:cNvPr id="862" name="Google Shape;862;g3c0c338455d_3_748"/>
          <p:cNvSpPr txBox="1"/>
          <p:nvPr/>
        </p:nvSpPr>
        <p:spPr>
          <a:xfrm>
            <a:off x="594360" y="5074920"/>
            <a:ext cx="1920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1단계: 설계</a:t>
            </a:r>
            <a:endParaRPr/>
          </a:p>
        </p:txBody>
      </p:sp>
      <p:sp>
        <p:nvSpPr>
          <p:cNvPr id="863" name="Google Shape;863;g3c0c338455d_3_748"/>
          <p:cNvSpPr/>
          <p:nvPr/>
        </p:nvSpPr>
        <p:spPr>
          <a:xfrm>
            <a:off x="2606040" y="5093207"/>
            <a:ext cx="2926200" cy="1647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g3c0c338455d_3_748"/>
          <p:cNvSpPr/>
          <p:nvPr/>
        </p:nvSpPr>
        <p:spPr>
          <a:xfrm>
            <a:off x="2606040" y="5093207"/>
            <a:ext cx="2926200" cy="164700"/>
          </a:xfrm>
          <a:prstGeom prst="roundRect">
            <a:avLst>
              <a:gd fmla="val 16667" name="adj"/>
            </a:avLst>
          </a:prstGeom>
          <a:solidFill>
            <a:srgbClr val="0F9D5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3c0c338455d_3_748"/>
          <p:cNvSpPr txBox="1"/>
          <p:nvPr/>
        </p:nvSpPr>
        <p:spPr>
          <a:xfrm>
            <a:off x="5623560" y="5074920"/>
            <a:ext cx="4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9D58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/>
          </a:p>
        </p:txBody>
      </p:sp>
      <p:sp>
        <p:nvSpPr>
          <p:cNvPr id="866" name="Google Shape;866;g3c0c338455d_3_748"/>
          <p:cNvSpPr txBox="1"/>
          <p:nvPr/>
        </p:nvSpPr>
        <p:spPr>
          <a:xfrm>
            <a:off x="5943600" y="5074920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6/6</a:t>
            </a:r>
            <a:endParaRPr/>
          </a:p>
        </p:txBody>
      </p:sp>
      <p:sp>
        <p:nvSpPr>
          <p:cNvPr id="867" name="Google Shape;867;g3c0c338455d_3_748"/>
          <p:cNvSpPr txBox="1"/>
          <p:nvPr/>
        </p:nvSpPr>
        <p:spPr>
          <a:xfrm>
            <a:off x="594360" y="5321808"/>
            <a:ext cx="1920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2단계: 기반+LLM</a:t>
            </a:r>
            <a:endParaRPr/>
          </a:p>
        </p:txBody>
      </p:sp>
      <p:sp>
        <p:nvSpPr>
          <p:cNvPr id="868" name="Google Shape;868;g3c0c338455d_3_748"/>
          <p:cNvSpPr/>
          <p:nvPr/>
        </p:nvSpPr>
        <p:spPr>
          <a:xfrm>
            <a:off x="2606040" y="5340096"/>
            <a:ext cx="2926200" cy="1647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g3c0c338455d_3_748"/>
          <p:cNvSpPr/>
          <p:nvPr/>
        </p:nvSpPr>
        <p:spPr>
          <a:xfrm>
            <a:off x="2606040" y="5340096"/>
            <a:ext cx="2926200" cy="164700"/>
          </a:xfrm>
          <a:prstGeom prst="roundRect">
            <a:avLst>
              <a:gd fmla="val 16667" name="adj"/>
            </a:avLst>
          </a:prstGeom>
          <a:solidFill>
            <a:srgbClr val="0F9D5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g3c0c338455d_3_748"/>
          <p:cNvSpPr txBox="1"/>
          <p:nvPr/>
        </p:nvSpPr>
        <p:spPr>
          <a:xfrm>
            <a:off x="5623560" y="5321808"/>
            <a:ext cx="4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9D58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/>
          </a:p>
        </p:txBody>
      </p:sp>
      <p:sp>
        <p:nvSpPr>
          <p:cNvPr id="871" name="Google Shape;871;g3c0c338455d_3_748"/>
          <p:cNvSpPr txBox="1"/>
          <p:nvPr/>
        </p:nvSpPr>
        <p:spPr>
          <a:xfrm>
            <a:off x="5943600" y="5321808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7/7</a:t>
            </a:r>
            <a:endParaRPr/>
          </a:p>
        </p:txBody>
      </p:sp>
      <p:sp>
        <p:nvSpPr>
          <p:cNvPr id="872" name="Google Shape;872;g3c0c338455d_3_748"/>
          <p:cNvSpPr txBox="1"/>
          <p:nvPr/>
        </p:nvSpPr>
        <p:spPr>
          <a:xfrm>
            <a:off x="594360" y="5568696"/>
            <a:ext cx="1920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3단계: Agent</a:t>
            </a:r>
            <a:endParaRPr/>
          </a:p>
        </p:txBody>
      </p:sp>
      <p:sp>
        <p:nvSpPr>
          <p:cNvPr id="873" name="Google Shape;873;g3c0c338455d_3_748"/>
          <p:cNvSpPr/>
          <p:nvPr/>
        </p:nvSpPr>
        <p:spPr>
          <a:xfrm>
            <a:off x="2606040" y="5586983"/>
            <a:ext cx="2926200" cy="1647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g3c0c338455d_3_748"/>
          <p:cNvSpPr/>
          <p:nvPr/>
        </p:nvSpPr>
        <p:spPr>
          <a:xfrm>
            <a:off x="2606040" y="5586983"/>
            <a:ext cx="2926200" cy="164700"/>
          </a:xfrm>
          <a:prstGeom prst="roundRect">
            <a:avLst>
              <a:gd fmla="val 16667" name="adj"/>
            </a:avLst>
          </a:prstGeom>
          <a:solidFill>
            <a:srgbClr val="0F9D5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g3c0c338455d_3_748"/>
          <p:cNvSpPr txBox="1"/>
          <p:nvPr/>
        </p:nvSpPr>
        <p:spPr>
          <a:xfrm>
            <a:off x="5623560" y="5568696"/>
            <a:ext cx="4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9D58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/>
          </a:p>
        </p:txBody>
      </p:sp>
      <p:sp>
        <p:nvSpPr>
          <p:cNvPr id="876" name="Google Shape;876;g3c0c338455d_3_748"/>
          <p:cNvSpPr txBox="1"/>
          <p:nvPr/>
        </p:nvSpPr>
        <p:spPr>
          <a:xfrm>
            <a:off x="5943600" y="5568696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15/15</a:t>
            </a:r>
            <a:endParaRPr/>
          </a:p>
        </p:txBody>
      </p:sp>
      <p:sp>
        <p:nvSpPr>
          <p:cNvPr id="877" name="Google Shape;877;g3c0c338455d_3_748"/>
          <p:cNvSpPr txBox="1"/>
          <p:nvPr/>
        </p:nvSpPr>
        <p:spPr>
          <a:xfrm>
            <a:off x="594360" y="5815583"/>
            <a:ext cx="1920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4단계: sLLM+데이터</a:t>
            </a:r>
            <a:endParaRPr/>
          </a:p>
        </p:txBody>
      </p:sp>
      <p:sp>
        <p:nvSpPr>
          <p:cNvPr id="878" name="Google Shape;878;g3c0c338455d_3_748"/>
          <p:cNvSpPr/>
          <p:nvPr/>
        </p:nvSpPr>
        <p:spPr>
          <a:xfrm>
            <a:off x="2606040" y="5833871"/>
            <a:ext cx="2926200" cy="1647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g3c0c338455d_3_748"/>
          <p:cNvSpPr/>
          <p:nvPr/>
        </p:nvSpPr>
        <p:spPr>
          <a:xfrm>
            <a:off x="2606040" y="5833871"/>
            <a:ext cx="1950600" cy="164700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g3c0c338455d_3_748"/>
          <p:cNvSpPr txBox="1"/>
          <p:nvPr/>
        </p:nvSpPr>
        <p:spPr>
          <a:xfrm>
            <a:off x="5623560" y="5815583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66%</a:t>
            </a:r>
            <a:endParaRPr/>
          </a:p>
        </p:txBody>
      </p:sp>
      <p:sp>
        <p:nvSpPr>
          <p:cNvPr id="881" name="Google Shape;881;g3c0c338455d_3_748"/>
          <p:cNvSpPr txBox="1"/>
          <p:nvPr/>
        </p:nvSpPr>
        <p:spPr>
          <a:xfrm>
            <a:off x="5943600" y="5815583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4/6</a:t>
            </a:r>
            <a:endParaRPr/>
          </a:p>
        </p:txBody>
      </p:sp>
      <p:sp>
        <p:nvSpPr>
          <p:cNvPr id="882" name="Google Shape;882;g3c0c338455d_3_748"/>
          <p:cNvSpPr txBox="1"/>
          <p:nvPr/>
        </p:nvSpPr>
        <p:spPr>
          <a:xfrm>
            <a:off x="594360" y="6062472"/>
            <a:ext cx="1920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5단계: 통합+평가</a:t>
            </a:r>
            <a:endParaRPr/>
          </a:p>
        </p:txBody>
      </p:sp>
      <p:sp>
        <p:nvSpPr>
          <p:cNvPr id="883" name="Google Shape;883;g3c0c338455d_3_748"/>
          <p:cNvSpPr/>
          <p:nvPr/>
        </p:nvSpPr>
        <p:spPr>
          <a:xfrm>
            <a:off x="2606040" y="6080759"/>
            <a:ext cx="2926200" cy="1647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g3c0c338455d_3_748"/>
          <p:cNvSpPr/>
          <p:nvPr/>
        </p:nvSpPr>
        <p:spPr>
          <a:xfrm>
            <a:off x="2606040" y="6080759"/>
            <a:ext cx="975300" cy="164700"/>
          </a:xfrm>
          <a:prstGeom prst="roundRect">
            <a:avLst>
              <a:gd fmla="val 16667" name="adj"/>
            </a:avLst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c0c338455d_3_748"/>
          <p:cNvSpPr txBox="1"/>
          <p:nvPr/>
        </p:nvSpPr>
        <p:spPr>
          <a:xfrm>
            <a:off x="5623560" y="6062472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4B400"/>
                </a:solidFill>
                <a:latin typeface="Roboto"/>
                <a:ea typeface="Roboto"/>
                <a:cs typeface="Roboto"/>
                <a:sym typeface="Roboto"/>
              </a:rPr>
              <a:t>33%</a:t>
            </a:r>
            <a:endParaRPr/>
          </a:p>
        </p:txBody>
      </p:sp>
      <p:sp>
        <p:nvSpPr>
          <p:cNvPr id="886" name="Google Shape;886;g3c0c338455d_3_748"/>
          <p:cNvSpPr txBox="1"/>
          <p:nvPr/>
        </p:nvSpPr>
        <p:spPr>
          <a:xfrm>
            <a:off x="5943600" y="6062472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2/6</a:t>
            </a:r>
            <a:endParaRPr/>
          </a:p>
        </p:txBody>
      </p:sp>
      <p:sp>
        <p:nvSpPr>
          <p:cNvPr id="887" name="Google Shape;887;g3c0c338455d_3_748"/>
          <p:cNvSpPr txBox="1"/>
          <p:nvPr/>
        </p:nvSpPr>
        <p:spPr>
          <a:xfrm>
            <a:off x="594360" y="6309360"/>
            <a:ext cx="1920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6단계: 배포+확장</a:t>
            </a:r>
            <a:endParaRPr/>
          </a:p>
        </p:txBody>
      </p:sp>
      <p:sp>
        <p:nvSpPr>
          <p:cNvPr id="888" name="Google Shape;888;g3c0c338455d_3_748"/>
          <p:cNvSpPr/>
          <p:nvPr/>
        </p:nvSpPr>
        <p:spPr>
          <a:xfrm>
            <a:off x="2606040" y="6327648"/>
            <a:ext cx="2926200" cy="1647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g3c0c338455d_3_748"/>
          <p:cNvSpPr/>
          <p:nvPr/>
        </p:nvSpPr>
        <p:spPr>
          <a:xfrm>
            <a:off x="2606040" y="6327648"/>
            <a:ext cx="731400" cy="164700"/>
          </a:xfrm>
          <a:prstGeom prst="roundRect">
            <a:avLst>
              <a:gd fmla="val 16667" name="adj"/>
            </a:avLst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g3c0c338455d_3_748"/>
          <p:cNvSpPr txBox="1"/>
          <p:nvPr/>
        </p:nvSpPr>
        <p:spPr>
          <a:xfrm>
            <a:off x="5623560" y="6309360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4B400"/>
                </a:solidFill>
                <a:latin typeface="Roboto"/>
                <a:ea typeface="Roboto"/>
                <a:cs typeface="Roboto"/>
                <a:sym typeface="Roboto"/>
              </a:rPr>
              <a:t>25%</a:t>
            </a:r>
            <a:endParaRPr/>
          </a:p>
        </p:txBody>
      </p:sp>
      <p:sp>
        <p:nvSpPr>
          <p:cNvPr id="891" name="Google Shape;891;g3c0c338455d_3_748"/>
          <p:cNvSpPr txBox="1"/>
          <p:nvPr/>
        </p:nvSpPr>
        <p:spPr>
          <a:xfrm>
            <a:off x="5943600" y="6309360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1/4</a:t>
            </a:r>
            <a:endParaRPr/>
          </a:p>
        </p:txBody>
      </p:sp>
      <p:sp>
        <p:nvSpPr>
          <p:cNvPr id="892" name="Google Shape;892;g3c0c338455d_3_748"/>
          <p:cNvSpPr/>
          <p:nvPr/>
        </p:nvSpPr>
        <p:spPr>
          <a:xfrm>
            <a:off x="6720840" y="4709160"/>
            <a:ext cx="4709100" cy="19659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g3c0c338455d_3_748"/>
          <p:cNvSpPr txBox="1"/>
          <p:nvPr/>
        </p:nvSpPr>
        <p:spPr>
          <a:xfrm>
            <a:off x="6858000" y="475488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현황 &amp; 남은 작업</a:t>
            </a:r>
            <a:endParaRPr/>
          </a:p>
        </p:txBody>
      </p:sp>
      <p:sp>
        <p:nvSpPr>
          <p:cNvPr id="894" name="Google Shape;894;g3c0c338455d_3_748"/>
          <p:cNvSpPr/>
          <p:nvPr/>
        </p:nvSpPr>
        <p:spPr>
          <a:xfrm>
            <a:off x="6858000" y="5056632"/>
            <a:ext cx="502800" cy="183000"/>
          </a:xfrm>
          <a:prstGeom prst="roundRect">
            <a:avLst>
              <a:gd fmla="val 16667" name="adj"/>
            </a:avLst>
          </a:prstGeom>
          <a:solidFill>
            <a:srgbClr val="0F9D5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LIVE</a:t>
            </a:r>
            <a:endParaRPr/>
          </a:p>
        </p:txBody>
      </p:sp>
      <p:sp>
        <p:nvSpPr>
          <p:cNvPr id="895" name="Google Shape;895;g3c0c338455d_3_748"/>
          <p:cNvSpPr txBox="1"/>
          <p:nvPr/>
        </p:nvSpPr>
        <p:spPr>
          <a:xfrm>
            <a:off x="7452360" y="5056632"/>
            <a:ext cx="182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 (FastAPI)</a:t>
            </a:r>
            <a:endParaRPr/>
          </a:p>
        </p:txBody>
      </p:sp>
      <p:sp>
        <p:nvSpPr>
          <p:cNvPr id="896" name="Google Shape;896;g3c0c338455d_3_748"/>
          <p:cNvSpPr txBox="1"/>
          <p:nvPr/>
        </p:nvSpPr>
        <p:spPr>
          <a:xfrm>
            <a:off x="9326880" y="5056632"/>
            <a:ext cx="201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F9D58"/>
                </a:solidFill>
                <a:latin typeface="Malgun Gothic"/>
                <a:ea typeface="Malgun Gothic"/>
                <a:cs typeface="Malgun Gothic"/>
                <a:sym typeface="Malgun Gothic"/>
              </a:rPr>
              <a:t>AWS 배포 완료 + CI/CD</a:t>
            </a:r>
            <a:endParaRPr/>
          </a:p>
        </p:txBody>
      </p:sp>
      <p:sp>
        <p:nvSpPr>
          <p:cNvPr id="897" name="Google Shape;897;g3c0c338455d_3_748"/>
          <p:cNvSpPr/>
          <p:nvPr/>
        </p:nvSpPr>
        <p:spPr>
          <a:xfrm>
            <a:off x="6858000" y="5276088"/>
            <a:ext cx="502800" cy="183000"/>
          </a:xfrm>
          <a:prstGeom prst="roundRect">
            <a:avLst>
              <a:gd fmla="val 16667" name="adj"/>
            </a:avLst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SOON</a:t>
            </a:r>
            <a:endParaRPr/>
          </a:p>
        </p:txBody>
      </p:sp>
      <p:sp>
        <p:nvSpPr>
          <p:cNvPr id="898" name="Google Shape;898;g3c0c338455d_3_748"/>
          <p:cNvSpPr txBox="1"/>
          <p:nvPr/>
        </p:nvSpPr>
        <p:spPr>
          <a:xfrm>
            <a:off x="7452360" y="5276088"/>
            <a:ext cx="182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F2A40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 (React)</a:t>
            </a:r>
            <a:endParaRPr/>
          </a:p>
        </p:txBody>
      </p:sp>
      <p:sp>
        <p:nvSpPr>
          <p:cNvPr id="899" name="Google Shape;899;g3c0c338455d_3_748"/>
          <p:cNvSpPr txBox="1"/>
          <p:nvPr/>
        </p:nvSpPr>
        <p:spPr>
          <a:xfrm>
            <a:off x="9326880" y="5276088"/>
            <a:ext cx="201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4B4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예정</a:t>
            </a:r>
            <a:endParaRPr/>
          </a:p>
        </p:txBody>
      </p:sp>
      <p:sp>
        <p:nvSpPr>
          <p:cNvPr id="900" name="Google Shape;900;g3c0c338455d_3_748"/>
          <p:cNvSpPr/>
          <p:nvPr/>
        </p:nvSpPr>
        <p:spPr>
          <a:xfrm>
            <a:off x="6858000" y="5532120"/>
            <a:ext cx="4434900" cy="90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3c0c338455d_3_748"/>
          <p:cNvSpPr txBox="1"/>
          <p:nvPr/>
        </p:nvSpPr>
        <p:spPr>
          <a:xfrm>
            <a:off x="6858000" y="5577840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sLLM 파인튜닝 (Kanana-1.5-8B)</a:t>
            </a:r>
            <a:endParaRPr/>
          </a:p>
        </p:txBody>
      </p:sp>
      <p:sp>
        <p:nvSpPr>
          <p:cNvPr id="902" name="Google Shape;902;g3c0c338455d_3_748"/>
          <p:cNvSpPr txBox="1"/>
          <p:nvPr/>
        </p:nvSpPr>
        <p:spPr>
          <a:xfrm>
            <a:off x="10515600" y="5577840"/>
            <a:ext cx="82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~03/07</a:t>
            </a:r>
            <a:endParaRPr/>
          </a:p>
        </p:txBody>
      </p:sp>
      <p:sp>
        <p:nvSpPr>
          <p:cNvPr id="903" name="Google Shape;903;g3c0c338455d_3_748"/>
          <p:cNvSpPr txBox="1"/>
          <p:nvPr/>
        </p:nvSpPr>
        <p:spPr>
          <a:xfrm>
            <a:off x="6858000" y="5779007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Frontend 배포 (S3/CloudFront)</a:t>
            </a:r>
            <a:endParaRPr/>
          </a:p>
        </p:txBody>
      </p:sp>
      <p:sp>
        <p:nvSpPr>
          <p:cNvPr id="904" name="Google Shape;904;g3c0c338455d_3_748"/>
          <p:cNvSpPr txBox="1"/>
          <p:nvPr/>
        </p:nvSpPr>
        <p:spPr>
          <a:xfrm>
            <a:off x="10515600" y="5779007"/>
            <a:ext cx="82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~03/08</a:t>
            </a:r>
            <a:endParaRPr/>
          </a:p>
        </p:txBody>
      </p:sp>
      <p:sp>
        <p:nvSpPr>
          <p:cNvPr id="905" name="Google Shape;905;g3c0c338455d_3_748"/>
          <p:cNvSpPr txBox="1"/>
          <p:nvPr/>
        </p:nvSpPr>
        <p:spPr>
          <a:xfrm>
            <a:off x="6858000" y="5980176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최종 QA + E2E 통합 테스트</a:t>
            </a:r>
            <a:endParaRPr/>
          </a:p>
        </p:txBody>
      </p:sp>
      <p:sp>
        <p:nvSpPr>
          <p:cNvPr id="906" name="Google Shape;906;g3c0c338455d_3_748"/>
          <p:cNvSpPr txBox="1"/>
          <p:nvPr/>
        </p:nvSpPr>
        <p:spPr>
          <a:xfrm>
            <a:off x="10515600" y="5980176"/>
            <a:ext cx="82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~03/10</a:t>
            </a:r>
            <a:endParaRPr/>
          </a:p>
        </p:txBody>
      </p:sp>
      <p:sp>
        <p:nvSpPr>
          <p:cNvPr id="907" name="Google Shape;907;g3c0c338455d_3_748"/>
          <p:cNvSpPr txBox="1"/>
          <p:nvPr/>
        </p:nvSpPr>
        <p:spPr>
          <a:xfrm>
            <a:off x="6858000" y="6181344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팀 단위 서비스 확장 + 최종 발표</a:t>
            </a:r>
            <a:endParaRPr/>
          </a:p>
        </p:txBody>
      </p:sp>
      <p:sp>
        <p:nvSpPr>
          <p:cNvPr id="908" name="Google Shape;908;g3c0c338455d_3_748"/>
          <p:cNvSpPr txBox="1"/>
          <p:nvPr/>
        </p:nvSpPr>
        <p:spPr>
          <a:xfrm>
            <a:off x="10515600" y="6181344"/>
            <a:ext cx="82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03/12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3" name="Google Shape;913;g3c09b11e3f6_15_10"/>
          <p:cNvGrpSpPr/>
          <p:nvPr/>
        </p:nvGrpSpPr>
        <p:grpSpPr>
          <a:xfrm>
            <a:off x="3919050" y="2646800"/>
            <a:ext cx="4353900" cy="1564410"/>
            <a:chOff x="3919050" y="2075150"/>
            <a:chExt cx="4353900" cy="1564410"/>
          </a:xfrm>
        </p:grpSpPr>
        <p:sp>
          <p:nvSpPr>
            <p:cNvPr id="914" name="Google Shape;914;g3c09b11e3f6_15_10"/>
            <p:cNvSpPr txBox="1"/>
            <p:nvPr/>
          </p:nvSpPr>
          <p:spPr>
            <a:xfrm>
              <a:off x="3919050" y="2075150"/>
              <a:ext cx="4353900" cy="10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800">
                  <a:solidFill>
                    <a:srgbClr val="5C7188"/>
                  </a:solidFill>
                  <a:latin typeface="Roboto"/>
                  <a:ea typeface="Roboto"/>
                  <a:cs typeface="Roboto"/>
                  <a:sym typeface="Roboto"/>
                </a:rPr>
                <a:t>THANK YOU </a:t>
              </a:r>
              <a:endParaRPr b="1" sz="5800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5" name="Google Shape;915;g3c09b11e3f6_15_10"/>
            <p:cNvSpPr txBox="1"/>
            <p:nvPr/>
          </p:nvSpPr>
          <p:spPr>
            <a:xfrm>
              <a:off x="5580300" y="3070160"/>
              <a:ext cx="10314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16213E"/>
                  </a:solidFill>
                  <a:latin typeface="Roboto"/>
                  <a:ea typeface="Roboto"/>
                  <a:cs typeface="Roboto"/>
                  <a:sym typeface="Roboto"/>
                </a:rPr>
                <a:t>Q &amp; A </a:t>
              </a:r>
              <a:endParaRPr b="1" sz="25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16" name="Google Shape;916;g3c09b11e3f6_15_10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F5F2EC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