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WorkFlow Agent (듀듀)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문제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731520"/>
            <a:ext cx="347472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777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TARGET :  스타트업 / 중소기업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20040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457200" cy="457200"/>
          </a:xfrm>
          <a:prstGeom prst="round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반복적 규정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"이거 해도 돼?"</a:t>
            </a:r>
          </a:p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매번 규정 문서 뒤져야 함</a:t>
            </a:r>
          </a:p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담당자마다 답변이 다름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383280" cy="320040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194560"/>
            <a:ext cx="457200" cy="4572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문서 작성 병목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양식 찾기 + 포맷 맞추기</a:t>
            </a:r>
          </a:p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검색 / 요약 전부 수작업</a:t>
            </a:r>
          </a:p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문서 Q&amp;A 수단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383280" cy="320040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19456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일정 관리 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캘린더 직접 등록</a:t>
            </a:r>
          </a:p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Calendar / Mail / Tasks 분산</a:t>
            </a:r>
          </a:p>
          <a:p>
            <a:pPr>
              <a:spcBef>
                <a:spcPts val="200"/>
              </a:spcBef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자연어 통합 수단 부재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1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 b="1">
                <a:solidFill>
                  <a:srgbClr val="ED7D31"/>
                </a:solidFill>
                <a:latin typeface="Malgun Gothic"/>
              </a:defRPr>
            </a:pPr>
            <a:r>
              <a:t>전담 관리/법무/총무 인력이 없는 소규모 조직에서 가장 심각</a:t>
            </a:r>
          </a:p>
          <a:p>
            <a:pPr>
              <a:spcBef>
                <a:spcPts val="200"/>
              </a:spcBef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업무 지식이 흩어져 있어 단순 반복에 시간 낭비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WorkFlow Agent (듀듀)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솔루션 :  자연어 한 마디로 업무 자동화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사용자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Malgun Gothic"/>
              </a:defRPr>
            </a:pPr>
            <a:r>
              <a:t>"연차 써도 돼?"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2402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D7D31"/>
                </a:solidFill>
                <a:latin typeface="Malgun Gothic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011680"/>
            <a:ext cx="2103120" cy="10972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Intent 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Malgun Gothic"/>
              </a:defRPr>
            </a:pPr>
            <a:r>
              <a:t>KoELECTRA  F1 97.9%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2402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D7D31"/>
                </a:solidFill>
                <a:latin typeface="Malgun Gothic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011680"/>
            <a:ext cx="2103120" cy="1097280"/>
          </a:xfrm>
          <a:prstGeom prst="roundRect">
            <a:avLst/>
          </a:prstGeom>
          <a:solidFill>
            <a:srgbClr val="55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Malgun Gothic"/>
              </a:defRPr>
            </a:pPr>
            <a:r>
              <a:t>LangGraph 라우팅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2402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D7D31"/>
                </a:solidFill>
                <a:latin typeface="Malgun Gothic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2103120" cy="10972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Agent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Malgun Gothic"/>
              </a:defRPr>
            </a:pPr>
            <a:r>
              <a:t>규정/문서/일정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3474720" cy="10058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109728" cy="100584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Judgment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규정 판단 + RAG + 근거 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566160"/>
            <a:ext cx="3474720" cy="10058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566160"/>
            <a:ext cx="109728" cy="100584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Document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생성 / 요약 / 검색 / QA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66160"/>
            <a:ext cx="3474720" cy="10058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566160"/>
            <a:ext cx="109728" cy="10058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Schedule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일정 등록·조회 + Google 연동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37760"/>
            <a:ext cx="1920240" cy="411480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65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규정 판단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937760"/>
            <a:ext cx="1920240" cy="411480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965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문서 생성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937760"/>
            <a:ext cx="1920240" cy="411480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965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문서 요약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937760"/>
            <a:ext cx="1737360" cy="411480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965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문서 검색 / QA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4937760"/>
            <a:ext cx="1737360" cy="411480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4965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일정 등록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98480" y="4937760"/>
            <a:ext cx="1737360" cy="411480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0" y="4965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일정 조회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1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618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0AD47"/>
                </a:solidFill>
                <a:latin typeface="Malgun Gothic"/>
              </a:defRPr>
            </a:pPr>
            <a:r>
              <a:t>LLM API 먼저 구현  &gt;  형태 확정  &gt;  sLLM(vLLM+LoRA) 교체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WorkFlow Agent (듀듀)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기술 스택 &amp; 팀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09728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299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920240"/>
            <a:ext cx="4389120" cy="64008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0299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algun Gothic"/>
              </a:defRPr>
            </a:pPr>
            <a:r>
              <a:t>LangGraph  /  GPT-4o · Claude  /  KoELECTRA  /  Qdrant + BM25  /  vLLM + LoRA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09728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443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2834640"/>
            <a:ext cx="4389120" cy="64008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9443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algun Gothic"/>
              </a:defRPr>
            </a:pPr>
            <a:r>
              <a:t>FastAPI + SSE  /  PostgreSQL  /  JWT  /  Google OAuth 2.0  /  Calendar · Tasks · Gmail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40"/>
            <a:ext cx="109728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3749040"/>
            <a:ext cx="4389120" cy="64008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8587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algun Gothic"/>
              </a:defRPr>
            </a:pPr>
            <a:r>
              <a:t>React (Vite)  /  Zustand  /  TanStack Query  /  Tailwind + shadcn/ui  /  FullCalendar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097280" cy="640080"/>
          </a:xfrm>
          <a:prstGeom prst="roundRect">
            <a:avLst/>
          </a:prstGeom>
          <a:solidFill>
            <a:srgbClr val="99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Infra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4663440"/>
            <a:ext cx="4389120" cy="64008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47731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algun Gothic"/>
              </a:defRPr>
            </a:pPr>
            <a:r>
              <a:t>AWS (EC2 · S3 · RDS)  /  Docker  /  GitHub Actions  /  RunPod A100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팀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286000"/>
            <a:ext cx="1371600" cy="5486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신지용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560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DD"/>
                </a:solidFill>
                <a:latin typeface="Malgun Gothic"/>
              </a:defRPr>
            </a:pPr>
            <a:r>
              <a:t>PM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286000"/>
            <a:ext cx="3474720" cy="5486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Intent + Orchestrator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017520"/>
            <a:ext cx="1371600" cy="5486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035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진승언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291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DD"/>
                </a:solidFill>
                <a:latin typeface="Malgun Gothic"/>
              </a:defRPr>
            </a:pPr>
            <a:r>
              <a:t>AI 리드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017520"/>
            <a:ext cx="3474720" cy="5486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Document Agent + 템플릿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749040"/>
            <a:ext cx="1371600" cy="5486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67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윤경은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023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DD"/>
                </a:solidFill>
                <a:latin typeface="Malgun Gothic"/>
              </a:defRPr>
            </a:pPr>
            <a:r>
              <a:t>AI 서브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749040"/>
            <a:ext cx="3474720" cy="5486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858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Judgment Agent + RAG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480560"/>
            <a:ext cx="1371600" cy="54864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498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안혜빈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754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DD"/>
                </a:solidFill>
                <a:latin typeface="Malgun Gothic"/>
              </a:defRPr>
            </a:pPr>
            <a:r>
              <a:t>Backend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4480560"/>
            <a:ext cx="3474720" cy="5486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API + DB + 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5212080"/>
            <a:ext cx="1371600" cy="548640"/>
          </a:xfrm>
          <a:prstGeom prst="round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5230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문지영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486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DD"/>
                </a:solidFill>
                <a:latin typeface="Malgun Gothic"/>
              </a:defRPr>
            </a:pPr>
            <a:r>
              <a:t>Frontend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5212080"/>
            <a:ext cx="3474720" cy="548640"/>
          </a:xfrm>
          <a:prstGeom prst="roundRect">
            <a:avLst/>
          </a:prstGeom>
          <a:solidFill>
            <a:srgbClr val="17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algun Gothic"/>
              </a:defRPr>
            </a:pPr>
            <a:r>
              <a:t>React UI 전담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solidFill>
            <a:srgbClr val="1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172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SK networks Family AI Camp 21기  |  최종 프로젝트 3팀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